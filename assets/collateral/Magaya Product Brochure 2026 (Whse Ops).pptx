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3"/>
  </p:notesMasterIdLst>
  <p:sldIdLst>
    <p:sldId id="3280" r:id="rId2"/>
    <p:sldId id="3136" r:id="rId3"/>
    <p:sldId id="3222" r:id="rId4"/>
    <p:sldId id="3110" r:id="rId5"/>
    <p:sldId id="3093" r:id="rId6"/>
    <p:sldId id="3106" r:id="rId7"/>
    <p:sldId id="3248" r:id="rId8"/>
    <p:sldId id="3045" r:id="rId9"/>
    <p:sldId id="3055" r:id="rId10"/>
    <p:sldId id="3112" r:id="rId11"/>
    <p:sldId id="3082" r:id="rId12"/>
  </p:sldIdLst>
  <p:sldSz cx="10363200" cy="7772400"/>
  <p:notesSz cx="10058400" cy="7772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A5B7F98-E1C6-4B2A-CC94-C5EB0EAED0F4}" name="Yessenia Busto" initials="YB" userId="S::ybusto@magaya.com::e8053286-6c34-44a8-a0fd-979eb43bf6a7" providerId="AD"/>
  <p188:author id="{093D83CA-EEE8-1D1B-3F72-0B9D294DFE45}" name="Judy Glynn" initials="JG" userId="S::jglynn@magaya.com::06482256-0a84-4804-8cf3-d0f838c5821a"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83B48"/>
    <a:srgbClr val="000000"/>
    <a:srgbClr val="09A1FF"/>
    <a:srgbClr val="001691"/>
    <a:srgbClr val="6B7489"/>
    <a:srgbClr val="6B7488"/>
    <a:srgbClr val="FF00FF"/>
    <a:srgbClr val="FD4B72"/>
    <a:srgbClr val="F3F4F5"/>
    <a:srgbClr val="E6E6E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994" autoAdjust="0"/>
    <p:restoredTop sz="96327" autoAdjust="0"/>
  </p:normalViewPr>
  <p:slideViewPr>
    <p:cSldViewPr>
      <p:cViewPr varScale="1">
        <p:scale>
          <a:sx n="97" d="100"/>
          <a:sy n="97" d="100"/>
        </p:scale>
        <p:origin x="1416" y="78"/>
      </p:cViewPr>
      <p:guideLst/>
    </p:cSldViewPr>
  </p:slideViewPr>
  <p:notesTextViewPr>
    <p:cViewPr>
      <p:scale>
        <a:sx n="3" d="2"/>
        <a:sy n="3" d="2"/>
      </p:scale>
      <p:origin x="0" y="0"/>
    </p:cViewPr>
  </p:notesTextViewPr>
  <p:sorterViewPr>
    <p:cViewPr>
      <p:scale>
        <a:sx n="100" d="100"/>
        <a:sy n="100" d="100"/>
      </p:scale>
      <p:origin x="0" y="-4344"/>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8/10/relationships/authors" Target="author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359275" cy="38893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5697538" y="0"/>
            <a:ext cx="4359275" cy="388938"/>
          </a:xfrm>
          <a:prstGeom prst="rect">
            <a:avLst/>
          </a:prstGeom>
        </p:spPr>
        <p:txBody>
          <a:bodyPr vert="horz" lIns="91440" tIns="45720" rIns="91440" bIns="45720" rtlCol="0"/>
          <a:lstStyle>
            <a:lvl1pPr algn="r">
              <a:defRPr sz="1200"/>
            </a:lvl1pPr>
          </a:lstStyle>
          <a:p>
            <a:fld id="{AD66CF95-799B-4345-8EA9-E1AB567FE1EE}" type="datetimeFigureOut">
              <a:rPr lang="en-US" smtClean="0"/>
              <a:t>6/23/2026</a:t>
            </a:fld>
            <a:endParaRPr lang="en-US" dirty="0"/>
          </a:p>
        </p:txBody>
      </p:sp>
      <p:sp>
        <p:nvSpPr>
          <p:cNvPr id="4" name="Slide Image Placeholder 3"/>
          <p:cNvSpPr>
            <a:spLocks noGrp="1" noRot="1" noChangeAspect="1"/>
          </p:cNvSpPr>
          <p:nvPr>
            <p:ph type="sldImg" idx="2"/>
          </p:nvPr>
        </p:nvSpPr>
        <p:spPr>
          <a:xfrm>
            <a:off x="3281363" y="971550"/>
            <a:ext cx="3495675" cy="262255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1006475" y="3740150"/>
            <a:ext cx="8045450" cy="30607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7383463"/>
            <a:ext cx="4359275" cy="38893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5697538" y="7383463"/>
            <a:ext cx="4359275" cy="388937"/>
          </a:xfrm>
          <a:prstGeom prst="rect">
            <a:avLst/>
          </a:prstGeom>
        </p:spPr>
        <p:txBody>
          <a:bodyPr vert="horz" lIns="91440" tIns="45720" rIns="91440" bIns="45720" rtlCol="0" anchor="b"/>
          <a:lstStyle>
            <a:lvl1pPr algn="r">
              <a:defRPr sz="1200"/>
            </a:lvl1pPr>
          </a:lstStyle>
          <a:p>
            <a:fld id="{86618A1C-8D50-46D3-88F7-84D3EE65E443}" type="slidenum">
              <a:rPr lang="en-US" smtClean="0"/>
              <a:t>‹#›</a:t>
            </a:fld>
            <a:endParaRPr lang="en-US" dirty="0"/>
          </a:p>
        </p:txBody>
      </p:sp>
    </p:spTree>
    <p:extLst>
      <p:ext uri="{BB962C8B-B14F-4D97-AF65-F5344CB8AC3E}">
        <p14:creationId xmlns:p14="http://schemas.microsoft.com/office/powerpoint/2010/main" val="40520029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D325842-7A63-43A9-BE22-B05EF2648BC6}" type="slidenum">
              <a:rPr lang="en-US" smtClean="0"/>
              <a:t>3</a:t>
            </a:fld>
            <a:endParaRPr lang="en-US" dirty="0"/>
          </a:p>
        </p:txBody>
      </p:sp>
    </p:spTree>
    <p:extLst>
      <p:ext uri="{BB962C8B-B14F-4D97-AF65-F5344CB8AC3E}">
        <p14:creationId xmlns:p14="http://schemas.microsoft.com/office/powerpoint/2010/main" val="266698259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blank_content">
    <p:spTree>
      <p:nvGrpSpPr>
        <p:cNvPr id="1" name=""/>
        <p:cNvGrpSpPr/>
        <p:nvPr/>
      </p:nvGrpSpPr>
      <p:grpSpPr>
        <a:xfrm>
          <a:off x="0" y="0"/>
          <a:ext cx="0" cy="0"/>
          <a:chOff x="0" y="0"/>
          <a:chExt cx="0" cy="0"/>
        </a:xfrm>
      </p:grpSpPr>
      <p:pic>
        <p:nvPicPr>
          <p:cNvPr id="23" name="Pictur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915400" y="7452360"/>
            <a:ext cx="929640" cy="185928"/>
          </a:xfrm>
          <a:prstGeom prst="rect">
            <a:avLst/>
          </a:prstGeom>
        </p:spPr>
      </p:pic>
      <p:sp>
        <p:nvSpPr>
          <p:cNvPr id="25" name="Holder 4"/>
          <p:cNvSpPr txBox="1">
            <a:spLocks/>
          </p:cNvSpPr>
          <p:nvPr userDrawn="1"/>
        </p:nvSpPr>
        <p:spPr>
          <a:xfrm>
            <a:off x="493776" y="7543800"/>
            <a:ext cx="300952" cy="123111"/>
          </a:xfrm>
          <a:prstGeom prst="rect">
            <a:avLst/>
          </a:prstGeom>
        </p:spPr>
        <p:txBody>
          <a:bodyPr wrap="square" lIns="0" tIns="0" rIns="0" bIns="0">
            <a:spAutoFit/>
          </a:bodyPr>
          <a:lstStyle>
            <a:defPPr>
              <a:defRPr lang="en-US"/>
            </a:defPPr>
            <a:lvl1pPr marL="0" algn="l" defTabSz="914400" rtl="0" eaLnBrk="1" latinLnBrk="0" hangingPunct="1">
              <a:defRPr sz="900" b="0" i="0" kern="1200">
                <a:solidFill>
                  <a:srgbClr val="383B48"/>
                </a:solidFill>
                <a:latin typeface="Open Sans Light"/>
                <a:ea typeface="+mn-ea"/>
                <a:cs typeface="Open Sans Light"/>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8891">
              <a:spcBef>
                <a:spcPts val="229"/>
              </a:spcBef>
            </a:pPr>
            <a:fld id="{81D60167-4931-47E6-BA6A-407CBD079E47}" type="slidenum">
              <a:rPr lang="en-US" sz="800" b="0" i="0" smtClean="0">
                <a:solidFill>
                  <a:srgbClr val="6B7489"/>
                </a:solidFill>
                <a:latin typeface="Open Sans" panose="020B0606030504020204" pitchFamily="34" charset="0"/>
                <a:cs typeface="Open Sans" panose="020B0606030504020204" pitchFamily="34" charset="0"/>
              </a:rPr>
              <a:pPr marL="48891">
                <a:spcBef>
                  <a:spcPts val="229"/>
                </a:spcBef>
              </a:pPr>
              <a:t>‹#›</a:t>
            </a:fld>
            <a:r>
              <a:rPr lang="en-US" sz="800" b="0" i="0" spc="-80" dirty="0">
                <a:latin typeface="Open Sans" panose="020B0606030504020204" pitchFamily="34" charset="0"/>
                <a:cs typeface="Open Sans" panose="020B0606030504020204" pitchFamily="34" charset="0"/>
              </a:rPr>
              <a:t> </a:t>
            </a:r>
          </a:p>
        </p:txBody>
      </p:sp>
    </p:spTree>
    <p:extLst>
      <p:ext uri="{BB962C8B-B14F-4D97-AF65-F5344CB8AC3E}">
        <p14:creationId xmlns:p14="http://schemas.microsoft.com/office/powerpoint/2010/main" val="4109520542"/>
      </p:ext>
    </p:extLst>
  </p:cSld>
  <p:clrMapOvr>
    <a:masterClrMapping/>
  </p:clrMapOvr>
  <p:extLst>
    <p:ext uri="{DCECCB84-F9BA-43D5-87BE-67443E8EF086}">
      <p15:sldGuideLst xmlns:p15="http://schemas.microsoft.com/office/powerpoint/2012/main">
        <p15:guide id="1" pos="336" userDrawn="1">
          <p15:clr>
            <a:srgbClr val="FBAE40"/>
          </p15:clr>
        </p15:guide>
        <p15:guide id="2" pos="6192"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1_content">
    <p:spTree>
      <p:nvGrpSpPr>
        <p:cNvPr id="1" name=""/>
        <p:cNvGrpSpPr/>
        <p:nvPr/>
      </p:nvGrpSpPr>
      <p:grpSpPr>
        <a:xfrm>
          <a:off x="0" y="0"/>
          <a:ext cx="0" cy="0"/>
          <a:chOff x="0" y="0"/>
          <a:chExt cx="0" cy="0"/>
        </a:xfrm>
      </p:grpSpPr>
      <p:pic>
        <p:nvPicPr>
          <p:cNvPr id="21" name="Picture 2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915400" y="7452360"/>
            <a:ext cx="929640" cy="185928"/>
          </a:xfrm>
          <a:prstGeom prst="rect">
            <a:avLst/>
          </a:prstGeom>
        </p:spPr>
      </p:pic>
      <p:sp>
        <p:nvSpPr>
          <p:cNvPr id="22" name="Holder 4"/>
          <p:cNvSpPr txBox="1">
            <a:spLocks/>
          </p:cNvSpPr>
          <p:nvPr userDrawn="1"/>
        </p:nvSpPr>
        <p:spPr>
          <a:xfrm>
            <a:off x="493776" y="7543800"/>
            <a:ext cx="300952" cy="123111"/>
          </a:xfrm>
          <a:prstGeom prst="rect">
            <a:avLst/>
          </a:prstGeom>
        </p:spPr>
        <p:txBody>
          <a:bodyPr wrap="square" lIns="0" tIns="0" rIns="0" bIns="0">
            <a:spAutoFit/>
          </a:bodyPr>
          <a:lstStyle>
            <a:defPPr>
              <a:defRPr lang="en-US"/>
            </a:defPPr>
            <a:lvl1pPr marL="0" algn="l" defTabSz="914400" rtl="0" eaLnBrk="1" latinLnBrk="0" hangingPunct="1">
              <a:defRPr sz="900" b="0" i="0" kern="1200">
                <a:solidFill>
                  <a:srgbClr val="383B48"/>
                </a:solidFill>
                <a:latin typeface="Open Sans Light"/>
                <a:ea typeface="+mn-ea"/>
                <a:cs typeface="Open Sans Light"/>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8891">
              <a:spcBef>
                <a:spcPts val="229"/>
              </a:spcBef>
            </a:pPr>
            <a:fld id="{81D60167-4931-47E6-BA6A-407CBD079E47}" type="slidenum">
              <a:rPr lang="en-US" sz="800" b="0" i="0" smtClean="0">
                <a:solidFill>
                  <a:srgbClr val="6B7489"/>
                </a:solidFill>
                <a:latin typeface="Open Sans" panose="020B0606030504020204" pitchFamily="34" charset="0"/>
                <a:cs typeface="Open Sans" panose="020B0606030504020204" pitchFamily="34" charset="0"/>
              </a:rPr>
              <a:pPr marL="48891">
                <a:spcBef>
                  <a:spcPts val="229"/>
                </a:spcBef>
              </a:pPr>
              <a:t>‹#›</a:t>
            </a:fld>
            <a:r>
              <a:rPr lang="en-US" sz="800" b="0" i="0" spc="-80" dirty="0">
                <a:latin typeface="Open Sans" panose="020B0606030504020204" pitchFamily="34" charset="0"/>
                <a:cs typeface="Open Sans" panose="020B0606030504020204" pitchFamily="34" charset="0"/>
              </a:rPr>
              <a:t> </a:t>
            </a:r>
          </a:p>
        </p:txBody>
      </p:sp>
      <p:sp>
        <p:nvSpPr>
          <p:cNvPr id="20" name="Rectangle 19"/>
          <p:cNvSpPr/>
          <p:nvPr userDrawn="1"/>
        </p:nvSpPr>
        <p:spPr>
          <a:xfrm>
            <a:off x="0" y="0"/>
            <a:ext cx="10363200" cy="1371600"/>
          </a:xfrm>
          <a:prstGeom prst="rect">
            <a:avLst/>
          </a:prstGeom>
          <a:solidFill>
            <a:srgbClr val="F3F4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Tree>
    <p:extLst>
      <p:ext uri="{BB962C8B-B14F-4D97-AF65-F5344CB8AC3E}">
        <p14:creationId xmlns:p14="http://schemas.microsoft.com/office/powerpoint/2010/main" val="3853361117"/>
      </p:ext>
    </p:extLst>
  </p:cSld>
  <p:clrMapOvr>
    <a:masterClrMapping/>
  </p:clrMapOvr>
  <p:extLst>
    <p:ext uri="{DCECCB84-F9BA-43D5-87BE-67443E8EF086}">
      <p15:sldGuideLst xmlns:p15="http://schemas.microsoft.com/office/powerpoint/2012/main">
        <p15:guide id="1" pos="336">
          <p15:clr>
            <a:srgbClr val="FBAE40"/>
          </p15:clr>
        </p15:guide>
        <p15:guide id="2" pos="6192">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2_content">
    <p:spTree>
      <p:nvGrpSpPr>
        <p:cNvPr id="1" name=""/>
        <p:cNvGrpSpPr/>
        <p:nvPr/>
      </p:nvGrpSpPr>
      <p:grpSpPr>
        <a:xfrm>
          <a:off x="0" y="0"/>
          <a:ext cx="0" cy="0"/>
          <a:chOff x="0" y="0"/>
          <a:chExt cx="0" cy="0"/>
        </a:xfrm>
      </p:grpSpPr>
      <p:pic>
        <p:nvPicPr>
          <p:cNvPr id="21" name="Picture 2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915400" y="7452360"/>
            <a:ext cx="929640" cy="185928"/>
          </a:xfrm>
          <a:prstGeom prst="rect">
            <a:avLst/>
          </a:prstGeom>
        </p:spPr>
      </p:pic>
      <p:sp>
        <p:nvSpPr>
          <p:cNvPr id="22" name="Holder 4"/>
          <p:cNvSpPr txBox="1">
            <a:spLocks/>
          </p:cNvSpPr>
          <p:nvPr userDrawn="1"/>
        </p:nvSpPr>
        <p:spPr>
          <a:xfrm>
            <a:off x="493776" y="7543800"/>
            <a:ext cx="300952" cy="123111"/>
          </a:xfrm>
          <a:prstGeom prst="rect">
            <a:avLst/>
          </a:prstGeom>
        </p:spPr>
        <p:txBody>
          <a:bodyPr wrap="square" lIns="0" tIns="0" rIns="0" bIns="0">
            <a:spAutoFit/>
          </a:bodyPr>
          <a:lstStyle>
            <a:defPPr>
              <a:defRPr lang="en-US"/>
            </a:defPPr>
            <a:lvl1pPr marL="0" algn="l" defTabSz="914400" rtl="0" eaLnBrk="1" latinLnBrk="0" hangingPunct="1">
              <a:defRPr sz="900" b="0" i="0" kern="1200">
                <a:solidFill>
                  <a:srgbClr val="383B48"/>
                </a:solidFill>
                <a:latin typeface="Open Sans Light"/>
                <a:ea typeface="+mn-ea"/>
                <a:cs typeface="Open Sans Light"/>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8891">
              <a:spcBef>
                <a:spcPts val="229"/>
              </a:spcBef>
            </a:pPr>
            <a:fld id="{81D60167-4931-47E6-BA6A-407CBD079E47}" type="slidenum">
              <a:rPr lang="en-US" sz="800" b="0" i="0" smtClean="0">
                <a:solidFill>
                  <a:srgbClr val="6B7489"/>
                </a:solidFill>
                <a:latin typeface="Open Sans" panose="020B0606030504020204" pitchFamily="34" charset="0"/>
                <a:cs typeface="Open Sans" panose="020B0606030504020204" pitchFamily="34" charset="0"/>
              </a:rPr>
              <a:pPr marL="48891">
                <a:spcBef>
                  <a:spcPts val="229"/>
                </a:spcBef>
              </a:pPr>
              <a:t>‹#›</a:t>
            </a:fld>
            <a:r>
              <a:rPr lang="en-US" sz="800" b="0" i="0" spc="-80" dirty="0">
                <a:latin typeface="Open Sans" panose="020B0606030504020204" pitchFamily="34" charset="0"/>
                <a:cs typeface="Open Sans" panose="020B0606030504020204" pitchFamily="34" charset="0"/>
              </a:rPr>
              <a:t> </a:t>
            </a:r>
          </a:p>
        </p:txBody>
      </p:sp>
      <p:sp>
        <p:nvSpPr>
          <p:cNvPr id="20" name="Rectangle 19"/>
          <p:cNvSpPr/>
          <p:nvPr userDrawn="1"/>
        </p:nvSpPr>
        <p:spPr>
          <a:xfrm>
            <a:off x="0" y="0"/>
            <a:ext cx="1371600" cy="1371600"/>
          </a:xfrm>
          <a:prstGeom prst="rect">
            <a:avLst/>
          </a:prstGeom>
          <a:solidFill>
            <a:srgbClr val="F3F4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Tree>
    <p:extLst>
      <p:ext uri="{BB962C8B-B14F-4D97-AF65-F5344CB8AC3E}">
        <p14:creationId xmlns:p14="http://schemas.microsoft.com/office/powerpoint/2010/main" val="1520736714"/>
      </p:ext>
    </p:extLst>
  </p:cSld>
  <p:clrMapOvr>
    <a:masterClrMapping/>
  </p:clrMapOvr>
  <p:extLst>
    <p:ext uri="{DCECCB84-F9BA-43D5-87BE-67443E8EF086}">
      <p15:sldGuideLst xmlns:p15="http://schemas.microsoft.com/office/powerpoint/2012/main">
        <p15:guide id="1" pos="336">
          <p15:clr>
            <a:srgbClr val="FBAE40"/>
          </p15:clr>
        </p15:guide>
        <p15:guide id="2" pos="6192">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3_content">
    <p:spTree>
      <p:nvGrpSpPr>
        <p:cNvPr id="1" name=""/>
        <p:cNvGrpSpPr/>
        <p:nvPr/>
      </p:nvGrpSpPr>
      <p:grpSpPr>
        <a:xfrm>
          <a:off x="0" y="0"/>
          <a:ext cx="0" cy="0"/>
          <a:chOff x="0" y="0"/>
          <a:chExt cx="0" cy="0"/>
        </a:xfrm>
      </p:grpSpPr>
      <p:pic>
        <p:nvPicPr>
          <p:cNvPr id="21" name="Picture 2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915400" y="7452360"/>
            <a:ext cx="929640" cy="185928"/>
          </a:xfrm>
          <a:prstGeom prst="rect">
            <a:avLst/>
          </a:prstGeom>
        </p:spPr>
      </p:pic>
      <p:sp>
        <p:nvSpPr>
          <p:cNvPr id="22" name="Holder 4"/>
          <p:cNvSpPr txBox="1">
            <a:spLocks/>
          </p:cNvSpPr>
          <p:nvPr userDrawn="1"/>
        </p:nvSpPr>
        <p:spPr>
          <a:xfrm>
            <a:off x="493776" y="7543800"/>
            <a:ext cx="300952" cy="123111"/>
          </a:xfrm>
          <a:prstGeom prst="rect">
            <a:avLst/>
          </a:prstGeom>
        </p:spPr>
        <p:txBody>
          <a:bodyPr wrap="square" lIns="0" tIns="0" rIns="0" bIns="0">
            <a:spAutoFit/>
          </a:bodyPr>
          <a:lstStyle>
            <a:defPPr>
              <a:defRPr lang="en-US"/>
            </a:defPPr>
            <a:lvl1pPr marL="0" algn="l" defTabSz="914400" rtl="0" eaLnBrk="1" latinLnBrk="0" hangingPunct="1">
              <a:defRPr sz="900" b="0" i="0" kern="1200">
                <a:solidFill>
                  <a:srgbClr val="383B48"/>
                </a:solidFill>
                <a:latin typeface="Open Sans Light"/>
                <a:ea typeface="+mn-ea"/>
                <a:cs typeface="Open Sans Light"/>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8891">
              <a:spcBef>
                <a:spcPts val="229"/>
              </a:spcBef>
            </a:pPr>
            <a:fld id="{81D60167-4931-47E6-BA6A-407CBD079E47}" type="slidenum">
              <a:rPr lang="en-US" sz="800" b="0" i="0" smtClean="0">
                <a:solidFill>
                  <a:srgbClr val="6B7489"/>
                </a:solidFill>
                <a:latin typeface="Open Sans" panose="020B0606030504020204" pitchFamily="34" charset="0"/>
                <a:cs typeface="Open Sans" panose="020B0606030504020204" pitchFamily="34" charset="0"/>
              </a:rPr>
              <a:pPr marL="48891">
                <a:spcBef>
                  <a:spcPts val="229"/>
                </a:spcBef>
              </a:pPr>
              <a:t>‹#›</a:t>
            </a:fld>
            <a:r>
              <a:rPr lang="en-US" sz="800" b="0" i="0" spc="-80" dirty="0">
                <a:latin typeface="Open Sans" panose="020B0606030504020204" pitchFamily="34" charset="0"/>
                <a:cs typeface="Open Sans" panose="020B0606030504020204" pitchFamily="34" charset="0"/>
              </a:rPr>
              <a:t> </a:t>
            </a:r>
          </a:p>
        </p:txBody>
      </p:sp>
      <p:sp>
        <p:nvSpPr>
          <p:cNvPr id="20" name="Rectangle 19"/>
          <p:cNvSpPr/>
          <p:nvPr userDrawn="1"/>
        </p:nvSpPr>
        <p:spPr>
          <a:xfrm>
            <a:off x="0" y="0"/>
            <a:ext cx="10363200" cy="411480"/>
          </a:xfrm>
          <a:prstGeom prst="rect">
            <a:avLst/>
          </a:prstGeom>
          <a:solidFill>
            <a:srgbClr val="F3F4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Tree>
    <p:extLst>
      <p:ext uri="{BB962C8B-B14F-4D97-AF65-F5344CB8AC3E}">
        <p14:creationId xmlns:p14="http://schemas.microsoft.com/office/powerpoint/2010/main" val="544719978"/>
      </p:ext>
    </p:extLst>
  </p:cSld>
  <p:clrMapOvr>
    <a:masterClrMapping/>
  </p:clrMapOvr>
  <p:extLst>
    <p:ext uri="{DCECCB84-F9BA-43D5-87BE-67443E8EF086}">
      <p15:sldGuideLst xmlns:p15="http://schemas.microsoft.com/office/powerpoint/2012/main">
        <p15:guide id="1" pos="336">
          <p15:clr>
            <a:srgbClr val="FBAE40"/>
          </p15:clr>
        </p15:guide>
        <p15:guide id="2" pos="6192">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cover">
    <p:spTree>
      <p:nvGrpSpPr>
        <p:cNvPr id="1" name=""/>
        <p:cNvGrpSpPr/>
        <p:nvPr/>
      </p:nvGrpSpPr>
      <p:grpSpPr>
        <a:xfrm>
          <a:off x="0" y="0"/>
          <a:ext cx="0" cy="0"/>
          <a:chOff x="0" y="0"/>
          <a:chExt cx="0" cy="0"/>
        </a:xfrm>
      </p:grpSpPr>
      <p:sp>
        <p:nvSpPr>
          <p:cNvPr id="14" name="Holder 4"/>
          <p:cNvSpPr txBox="1">
            <a:spLocks/>
          </p:cNvSpPr>
          <p:nvPr userDrawn="1"/>
        </p:nvSpPr>
        <p:spPr>
          <a:xfrm>
            <a:off x="9942127" y="7466019"/>
            <a:ext cx="300952" cy="184666"/>
          </a:xfrm>
          <a:prstGeom prst="rect">
            <a:avLst/>
          </a:prstGeom>
        </p:spPr>
        <p:txBody>
          <a:bodyPr wrap="square" lIns="0" tIns="0" rIns="0" bIns="0">
            <a:spAutoFit/>
          </a:bodyPr>
          <a:lstStyle>
            <a:defPPr>
              <a:defRPr lang="en-US"/>
            </a:defPPr>
            <a:lvl1pPr marL="0" algn="l" defTabSz="914400" rtl="0" eaLnBrk="1" latinLnBrk="0" hangingPunct="1">
              <a:defRPr sz="1200" b="0" i="0" kern="1200">
                <a:solidFill>
                  <a:schemeClr val="bg1"/>
                </a:solidFill>
                <a:latin typeface="Open Sans Light"/>
                <a:ea typeface="+mn-ea"/>
                <a:cs typeface="Open Sans Light"/>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8891">
              <a:spcBef>
                <a:spcPts val="229"/>
              </a:spcBef>
            </a:pPr>
            <a:fld id="{81D60167-4931-47E6-BA6A-407CBD079E47}" type="slidenum">
              <a:rPr lang="en-US" b="0" i="0" smtClean="0">
                <a:latin typeface="Open Sans" panose="020B0606030504020204" pitchFamily="34" charset="0"/>
                <a:cs typeface="Open Sans" panose="020B0606030504020204" pitchFamily="34" charset="0"/>
              </a:rPr>
              <a:pPr marL="48891">
                <a:spcBef>
                  <a:spcPts val="229"/>
                </a:spcBef>
              </a:pPr>
              <a:t>‹#›</a:t>
            </a:fld>
            <a:r>
              <a:rPr lang="en-US" b="0" i="0" spc="-80" dirty="0">
                <a:latin typeface="Open Sans" panose="020B0606030504020204" pitchFamily="34" charset="0"/>
                <a:cs typeface="Open Sans" panose="020B0606030504020204" pitchFamily="34" charset="0"/>
              </a:rPr>
              <a:t> </a:t>
            </a:r>
          </a:p>
        </p:txBody>
      </p:sp>
      <p:pic>
        <p:nvPicPr>
          <p:cNvPr id="24" name="Picture 23"/>
          <p:cNvPicPr>
            <a:picLocks noChangeAspect="1"/>
          </p:cNvPicPr>
          <p:nvPr userDrawn="1"/>
        </p:nvPicPr>
        <p:blipFill rotWithShape="1">
          <a:blip r:embed="rId2" cstate="print">
            <a:extLst>
              <a:ext uri="{28A0092B-C50C-407E-A947-70E740481C1C}">
                <a14:useLocalDpi xmlns:a14="http://schemas.microsoft.com/office/drawing/2010/main" val="0"/>
              </a:ext>
            </a:extLst>
          </a:blip>
          <a:srcRect l="36090" t="29428" r="39098" b="2340"/>
          <a:stretch/>
        </p:blipFill>
        <p:spPr>
          <a:xfrm>
            <a:off x="5334000" y="0"/>
            <a:ext cx="5029200" cy="7772400"/>
          </a:xfrm>
          <a:prstGeom prst="rect">
            <a:avLst/>
          </a:prstGeom>
        </p:spPr>
      </p:pic>
      <p:sp>
        <p:nvSpPr>
          <p:cNvPr id="25" name="Rectangle 24"/>
          <p:cNvSpPr/>
          <p:nvPr userDrawn="1"/>
        </p:nvSpPr>
        <p:spPr>
          <a:xfrm>
            <a:off x="0" y="0"/>
            <a:ext cx="210312" cy="7772400"/>
          </a:xfrm>
          <a:prstGeom prst="rect">
            <a:avLst/>
          </a:prstGeom>
          <a:solidFill>
            <a:srgbClr val="00169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pic>
        <p:nvPicPr>
          <p:cNvPr id="26" name="Picture 25"/>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59536" y="420624"/>
            <a:ext cx="1905000" cy="381000"/>
          </a:xfrm>
          <a:prstGeom prst="rect">
            <a:avLst/>
          </a:prstGeom>
        </p:spPr>
      </p:pic>
      <p:grpSp>
        <p:nvGrpSpPr>
          <p:cNvPr id="27" name="Group 26"/>
          <p:cNvGrpSpPr/>
          <p:nvPr userDrawn="1"/>
        </p:nvGrpSpPr>
        <p:grpSpPr>
          <a:xfrm>
            <a:off x="762000" y="2133600"/>
            <a:ext cx="4057521" cy="3520588"/>
            <a:chOff x="762000" y="2209800"/>
            <a:chExt cx="4057521" cy="3520588"/>
          </a:xfrm>
        </p:grpSpPr>
        <p:sp>
          <p:nvSpPr>
            <p:cNvPr id="28" name="TextBox 27"/>
            <p:cNvSpPr txBox="1"/>
            <p:nvPr/>
          </p:nvSpPr>
          <p:spPr>
            <a:xfrm>
              <a:off x="762000" y="2209800"/>
              <a:ext cx="4057521" cy="2215991"/>
            </a:xfrm>
            <a:prstGeom prst="rect">
              <a:avLst/>
            </a:prstGeom>
            <a:noFill/>
          </p:spPr>
          <p:txBody>
            <a:bodyPr wrap="square" rtlCol="0">
              <a:spAutoFit/>
            </a:bodyPr>
            <a:lstStyle/>
            <a:p>
              <a:r>
                <a:rPr lang="en-US" sz="4600" b="1" dirty="0">
                  <a:solidFill>
                    <a:srgbClr val="001691"/>
                  </a:solidFill>
                  <a:latin typeface="Montserrat" panose="00000500000000000000" pitchFamily="50" charset="0"/>
                </a:rPr>
                <a:t>THE DIGITAL</a:t>
              </a:r>
              <a:br>
                <a:rPr lang="en-US" sz="4600" b="1" dirty="0">
                  <a:solidFill>
                    <a:srgbClr val="001691"/>
                  </a:solidFill>
                  <a:latin typeface="Montserrat" panose="00000500000000000000" pitchFamily="50" charset="0"/>
                </a:rPr>
              </a:br>
              <a:r>
                <a:rPr lang="en-US" sz="4600" b="1" dirty="0">
                  <a:solidFill>
                    <a:srgbClr val="001691"/>
                  </a:solidFill>
                  <a:latin typeface="Montserrat" panose="00000500000000000000" pitchFamily="50" charset="0"/>
                </a:rPr>
                <a:t>FREIGHT</a:t>
              </a:r>
              <a:br>
                <a:rPr lang="en-US" sz="4600" b="1" dirty="0">
                  <a:solidFill>
                    <a:srgbClr val="001691"/>
                  </a:solidFill>
                  <a:latin typeface="Montserrat" panose="00000500000000000000" pitchFamily="50" charset="0"/>
                </a:rPr>
              </a:br>
              <a:r>
                <a:rPr lang="en-US" sz="4600" b="1" dirty="0">
                  <a:solidFill>
                    <a:srgbClr val="001691"/>
                  </a:solidFill>
                  <a:latin typeface="Montserrat" panose="00000500000000000000" pitchFamily="50" charset="0"/>
                </a:rPr>
                <a:t>PLATFORM</a:t>
              </a:r>
              <a:endParaRPr lang="en-CA" sz="4600" b="1" dirty="0">
                <a:solidFill>
                  <a:srgbClr val="001691"/>
                </a:solidFill>
                <a:latin typeface="Montserrat" panose="00000500000000000000" pitchFamily="50" charset="0"/>
              </a:endParaRPr>
            </a:p>
          </p:txBody>
        </p:sp>
        <p:sp>
          <p:nvSpPr>
            <p:cNvPr id="29" name="TextBox 28"/>
            <p:cNvSpPr txBox="1"/>
            <p:nvPr/>
          </p:nvSpPr>
          <p:spPr>
            <a:xfrm>
              <a:off x="780288" y="4370832"/>
              <a:ext cx="3986989" cy="523220"/>
            </a:xfrm>
            <a:prstGeom prst="rect">
              <a:avLst/>
            </a:prstGeom>
            <a:noFill/>
          </p:spPr>
          <p:txBody>
            <a:bodyPr wrap="none" rtlCol="0">
              <a:spAutoFit/>
            </a:bodyPr>
            <a:lstStyle/>
            <a:p>
              <a:r>
                <a:rPr lang="en-US" sz="2800" b="1" dirty="0">
                  <a:solidFill>
                    <a:srgbClr val="001691"/>
                  </a:solidFill>
                  <a:latin typeface="Montserrat" panose="00000500000000000000" pitchFamily="50" charset="0"/>
                </a:rPr>
                <a:t>THAT ACCELERATES</a:t>
              </a:r>
              <a:endParaRPr lang="en-CA" sz="2800" b="1" dirty="0">
                <a:solidFill>
                  <a:srgbClr val="001691"/>
                </a:solidFill>
                <a:latin typeface="Montserrat" panose="00000500000000000000" pitchFamily="50" charset="0"/>
              </a:endParaRPr>
            </a:p>
          </p:txBody>
        </p:sp>
        <p:sp>
          <p:nvSpPr>
            <p:cNvPr id="30" name="TextBox 29"/>
            <p:cNvSpPr txBox="1"/>
            <p:nvPr/>
          </p:nvSpPr>
          <p:spPr>
            <a:xfrm>
              <a:off x="762000" y="4699337"/>
              <a:ext cx="4057521" cy="1031051"/>
            </a:xfrm>
            <a:prstGeom prst="rect">
              <a:avLst/>
            </a:prstGeom>
            <a:noFill/>
          </p:spPr>
          <p:txBody>
            <a:bodyPr wrap="none" rtlCol="0">
              <a:spAutoFit/>
            </a:bodyPr>
            <a:lstStyle/>
            <a:p>
              <a:r>
                <a:rPr lang="en-US" sz="6100" b="1" spc="200" dirty="0">
                  <a:solidFill>
                    <a:srgbClr val="09A1FF"/>
                  </a:solidFill>
                  <a:latin typeface="Montserrat" panose="00000500000000000000" pitchFamily="50" charset="0"/>
                </a:rPr>
                <a:t>GROWTH</a:t>
              </a:r>
              <a:endParaRPr lang="en-CA" sz="6100" b="1" spc="200" dirty="0">
                <a:solidFill>
                  <a:srgbClr val="09A1FF"/>
                </a:solidFill>
                <a:latin typeface="Montserrat" panose="00000500000000000000" pitchFamily="50" charset="0"/>
              </a:endParaRPr>
            </a:p>
          </p:txBody>
        </p:sp>
        <p:grpSp>
          <p:nvGrpSpPr>
            <p:cNvPr id="31" name="Group 30"/>
            <p:cNvGrpSpPr/>
            <p:nvPr/>
          </p:nvGrpSpPr>
          <p:grpSpPr>
            <a:xfrm>
              <a:off x="853442" y="2953512"/>
              <a:ext cx="3760490" cy="1389888"/>
              <a:chOff x="914401" y="2953512"/>
              <a:chExt cx="4495799" cy="1389888"/>
            </a:xfrm>
          </p:grpSpPr>
          <p:cxnSp>
            <p:nvCxnSpPr>
              <p:cNvPr id="32" name="Straight Connector 31"/>
              <p:cNvCxnSpPr/>
              <p:nvPr/>
            </p:nvCxnSpPr>
            <p:spPr>
              <a:xfrm>
                <a:off x="914401" y="2953512"/>
                <a:ext cx="4495799"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914401" y="3657600"/>
                <a:ext cx="4495799"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914401" y="4343400"/>
                <a:ext cx="4495799"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28121356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Intro">
    <p:spTree>
      <p:nvGrpSpPr>
        <p:cNvPr id="1" name=""/>
        <p:cNvGrpSpPr/>
        <p:nvPr/>
      </p:nvGrpSpPr>
      <p:grpSpPr>
        <a:xfrm>
          <a:off x="0" y="0"/>
          <a:ext cx="0" cy="0"/>
          <a:chOff x="0" y="0"/>
          <a:chExt cx="0" cy="0"/>
        </a:xfrm>
      </p:grpSpPr>
      <p:grpSp>
        <p:nvGrpSpPr>
          <p:cNvPr id="27" name="Group 26"/>
          <p:cNvGrpSpPr/>
          <p:nvPr userDrawn="1"/>
        </p:nvGrpSpPr>
        <p:grpSpPr>
          <a:xfrm>
            <a:off x="0" y="1447800"/>
            <a:ext cx="10363200" cy="5715000"/>
            <a:chOff x="0" y="1447800"/>
            <a:chExt cx="10363200" cy="5715000"/>
          </a:xfrm>
        </p:grpSpPr>
        <p:pic>
          <p:nvPicPr>
            <p:cNvPr id="2" name="Picture 1"/>
            <p:cNvPicPr>
              <a:picLocks noChangeAspect="1"/>
            </p:cNvPicPr>
            <p:nvPr userDrawn="1"/>
          </p:nvPicPr>
          <p:blipFill rotWithShape="1">
            <a:blip r:embed="rId2" cstate="print">
              <a:extLst>
                <a:ext uri="{28A0092B-C50C-407E-A947-70E740481C1C}">
                  <a14:useLocalDpi xmlns:a14="http://schemas.microsoft.com/office/drawing/2010/main" val="0"/>
                </a:ext>
              </a:extLst>
            </a:blip>
            <a:srcRect l="20410" t="18894" r="10198" b="23648"/>
            <a:stretch/>
          </p:blipFill>
          <p:spPr>
            <a:xfrm>
              <a:off x="0" y="1447800"/>
              <a:ext cx="10363200" cy="5715000"/>
            </a:xfrm>
            <a:prstGeom prst="rect">
              <a:avLst/>
            </a:prstGeom>
          </p:spPr>
        </p:pic>
        <p:sp>
          <p:nvSpPr>
            <p:cNvPr id="3" name="Rectangle 2"/>
            <p:cNvSpPr/>
            <p:nvPr userDrawn="1"/>
          </p:nvSpPr>
          <p:spPr>
            <a:xfrm>
              <a:off x="0" y="1447800"/>
              <a:ext cx="10363200" cy="5715000"/>
            </a:xfrm>
            <a:prstGeom prst="rect">
              <a:avLst/>
            </a:prstGeom>
            <a:solidFill>
              <a:schemeClr val="tx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grpSp>
      <p:pic>
        <p:nvPicPr>
          <p:cNvPr id="25" name="Picture 24"/>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915400" y="7452360"/>
            <a:ext cx="929640" cy="185928"/>
          </a:xfrm>
          <a:prstGeom prst="rect">
            <a:avLst/>
          </a:prstGeom>
        </p:spPr>
      </p:pic>
      <p:sp>
        <p:nvSpPr>
          <p:cNvPr id="28" name="Holder 4"/>
          <p:cNvSpPr txBox="1">
            <a:spLocks/>
          </p:cNvSpPr>
          <p:nvPr userDrawn="1"/>
        </p:nvSpPr>
        <p:spPr>
          <a:xfrm>
            <a:off x="493776" y="7543800"/>
            <a:ext cx="300952" cy="123111"/>
          </a:xfrm>
          <a:prstGeom prst="rect">
            <a:avLst/>
          </a:prstGeom>
        </p:spPr>
        <p:txBody>
          <a:bodyPr wrap="square" lIns="0" tIns="0" rIns="0" bIns="0">
            <a:spAutoFit/>
          </a:bodyPr>
          <a:lstStyle>
            <a:defPPr>
              <a:defRPr lang="en-US"/>
            </a:defPPr>
            <a:lvl1pPr marL="0" algn="l" defTabSz="914400" rtl="0" eaLnBrk="1" latinLnBrk="0" hangingPunct="1">
              <a:defRPr sz="900" b="0" i="0" kern="1200">
                <a:solidFill>
                  <a:srgbClr val="383B48"/>
                </a:solidFill>
                <a:latin typeface="Open Sans Light"/>
                <a:ea typeface="+mn-ea"/>
                <a:cs typeface="Open Sans Light"/>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8891">
              <a:spcBef>
                <a:spcPts val="229"/>
              </a:spcBef>
            </a:pPr>
            <a:fld id="{81D60167-4931-47E6-BA6A-407CBD079E47}" type="slidenum">
              <a:rPr lang="en-US" sz="800" b="0" i="0" smtClean="0">
                <a:solidFill>
                  <a:srgbClr val="6B7489"/>
                </a:solidFill>
                <a:latin typeface="Open Sans" panose="020B0606030504020204" pitchFamily="34" charset="0"/>
                <a:cs typeface="Open Sans" panose="020B0606030504020204" pitchFamily="34" charset="0"/>
              </a:rPr>
              <a:pPr marL="48891">
                <a:spcBef>
                  <a:spcPts val="229"/>
                </a:spcBef>
              </a:pPr>
              <a:t>‹#›</a:t>
            </a:fld>
            <a:r>
              <a:rPr lang="en-US" sz="800" b="0" i="0" spc="-80" dirty="0">
                <a:latin typeface="Open Sans" panose="020B0606030504020204" pitchFamily="34" charset="0"/>
                <a:cs typeface="Open Sans" panose="020B0606030504020204" pitchFamily="34" charset="0"/>
              </a:rPr>
              <a:t> </a:t>
            </a:r>
          </a:p>
        </p:txBody>
      </p:sp>
    </p:spTree>
    <p:extLst>
      <p:ext uri="{BB962C8B-B14F-4D97-AF65-F5344CB8AC3E}">
        <p14:creationId xmlns:p14="http://schemas.microsoft.com/office/powerpoint/2010/main" val="1609902553"/>
      </p:ext>
    </p:extLst>
  </p:cSld>
  <p:clrMapOvr>
    <a:masterClrMapping/>
  </p:clrMapOvr>
  <p:extLst>
    <p:ext uri="{DCECCB84-F9BA-43D5-87BE-67443E8EF086}">
      <p15:sldGuideLst xmlns:p15="http://schemas.microsoft.com/office/powerpoint/2012/main">
        <p15:guide id="1" pos="336" userDrawn="1">
          <p15:clr>
            <a:srgbClr val="FBAE40"/>
          </p15:clr>
        </p15:guide>
        <p15:guide id="2" pos="6192"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Comapny Info">
    <p:spTree>
      <p:nvGrpSpPr>
        <p:cNvPr id="1" name=""/>
        <p:cNvGrpSpPr/>
        <p:nvPr/>
      </p:nvGrpSpPr>
      <p:grpSpPr>
        <a:xfrm>
          <a:off x="0" y="0"/>
          <a:ext cx="0" cy="0"/>
          <a:chOff x="0" y="0"/>
          <a:chExt cx="0" cy="0"/>
        </a:xfrm>
      </p:grpSpPr>
      <p:sp>
        <p:nvSpPr>
          <p:cNvPr id="2" name="Rectangle 1"/>
          <p:cNvSpPr/>
          <p:nvPr userDrawn="1"/>
        </p:nvSpPr>
        <p:spPr>
          <a:xfrm>
            <a:off x="0" y="0"/>
            <a:ext cx="10363200" cy="6781800"/>
          </a:xfrm>
          <a:prstGeom prst="rect">
            <a:avLst/>
          </a:prstGeom>
          <a:solidFill>
            <a:srgbClr val="6B74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pic>
        <p:nvPicPr>
          <p:cNvPr id="3" name="Picture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33400" y="7147560"/>
            <a:ext cx="1600200" cy="320040"/>
          </a:xfrm>
          <a:prstGeom prst="rect">
            <a:avLst/>
          </a:prstGeom>
        </p:spPr>
      </p:pic>
      <p:sp>
        <p:nvSpPr>
          <p:cNvPr id="21" name="object 6"/>
          <p:cNvSpPr txBox="1">
            <a:spLocks/>
          </p:cNvSpPr>
          <p:nvPr userDrawn="1"/>
        </p:nvSpPr>
        <p:spPr>
          <a:xfrm>
            <a:off x="533400" y="838200"/>
            <a:ext cx="6934200" cy="2154436"/>
          </a:xfrm>
          <a:prstGeom prst="rect">
            <a:avLst/>
          </a:prstGeom>
        </p:spPr>
        <p:txBody>
          <a:bodyPr vert="horz" wrap="square" lIns="0" tIns="0" rIns="0" bIns="0" rtlCol="0">
            <a:spAutoFit/>
          </a:bodyPr>
          <a:lstStyle>
            <a:lvl1pPr>
              <a:defRPr>
                <a:latin typeface="+mj-lt"/>
                <a:ea typeface="+mj-ea"/>
                <a:cs typeface="+mj-cs"/>
              </a:defRPr>
            </a:lvl1pPr>
          </a:lstStyle>
          <a:p>
            <a:pPr algn="just">
              <a:lnSpc>
                <a:spcPct val="150000"/>
              </a:lnSpc>
              <a:spcAft>
                <a:spcPts val="600"/>
              </a:spcAft>
            </a:pPr>
            <a:r>
              <a:rPr lang="en-US" sz="1000" b="1" dirty="0">
                <a:solidFill>
                  <a:schemeClr val="bg1"/>
                </a:solidFill>
                <a:latin typeface="Montserrat" panose="00000500000000000000" pitchFamily="50" charset="0"/>
                <a:cs typeface="Open Sans" panose="020B0606030504020204" pitchFamily="34" charset="0"/>
              </a:rPr>
              <a:t>ABOUT MAGAYA</a:t>
            </a:r>
          </a:p>
          <a:p>
            <a:pPr algn="just">
              <a:lnSpc>
                <a:spcPct val="150000"/>
              </a:lnSpc>
              <a:spcAft>
                <a:spcPts val="600"/>
              </a:spcAft>
            </a:pPr>
            <a:r>
              <a:rPr lang="en-US" sz="1000" b="0" i="0" dirty="0">
                <a:solidFill>
                  <a:schemeClr val="bg1"/>
                </a:solidFill>
                <a:latin typeface="Open Sans" panose="020B0606030504020204" pitchFamily="34" charset="0"/>
                <a:ea typeface="Open Sans" panose="020B0606030504020204" pitchFamily="34" charset="0"/>
                <a:cs typeface="Open Sans" panose="020B0606030504020204" pitchFamily="34" charset="0"/>
              </a:rPr>
              <a:t>Magaya delivers a Digital Freight Platform that accelerates growth with flexible, interoperable, and modular cloud-based solutions designed to optimize and digitize end-to-end logistics operations and customer experience. Whether used together as an integrated digital freight platform or independently, Magaya solutions enable businesses of all sizes to streamline complex and redundant processes, enhance the customer experience, optimize productivity, reduce costs, and grow revenue. At Magaya, we are passionately devoted to ensuring our customers’ success through our innovative technology and comprehensive array of related professional services. We take great pride in our people, experts in the field of logistics automation, who are always willing to go the extra mile for our customers. There are no limits to your growth with Magaya. Visit magaya.com to learn more.</a:t>
            </a:r>
          </a:p>
        </p:txBody>
      </p:sp>
      <p:cxnSp>
        <p:nvCxnSpPr>
          <p:cNvPr id="24" name="Straight Connector 23"/>
          <p:cNvCxnSpPr/>
          <p:nvPr userDrawn="1"/>
        </p:nvCxnSpPr>
        <p:spPr>
          <a:xfrm>
            <a:off x="533400" y="3291840"/>
            <a:ext cx="6949440" cy="0"/>
          </a:xfrm>
          <a:prstGeom prst="line">
            <a:avLst/>
          </a:prstGeom>
          <a:ln w="6350">
            <a:solidFill>
              <a:schemeClr val="bg1">
                <a:alpha val="4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38580525"/>
      </p:ext>
    </p:extLst>
  </p:cSld>
  <p:clrMapOvr>
    <a:masterClrMapping/>
  </p:clrMapOvr>
  <p:extLst>
    <p:ext uri="{DCECCB84-F9BA-43D5-87BE-67443E8EF086}">
      <p15:sldGuideLst xmlns:p15="http://schemas.microsoft.com/office/powerpoint/2012/main">
        <p15:guide id="1" pos="336">
          <p15:clr>
            <a:srgbClr val="FBAE40"/>
          </p15:clr>
        </p15:guide>
        <p15:guide id="2" pos="6192">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Blank_page">
    <p:spTree>
      <p:nvGrpSpPr>
        <p:cNvPr id="1" name=""/>
        <p:cNvGrpSpPr/>
        <p:nvPr/>
      </p:nvGrpSpPr>
      <p:grpSpPr>
        <a:xfrm>
          <a:off x="0" y="0"/>
          <a:ext cx="0" cy="0"/>
          <a:chOff x="0" y="0"/>
          <a:chExt cx="0" cy="0"/>
        </a:xfrm>
      </p:grpSpPr>
      <p:sp>
        <p:nvSpPr>
          <p:cNvPr id="14" name="Holder 4"/>
          <p:cNvSpPr txBox="1">
            <a:spLocks/>
          </p:cNvSpPr>
          <p:nvPr userDrawn="1"/>
        </p:nvSpPr>
        <p:spPr>
          <a:xfrm>
            <a:off x="9942127" y="7466019"/>
            <a:ext cx="300952" cy="184666"/>
          </a:xfrm>
          <a:prstGeom prst="rect">
            <a:avLst/>
          </a:prstGeom>
        </p:spPr>
        <p:txBody>
          <a:bodyPr wrap="square" lIns="0" tIns="0" rIns="0" bIns="0">
            <a:spAutoFit/>
          </a:bodyPr>
          <a:lstStyle>
            <a:defPPr>
              <a:defRPr lang="en-US"/>
            </a:defPPr>
            <a:lvl1pPr marL="0" algn="l" defTabSz="914400" rtl="0" eaLnBrk="1" latinLnBrk="0" hangingPunct="1">
              <a:defRPr sz="1200" b="0" i="0" kern="1200">
                <a:solidFill>
                  <a:schemeClr val="bg1"/>
                </a:solidFill>
                <a:latin typeface="Open Sans Light"/>
                <a:ea typeface="+mn-ea"/>
                <a:cs typeface="Open Sans Light"/>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8891">
              <a:spcBef>
                <a:spcPts val="229"/>
              </a:spcBef>
            </a:pPr>
            <a:fld id="{81D60167-4931-47E6-BA6A-407CBD079E47}" type="slidenum">
              <a:rPr lang="en-US" b="0" i="0" smtClean="0">
                <a:latin typeface="Open Sans" panose="020B0606030504020204" pitchFamily="34" charset="0"/>
                <a:cs typeface="Open Sans" panose="020B0606030504020204" pitchFamily="34" charset="0"/>
              </a:rPr>
              <a:pPr marL="48891">
                <a:spcBef>
                  <a:spcPts val="229"/>
                </a:spcBef>
              </a:pPr>
              <a:t>‹#›</a:t>
            </a:fld>
            <a:r>
              <a:rPr lang="en-US" b="0" i="0" spc="-80" dirty="0">
                <a:latin typeface="Open Sans" panose="020B0606030504020204" pitchFamily="34" charset="0"/>
                <a:cs typeface="Open Sans" panose="020B0606030504020204" pitchFamily="34" charset="0"/>
              </a:rPr>
              <a:t> </a:t>
            </a:r>
          </a:p>
        </p:txBody>
      </p:sp>
    </p:spTree>
    <p:extLst>
      <p:ext uri="{BB962C8B-B14F-4D97-AF65-F5344CB8AC3E}">
        <p14:creationId xmlns:p14="http://schemas.microsoft.com/office/powerpoint/2010/main" val="36849915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Cover_2">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0363200" cy="3607076"/>
          </a:xfrm>
          <a:prstGeom prst="rect">
            <a:avLst/>
          </a:prstGeom>
        </p:spPr>
      </p:pic>
      <p:pic>
        <p:nvPicPr>
          <p:cNvPr id="9" name="Picture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553844" y="584104"/>
            <a:ext cx="1630081" cy="435254"/>
          </a:xfrm>
          <a:prstGeom prst="rect">
            <a:avLst/>
          </a:prstGeom>
        </p:spPr>
      </p:pic>
      <p:sp>
        <p:nvSpPr>
          <p:cNvPr id="10" name="Rectangle 9">
            <a:extLst>
              <a:ext uri="{FF2B5EF4-FFF2-40B4-BE49-F238E27FC236}">
                <a16:creationId xmlns:a16="http://schemas.microsoft.com/office/drawing/2014/main" id="{CDE95BE6-7F1E-4317-A176-07C0EE5766A8}"/>
              </a:ext>
            </a:extLst>
          </p:cNvPr>
          <p:cNvSpPr/>
          <p:nvPr userDrawn="1"/>
        </p:nvSpPr>
        <p:spPr>
          <a:xfrm>
            <a:off x="0" y="0"/>
            <a:ext cx="10363201" cy="155448"/>
          </a:xfrm>
          <a:prstGeom prst="rect">
            <a:avLst/>
          </a:prstGeom>
          <a:solidFill>
            <a:srgbClr val="001691"/>
          </a:soli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1528" dirty="0">
              <a:solidFill>
                <a:srgbClr val="001691"/>
              </a:solidFill>
            </a:endParaRPr>
          </a:p>
        </p:txBody>
      </p:sp>
      <p:grpSp>
        <p:nvGrpSpPr>
          <p:cNvPr id="23" name="Group 22"/>
          <p:cNvGrpSpPr/>
          <p:nvPr userDrawn="1"/>
        </p:nvGrpSpPr>
        <p:grpSpPr>
          <a:xfrm>
            <a:off x="10846894" y="496761"/>
            <a:ext cx="975741" cy="6372141"/>
            <a:chOff x="1294050" y="834228"/>
            <a:chExt cx="1149425" cy="5622477"/>
          </a:xfrm>
        </p:grpSpPr>
        <p:sp>
          <p:nvSpPr>
            <p:cNvPr id="24" name="Google Shape;57;p6"/>
            <p:cNvSpPr/>
            <p:nvPr/>
          </p:nvSpPr>
          <p:spPr>
            <a:xfrm>
              <a:off x="1294050" y="834228"/>
              <a:ext cx="1149425" cy="502920"/>
            </a:xfrm>
            <a:prstGeom prst="rect">
              <a:avLst/>
            </a:prstGeom>
            <a:solidFill>
              <a:srgbClr val="001691"/>
            </a:solidFill>
            <a:ln>
              <a:noFill/>
            </a:ln>
          </p:spPr>
          <p:txBody>
            <a:bodyPr spcFirstLastPara="1" wrap="square" lIns="73152" tIns="9144" rIns="0" bIns="9144" anchor="ctr" anchorCtr="0">
              <a:noAutofit/>
            </a:bodyPr>
            <a:lstStyle/>
            <a:p>
              <a:pPr marL="0" marR="0" lvl="0" indent="0" algn="l" rtl="0">
                <a:spcBef>
                  <a:spcPts val="0"/>
                </a:spcBef>
                <a:spcAft>
                  <a:spcPts val="0"/>
                </a:spcAft>
                <a:buNone/>
              </a:pPr>
              <a:r>
                <a:rPr lang="en-US" sz="764" dirty="0">
                  <a:solidFill>
                    <a:schemeClr val="lt1"/>
                  </a:solidFill>
                  <a:latin typeface="Open Sans"/>
                  <a:ea typeface="Open Sans"/>
                  <a:cs typeface="Open Sans"/>
                  <a:sym typeface="Open Sans"/>
                </a:rPr>
                <a:t>0 / 22 / 145</a:t>
              </a:r>
              <a:endParaRPr sz="764" dirty="0"/>
            </a:p>
            <a:p>
              <a:pPr marL="0" marR="0" lvl="0" indent="0" algn="l" rtl="0">
                <a:spcBef>
                  <a:spcPts val="0"/>
                </a:spcBef>
                <a:spcAft>
                  <a:spcPts val="0"/>
                </a:spcAft>
                <a:buNone/>
              </a:pPr>
              <a:r>
                <a:rPr lang="en-US" sz="764" dirty="0">
                  <a:solidFill>
                    <a:schemeClr val="lt1"/>
                  </a:solidFill>
                  <a:latin typeface="Open Sans"/>
                  <a:ea typeface="Open Sans"/>
                  <a:cs typeface="Open Sans"/>
                  <a:sym typeface="Open Sans"/>
                </a:rPr>
                <a:t>#001691</a:t>
              </a:r>
              <a:endParaRPr sz="764" dirty="0"/>
            </a:p>
            <a:p>
              <a:pPr marL="0" marR="0" lvl="0" indent="0" algn="l" rtl="0">
                <a:spcBef>
                  <a:spcPts val="0"/>
                </a:spcBef>
                <a:spcAft>
                  <a:spcPts val="0"/>
                </a:spcAft>
                <a:buNone/>
              </a:pPr>
              <a:r>
                <a:rPr lang="en-US" sz="764" b="1" dirty="0">
                  <a:solidFill>
                    <a:schemeClr val="lt1"/>
                  </a:solidFill>
                  <a:latin typeface="Open Sans"/>
                  <a:ea typeface="Open Sans"/>
                  <a:cs typeface="Open Sans"/>
                  <a:sym typeface="Open Sans"/>
                </a:rPr>
                <a:t>Magaya Blue</a:t>
              </a:r>
              <a:endParaRPr sz="764" b="1" dirty="0">
                <a:solidFill>
                  <a:schemeClr val="lt1"/>
                </a:solidFill>
                <a:latin typeface="Open Sans"/>
                <a:ea typeface="Open Sans"/>
                <a:cs typeface="Open Sans"/>
                <a:sym typeface="Open Sans"/>
              </a:endParaRPr>
            </a:p>
          </p:txBody>
        </p:sp>
        <p:sp>
          <p:nvSpPr>
            <p:cNvPr id="25" name="Google Shape;58;p6"/>
            <p:cNvSpPr/>
            <p:nvPr/>
          </p:nvSpPr>
          <p:spPr>
            <a:xfrm>
              <a:off x="1294050" y="1867932"/>
              <a:ext cx="1149425" cy="502920"/>
            </a:xfrm>
            <a:prstGeom prst="rect">
              <a:avLst/>
            </a:prstGeom>
            <a:solidFill>
              <a:srgbClr val="01166D"/>
            </a:solidFill>
            <a:ln>
              <a:noFill/>
            </a:ln>
          </p:spPr>
          <p:txBody>
            <a:bodyPr spcFirstLastPara="1" wrap="square" lIns="73152" tIns="9144" rIns="0" bIns="9144" anchor="ctr" anchorCtr="0">
              <a:noAutofit/>
            </a:bodyPr>
            <a:lstStyle/>
            <a:p>
              <a:pPr marL="0" marR="0" lvl="0" indent="0" algn="l" rtl="0">
                <a:spcBef>
                  <a:spcPts val="0"/>
                </a:spcBef>
                <a:spcAft>
                  <a:spcPts val="0"/>
                </a:spcAft>
                <a:buNone/>
              </a:pPr>
              <a:r>
                <a:rPr lang="en-US" sz="764" dirty="0">
                  <a:solidFill>
                    <a:schemeClr val="lt1"/>
                  </a:solidFill>
                  <a:latin typeface="Open Sans"/>
                  <a:ea typeface="Open Sans"/>
                  <a:cs typeface="Open Sans"/>
                  <a:sym typeface="Open Sans"/>
                </a:rPr>
                <a:t>1 / 22 / 109</a:t>
              </a:r>
              <a:endParaRPr sz="764" dirty="0"/>
            </a:p>
            <a:p>
              <a:pPr marL="0" marR="0" lvl="0" indent="0" algn="l" rtl="0">
                <a:spcBef>
                  <a:spcPts val="0"/>
                </a:spcBef>
                <a:spcAft>
                  <a:spcPts val="0"/>
                </a:spcAft>
                <a:buNone/>
              </a:pPr>
              <a:r>
                <a:rPr lang="en-US" sz="764" dirty="0">
                  <a:solidFill>
                    <a:schemeClr val="lt1"/>
                  </a:solidFill>
                  <a:latin typeface="Open Sans"/>
                  <a:ea typeface="Open Sans"/>
                  <a:cs typeface="Open Sans"/>
                  <a:sym typeface="Open Sans"/>
                </a:rPr>
                <a:t>#01166d</a:t>
              </a:r>
            </a:p>
            <a:p>
              <a:r>
                <a:rPr lang="en-US" sz="764" dirty="0">
                  <a:solidFill>
                    <a:schemeClr val="lt1"/>
                  </a:solidFill>
                  <a:latin typeface="Open Sans"/>
                  <a:ea typeface="Open Sans"/>
                  <a:cs typeface="Open Sans"/>
                  <a:sym typeface="Open Sans"/>
                </a:rPr>
                <a:t>Deep Blue</a:t>
              </a:r>
            </a:p>
          </p:txBody>
        </p:sp>
        <p:sp>
          <p:nvSpPr>
            <p:cNvPr id="26" name="Google Shape;59;p6"/>
            <p:cNvSpPr/>
            <p:nvPr/>
          </p:nvSpPr>
          <p:spPr>
            <a:xfrm>
              <a:off x="1294050" y="2386224"/>
              <a:ext cx="1149425" cy="502920"/>
            </a:xfrm>
            <a:prstGeom prst="rect">
              <a:avLst/>
            </a:prstGeom>
            <a:solidFill>
              <a:srgbClr val="142159"/>
            </a:solidFill>
            <a:ln>
              <a:noFill/>
            </a:ln>
          </p:spPr>
          <p:txBody>
            <a:bodyPr spcFirstLastPara="1" wrap="square" lIns="73152" tIns="9144" rIns="0" bIns="9144" anchor="ctr" anchorCtr="0">
              <a:noAutofit/>
            </a:bodyPr>
            <a:lstStyle/>
            <a:p>
              <a:pPr marL="0" marR="0" lvl="0" indent="0" algn="l" rtl="0">
                <a:spcBef>
                  <a:spcPts val="0"/>
                </a:spcBef>
                <a:spcAft>
                  <a:spcPts val="0"/>
                </a:spcAft>
                <a:buNone/>
              </a:pPr>
              <a:r>
                <a:rPr lang="en-US" sz="764" dirty="0">
                  <a:solidFill>
                    <a:schemeClr val="lt1"/>
                  </a:solidFill>
                  <a:latin typeface="Open Sans"/>
                  <a:ea typeface="Open Sans"/>
                  <a:cs typeface="Open Sans"/>
                  <a:sym typeface="Open Sans"/>
                </a:rPr>
                <a:t>20 / 33 / 89</a:t>
              </a:r>
              <a:endParaRPr sz="764" dirty="0"/>
            </a:p>
            <a:p>
              <a:pPr marL="0" marR="0" lvl="0" indent="0" algn="l" rtl="0">
                <a:spcBef>
                  <a:spcPts val="0"/>
                </a:spcBef>
                <a:spcAft>
                  <a:spcPts val="0"/>
                </a:spcAft>
                <a:buNone/>
              </a:pPr>
              <a:r>
                <a:rPr lang="en-US" sz="764" dirty="0">
                  <a:solidFill>
                    <a:schemeClr val="lt1"/>
                  </a:solidFill>
                  <a:latin typeface="Open Sans"/>
                  <a:ea typeface="Open Sans"/>
                  <a:cs typeface="Open Sans"/>
                  <a:sym typeface="Open Sans"/>
                </a:rPr>
                <a:t>#142159</a:t>
              </a:r>
            </a:p>
            <a:p>
              <a:r>
                <a:rPr lang="en-US" sz="764" dirty="0">
                  <a:solidFill>
                    <a:schemeClr val="lt1"/>
                  </a:solidFill>
                  <a:latin typeface="Open Sans"/>
                  <a:ea typeface="Open Sans"/>
                  <a:cs typeface="Open Sans"/>
                  <a:sym typeface="Open Sans"/>
                </a:rPr>
                <a:t>Dark Blue</a:t>
              </a:r>
            </a:p>
          </p:txBody>
        </p:sp>
        <p:sp>
          <p:nvSpPr>
            <p:cNvPr id="27" name="Google Shape;61;p6"/>
            <p:cNvSpPr/>
            <p:nvPr/>
          </p:nvSpPr>
          <p:spPr>
            <a:xfrm>
              <a:off x="1294050" y="3939395"/>
              <a:ext cx="1149425" cy="502920"/>
            </a:xfrm>
            <a:prstGeom prst="rect">
              <a:avLst/>
            </a:prstGeom>
            <a:solidFill>
              <a:srgbClr val="F6F7FE"/>
            </a:solidFill>
            <a:ln>
              <a:noFill/>
            </a:ln>
          </p:spPr>
          <p:txBody>
            <a:bodyPr spcFirstLastPara="1" wrap="square" lIns="73152" tIns="9144" rIns="0" bIns="9144" anchor="ctr" anchorCtr="0">
              <a:noAutofit/>
            </a:bodyPr>
            <a:lstStyle/>
            <a:p>
              <a:pPr lvl="0"/>
              <a:r>
                <a:rPr lang="en-US" sz="764" dirty="0">
                  <a:solidFill>
                    <a:schemeClr val="dk1"/>
                  </a:solidFill>
                  <a:latin typeface="Open Sans"/>
                  <a:ea typeface="Open Sans"/>
                  <a:cs typeface="Open Sans"/>
                  <a:sym typeface="Open Sans"/>
                </a:rPr>
                <a:t>246 / 247 / 254</a:t>
              </a:r>
            </a:p>
            <a:p>
              <a:pPr lvl="0"/>
              <a:r>
                <a:rPr lang="en-US" sz="764" dirty="0">
                  <a:solidFill>
                    <a:schemeClr val="dk1"/>
                  </a:solidFill>
                  <a:latin typeface="Open Sans"/>
                  <a:ea typeface="Open Sans"/>
                  <a:cs typeface="Open Sans"/>
                  <a:sym typeface="Open Sans"/>
                </a:rPr>
                <a:t>#F6F7FE</a:t>
              </a:r>
            </a:p>
            <a:p>
              <a:pPr lvl="0"/>
              <a:r>
                <a:rPr lang="en-US" sz="764" dirty="0">
                  <a:solidFill>
                    <a:schemeClr val="dk1"/>
                  </a:solidFill>
                  <a:latin typeface="Open Sans"/>
                  <a:ea typeface="Open Sans"/>
                  <a:cs typeface="Open Sans"/>
                  <a:sym typeface="Open Sans"/>
                </a:rPr>
                <a:t>Light Grey</a:t>
              </a:r>
              <a:endParaRPr sz="764" dirty="0">
                <a:solidFill>
                  <a:schemeClr val="dk1"/>
                </a:solidFill>
                <a:latin typeface="Open Sans"/>
                <a:ea typeface="Open Sans"/>
                <a:cs typeface="Open Sans"/>
                <a:sym typeface="Open Sans"/>
              </a:endParaRPr>
            </a:p>
          </p:txBody>
        </p:sp>
        <p:sp>
          <p:nvSpPr>
            <p:cNvPr id="28" name="Google Shape;62;p6"/>
            <p:cNvSpPr/>
            <p:nvPr/>
          </p:nvSpPr>
          <p:spPr>
            <a:xfrm>
              <a:off x="1294050" y="2903295"/>
              <a:ext cx="1149425" cy="502920"/>
            </a:xfrm>
            <a:prstGeom prst="rect">
              <a:avLst/>
            </a:prstGeom>
            <a:solidFill>
              <a:srgbClr val="6B7489"/>
            </a:solidFill>
            <a:ln>
              <a:noFill/>
            </a:ln>
          </p:spPr>
          <p:txBody>
            <a:bodyPr spcFirstLastPara="1" wrap="square" lIns="73152" tIns="9144" rIns="0" bIns="9144" anchor="ctr" anchorCtr="0">
              <a:noAutofit/>
            </a:bodyPr>
            <a:lstStyle/>
            <a:p>
              <a:pPr marL="0" marR="0" lvl="0" indent="0" algn="l" rtl="0">
                <a:spcBef>
                  <a:spcPts val="0"/>
                </a:spcBef>
                <a:spcAft>
                  <a:spcPts val="0"/>
                </a:spcAft>
                <a:buNone/>
              </a:pPr>
              <a:r>
                <a:rPr lang="en-US" sz="764" dirty="0">
                  <a:solidFill>
                    <a:schemeClr val="lt1"/>
                  </a:solidFill>
                  <a:latin typeface="Open Sans"/>
                  <a:ea typeface="Open Sans"/>
                  <a:cs typeface="Open Sans"/>
                  <a:sym typeface="Open Sans"/>
                </a:rPr>
                <a:t>107 / 116 / 137</a:t>
              </a:r>
              <a:endParaRPr sz="764" dirty="0"/>
            </a:p>
            <a:p>
              <a:pPr marL="0" marR="0" lvl="0" indent="0" algn="l" rtl="0">
                <a:spcBef>
                  <a:spcPts val="0"/>
                </a:spcBef>
                <a:spcAft>
                  <a:spcPts val="0"/>
                </a:spcAft>
                <a:buNone/>
              </a:pPr>
              <a:r>
                <a:rPr lang="en-US" sz="764" dirty="0">
                  <a:solidFill>
                    <a:schemeClr val="lt1"/>
                  </a:solidFill>
                  <a:latin typeface="Open Sans"/>
                  <a:ea typeface="Open Sans"/>
                  <a:cs typeface="Open Sans"/>
                  <a:sym typeface="Open Sans"/>
                </a:rPr>
                <a:t>#6B7489</a:t>
              </a:r>
              <a:endParaRPr sz="764" dirty="0"/>
            </a:p>
            <a:p>
              <a:pPr marL="0" marR="0" lvl="0" indent="0" algn="l" rtl="0">
                <a:spcBef>
                  <a:spcPts val="0"/>
                </a:spcBef>
                <a:spcAft>
                  <a:spcPts val="0"/>
                </a:spcAft>
                <a:buNone/>
              </a:pPr>
              <a:r>
                <a:rPr lang="en-US" sz="764" b="1" dirty="0">
                  <a:solidFill>
                    <a:schemeClr val="lt1"/>
                  </a:solidFill>
                  <a:latin typeface="Open Sans"/>
                  <a:ea typeface="Open Sans"/>
                  <a:cs typeface="Open Sans"/>
                  <a:sym typeface="Open Sans"/>
                </a:rPr>
                <a:t>Magaya Grey</a:t>
              </a:r>
              <a:endParaRPr sz="764" b="1" dirty="0">
                <a:solidFill>
                  <a:schemeClr val="lt1"/>
                </a:solidFill>
                <a:latin typeface="Open Sans"/>
                <a:ea typeface="Open Sans"/>
                <a:cs typeface="Open Sans"/>
                <a:sym typeface="Open Sans"/>
              </a:endParaRPr>
            </a:p>
          </p:txBody>
        </p:sp>
        <p:sp>
          <p:nvSpPr>
            <p:cNvPr id="29" name="Google Shape;63;p6"/>
            <p:cNvSpPr/>
            <p:nvPr/>
          </p:nvSpPr>
          <p:spPr>
            <a:xfrm>
              <a:off x="1294050" y="3420367"/>
              <a:ext cx="1149425" cy="502920"/>
            </a:xfrm>
            <a:prstGeom prst="rect">
              <a:avLst/>
            </a:prstGeom>
            <a:solidFill>
              <a:srgbClr val="383B48"/>
            </a:solidFill>
            <a:ln>
              <a:noFill/>
            </a:ln>
          </p:spPr>
          <p:txBody>
            <a:bodyPr spcFirstLastPara="1" wrap="square" lIns="73152" tIns="9144" rIns="0" bIns="9144" anchor="ctr" anchorCtr="0">
              <a:noAutofit/>
            </a:bodyPr>
            <a:lstStyle/>
            <a:p>
              <a:pPr marL="0" marR="0" lvl="0" indent="0" algn="l" rtl="0">
                <a:spcBef>
                  <a:spcPts val="0"/>
                </a:spcBef>
                <a:spcAft>
                  <a:spcPts val="0"/>
                </a:spcAft>
                <a:buNone/>
              </a:pPr>
              <a:r>
                <a:rPr lang="en-US" sz="764" dirty="0">
                  <a:solidFill>
                    <a:schemeClr val="lt1"/>
                  </a:solidFill>
                  <a:latin typeface="Open Sans"/>
                  <a:ea typeface="Open Sans"/>
                  <a:cs typeface="Open Sans"/>
                  <a:sym typeface="Open Sans"/>
                </a:rPr>
                <a:t>56 / 59 / 72</a:t>
              </a:r>
              <a:endParaRPr sz="764" dirty="0"/>
            </a:p>
            <a:p>
              <a:pPr marL="0" marR="0" lvl="0" indent="0" algn="l" rtl="0">
                <a:lnSpc>
                  <a:spcPct val="100000"/>
                </a:lnSpc>
                <a:spcBef>
                  <a:spcPts val="0"/>
                </a:spcBef>
                <a:spcAft>
                  <a:spcPts val="0"/>
                </a:spcAft>
                <a:buClr>
                  <a:schemeClr val="lt1"/>
                </a:buClr>
                <a:buSzPts val="850"/>
                <a:buFont typeface="Open Sans"/>
                <a:buNone/>
              </a:pPr>
              <a:r>
                <a:rPr lang="en-US" sz="764" dirty="0">
                  <a:solidFill>
                    <a:schemeClr val="lt1"/>
                  </a:solidFill>
                  <a:latin typeface="Open Sans"/>
                  <a:ea typeface="Open Sans"/>
                  <a:cs typeface="Open Sans"/>
                  <a:sym typeface="Open Sans"/>
                </a:rPr>
                <a:t>#383B48</a:t>
              </a:r>
              <a:br>
                <a:rPr lang="en-US" sz="764" dirty="0">
                  <a:solidFill>
                    <a:schemeClr val="lt1"/>
                  </a:solidFill>
                  <a:latin typeface="Open Sans"/>
                  <a:ea typeface="Open Sans"/>
                  <a:cs typeface="Open Sans"/>
                  <a:sym typeface="Open Sans"/>
                </a:rPr>
              </a:br>
              <a:r>
                <a:rPr lang="en-US" sz="764" dirty="0">
                  <a:solidFill>
                    <a:schemeClr val="lt1"/>
                  </a:solidFill>
                  <a:latin typeface="Open Sans"/>
                  <a:ea typeface="Open Sans"/>
                  <a:cs typeface="Open Sans"/>
                  <a:sym typeface="Open Sans"/>
                </a:rPr>
                <a:t>Dark Grey</a:t>
              </a:r>
              <a:endParaRPr sz="764" dirty="0">
                <a:solidFill>
                  <a:schemeClr val="lt1"/>
                </a:solidFill>
                <a:latin typeface="Open Sans"/>
                <a:ea typeface="Open Sans"/>
                <a:cs typeface="Open Sans"/>
                <a:sym typeface="Open Sans"/>
              </a:endParaRPr>
            </a:p>
          </p:txBody>
        </p:sp>
        <p:sp>
          <p:nvSpPr>
            <p:cNvPr id="30" name="Google Shape;60;p6"/>
            <p:cNvSpPr/>
            <p:nvPr/>
          </p:nvSpPr>
          <p:spPr>
            <a:xfrm>
              <a:off x="1294050" y="1344866"/>
              <a:ext cx="1149425" cy="502920"/>
            </a:xfrm>
            <a:prstGeom prst="rect">
              <a:avLst/>
            </a:prstGeom>
            <a:solidFill>
              <a:srgbClr val="09A1FF"/>
            </a:solidFill>
            <a:ln>
              <a:noFill/>
            </a:ln>
          </p:spPr>
          <p:txBody>
            <a:bodyPr spcFirstLastPara="1" wrap="square" lIns="73152" tIns="9144" rIns="0" bIns="9144" anchor="ctr" anchorCtr="0">
              <a:noAutofit/>
            </a:bodyPr>
            <a:lstStyle/>
            <a:p>
              <a:pPr marL="0" marR="0" lvl="0" indent="0" algn="l" rtl="0">
                <a:spcBef>
                  <a:spcPts val="0"/>
                </a:spcBef>
                <a:spcAft>
                  <a:spcPts val="0"/>
                </a:spcAft>
                <a:buNone/>
              </a:pPr>
              <a:r>
                <a:rPr lang="en-US" sz="764" dirty="0">
                  <a:solidFill>
                    <a:schemeClr val="lt1"/>
                  </a:solidFill>
                  <a:latin typeface="Open Sans"/>
                  <a:ea typeface="Open Sans"/>
                  <a:cs typeface="Open Sans"/>
                  <a:sym typeface="Open Sans"/>
                </a:rPr>
                <a:t>9 / 161 / 255</a:t>
              </a:r>
              <a:endParaRPr sz="764" dirty="0"/>
            </a:p>
            <a:p>
              <a:pPr marL="0" marR="0" lvl="0" indent="0" algn="l" rtl="0">
                <a:lnSpc>
                  <a:spcPct val="100000"/>
                </a:lnSpc>
                <a:spcBef>
                  <a:spcPts val="0"/>
                </a:spcBef>
                <a:spcAft>
                  <a:spcPts val="0"/>
                </a:spcAft>
                <a:buClr>
                  <a:schemeClr val="lt1"/>
                </a:buClr>
                <a:buSzPts val="850"/>
                <a:buFont typeface="Open Sans"/>
                <a:buNone/>
              </a:pPr>
              <a:r>
                <a:rPr lang="en-US" sz="764" dirty="0">
                  <a:solidFill>
                    <a:schemeClr val="lt1"/>
                  </a:solidFill>
                  <a:latin typeface="Open Sans"/>
                  <a:ea typeface="Open Sans"/>
                  <a:cs typeface="Open Sans"/>
                  <a:sym typeface="Open Sans"/>
                </a:rPr>
                <a:t>#09A1FF</a:t>
              </a:r>
            </a:p>
            <a:p>
              <a:pPr marL="0" marR="0" lvl="0" indent="0" algn="l" rtl="0">
                <a:lnSpc>
                  <a:spcPct val="100000"/>
                </a:lnSpc>
                <a:spcBef>
                  <a:spcPts val="0"/>
                </a:spcBef>
                <a:spcAft>
                  <a:spcPts val="0"/>
                </a:spcAft>
                <a:buClr>
                  <a:schemeClr val="lt1"/>
                </a:buClr>
                <a:buSzPts val="850"/>
                <a:buFont typeface="Open Sans"/>
                <a:buNone/>
              </a:pPr>
              <a:r>
                <a:rPr lang="en-US" sz="764" dirty="0">
                  <a:solidFill>
                    <a:schemeClr val="bg1"/>
                  </a:solidFill>
                  <a:latin typeface="Open Sans"/>
                  <a:ea typeface="Open Sans"/>
                  <a:cs typeface="Open Sans"/>
                  <a:sym typeface="Open Sans"/>
                </a:rPr>
                <a:t>Light Magaya Blue</a:t>
              </a:r>
              <a:endParaRPr sz="764" dirty="0">
                <a:solidFill>
                  <a:schemeClr val="bg1"/>
                </a:solidFill>
                <a:latin typeface="Open Sans"/>
                <a:ea typeface="Open Sans"/>
                <a:cs typeface="Open Sans"/>
                <a:sym typeface="Open Sans"/>
              </a:endParaRPr>
            </a:p>
          </p:txBody>
        </p:sp>
        <p:grpSp>
          <p:nvGrpSpPr>
            <p:cNvPr id="31" name="Group 30"/>
            <p:cNvGrpSpPr/>
            <p:nvPr/>
          </p:nvGrpSpPr>
          <p:grpSpPr>
            <a:xfrm>
              <a:off x="1301793" y="4463313"/>
              <a:ext cx="1135747" cy="1993392"/>
              <a:chOff x="1116961" y="4404945"/>
              <a:chExt cx="1135747" cy="1993392"/>
            </a:xfrm>
          </p:grpSpPr>
          <p:sp>
            <p:nvSpPr>
              <p:cNvPr id="32" name="Google Shape;65;p6"/>
              <p:cNvSpPr/>
              <p:nvPr/>
            </p:nvSpPr>
            <p:spPr>
              <a:xfrm>
                <a:off x="1116961" y="4404945"/>
                <a:ext cx="1135747" cy="1993392"/>
              </a:xfrm>
              <a:prstGeom prst="rect">
                <a:avLst/>
              </a:prstGeom>
              <a:noFill/>
              <a:ln w="9525" cap="flat" cmpd="sng">
                <a:solidFill>
                  <a:srgbClr val="BFBFB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623" dirty="0">
                  <a:solidFill>
                    <a:schemeClr val="lt1"/>
                  </a:solidFill>
                  <a:latin typeface="Calibri"/>
                  <a:ea typeface="Calibri"/>
                  <a:cs typeface="Calibri"/>
                  <a:sym typeface="Calibri"/>
                </a:endParaRPr>
              </a:p>
            </p:txBody>
          </p:sp>
          <p:sp>
            <p:nvSpPr>
              <p:cNvPr id="33" name="Google Shape;66;p6"/>
              <p:cNvSpPr/>
              <p:nvPr/>
            </p:nvSpPr>
            <p:spPr>
              <a:xfrm>
                <a:off x="1116961" y="4448781"/>
                <a:ext cx="1135747" cy="428824"/>
              </a:xfrm>
              <a:prstGeom prst="rect">
                <a:avLst/>
              </a:prstGeom>
              <a:noFill/>
              <a:ln>
                <a:noFill/>
              </a:ln>
            </p:spPr>
            <p:txBody>
              <a:bodyPr spcFirstLastPara="1" wrap="square" lIns="0" tIns="18288" rIns="0" bIns="18288" anchor="t" anchorCtr="0">
                <a:noAutofit/>
              </a:bodyPr>
              <a:lstStyle/>
              <a:p>
                <a:pPr marL="0" marR="0" lvl="0" indent="0" algn="ctr" rtl="0">
                  <a:spcBef>
                    <a:spcPts val="0"/>
                  </a:spcBef>
                  <a:spcAft>
                    <a:spcPts val="0"/>
                  </a:spcAft>
                  <a:buNone/>
                </a:pPr>
                <a:r>
                  <a:rPr lang="en-US" sz="764" b="1" dirty="0">
                    <a:solidFill>
                      <a:schemeClr val="dk1"/>
                    </a:solidFill>
                    <a:latin typeface="Open Sans"/>
                    <a:ea typeface="Open Sans"/>
                    <a:cs typeface="Open Sans"/>
                    <a:sym typeface="Open Sans"/>
                  </a:rPr>
                  <a:t>Accent Colors</a:t>
                </a:r>
              </a:p>
              <a:p>
                <a:pPr marL="0" marR="0" lvl="0" indent="0" algn="ctr" rtl="0">
                  <a:spcBef>
                    <a:spcPts val="0"/>
                  </a:spcBef>
                  <a:spcAft>
                    <a:spcPts val="0"/>
                  </a:spcAft>
                  <a:buNone/>
                </a:pPr>
                <a:r>
                  <a:rPr lang="en-US" sz="594" dirty="0">
                    <a:solidFill>
                      <a:schemeClr val="dk1"/>
                    </a:solidFill>
                    <a:latin typeface="Open Sans"/>
                    <a:ea typeface="Open Sans"/>
                    <a:cs typeface="Open Sans"/>
                    <a:sym typeface="Open Sans"/>
                  </a:rPr>
                  <a:t>Marketing Use for </a:t>
                </a:r>
                <a:endParaRPr sz="594" dirty="0"/>
              </a:p>
              <a:p>
                <a:pPr marL="0" marR="0" lvl="0" indent="0" algn="ctr" rtl="0">
                  <a:spcBef>
                    <a:spcPts val="0"/>
                  </a:spcBef>
                  <a:spcAft>
                    <a:spcPts val="0"/>
                  </a:spcAft>
                  <a:buNone/>
                </a:pPr>
                <a:r>
                  <a:rPr lang="en-US" sz="594" dirty="0">
                    <a:solidFill>
                      <a:schemeClr val="dk1"/>
                    </a:solidFill>
                    <a:latin typeface="Open Sans"/>
                    <a:ea typeface="Open Sans"/>
                    <a:cs typeface="Open Sans"/>
                    <a:sym typeface="Open Sans"/>
                  </a:rPr>
                  <a:t>Special Purposes Only</a:t>
                </a:r>
                <a:endParaRPr sz="594" dirty="0">
                  <a:solidFill>
                    <a:schemeClr val="dk1"/>
                  </a:solidFill>
                  <a:latin typeface="Open Sans"/>
                  <a:ea typeface="Open Sans"/>
                  <a:cs typeface="Open Sans"/>
                  <a:sym typeface="Open Sans"/>
                </a:endParaRPr>
              </a:p>
            </p:txBody>
          </p:sp>
          <p:sp>
            <p:nvSpPr>
              <p:cNvPr id="34" name="Google Shape;69;p6"/>
              <p:cNvSpPr/>
              <p:nvPr/>
            </p:nvSpPr>
            <p:spPr>
              <a:xfrm>
                <a:off x="1256377" y="4879016"/>
                <a:ext cx="856915" cy="356671"/>
              </a:xfrm>
              <a:prstGeom prst="rect">
                <a:avLst/>
              </a:prstGeom>
              <a:solidFill>
                <a:srgbClr val="FFC914"/>
              </a:solidFill>
              <a:ln>
                <a:noFill/>
              </a:ln>
            </p:spPr>
            <p:txBody>
              <a:bodyPr spcFirstLastPara="1" wrap="square" lIns="45720" tIns="18288" rIns="0" bIns="18288" anchor="ctr" anchorCtr="0">
                <a:noAutofit/>
              </a:bodyPr>
              <a:lstStyle/>
              <a:p>
                <a:pPr marL="0" marR="0" lvl="0" indent="0" algn="l" rtl="0">
                  <a:lnSpc>
                    <a:spcPct val="110000"/>
                  </a:lnSpc>
                  <a:spcBef>
                    <a:spcPts val="0"/>
                  </a:spcBef>
                  <a:spcAft>
                    <a:spcPts val="0"/>
                  </a:spcAft>
                  <a:buNone/>
                </a:pPr>
                <a:r>
                  <a:rPr lang="en-US" sz="679" dirty="0">
                    <a:solidFill>
                      <a:schemeClr val="dk1"/>
                    </a:solidFill>
                    <a:latin typeface="Open Sans"/>
                    <a:ea typeface="Open Sans"/>
                    <a:cs typeface="Open Sans"/>
                    <a:sym typeface="Open Sans"/>
                  </a:rPr>
                  <a:t>255 / 201 / 20</a:t>
                </a:r>
                <a:endParaRPr sz="679" dirty="0"/>
              </a:p>
              <a:p>
                <a:pPr marL="0" marR="0" lvl="0" indent="0" algn="l" rtl="0">
                  <a:lnSpc>
                    <a:spcPct val="110000"/>
                  </a:lnSpc>
                  <a:spcBef>
                    <a:spcPts val="0"/>
                  </a:spcBef>
                  <a:spcAft>
                    <a:spcPts val="0"/>
                  </a:spcAft>
                  <a:buNone/>
                </a:pPr>
                <a:r>
                  <a:rPr lang="en-US" sz="679" dirty="0">
                    <a:solidFill>
                      <a:schemeClr val="dk1"/>
                    </a:solidFill>
                    <a:latin typeface="Open Sans"/>
                    <a:ea typeface="Open Sans"/>
                    <a:cs typeface="Open Sans"/>
                    <a:sym typeface="Open Sans"/>
                  </a:rPr>
                  <a:t>#FFC914</a:t>
                </a:r>
                <a:endParaRPr sz="679" dirty="0">
                  <a:solidFill>
                    <a:schemeClr val="dk1"/>
                  </a:solidFill>
                  <a:latin typeface="Open Sans"/>
                  <a:ea typeface="Open Sans"/>
                  <a:cs typeface="Open Sans"/>
                  <a:sym typeface="Open Sans"/>
                </a:endParaRPr>
              </a:p>
            </p:txBody>
          </p:sp>
          <p:sp>
            <p:nvSpPr>
              <p:cNvPr id="35" name="Google Shape;68;p6"/>
              <p:cNvSpPr/>
              <p:nvPr/>
            </p:nvSpPr>
            <p:spPr>
              <a:xfrm>
                <a:off x="1256377" y="5612976"/>
                <a:ext cx="856914" cy="348035"/>
              </a:xfrm>
              <a:prstGeom prst="rect">
                <a:avLst/>
              </a:prstGeom>
              <a:solidFill>
                <a:srgbClr val="FD4B72"/>
              </a:solidFill>
              <a:ln>
                <a:noFill/>
              </a:ln>
            </p:spPr>
            <p:txBody>
              <a:bodyPr spcFirstLastPara="1" wrap="square" lIns="45720" tIns="18288" rIns="0" bIns="18288" anchor="ctr" anchorCtr="0">
                <a:noAutofit/>
              </a:bodyPr>
              <a:lstStyle/>
              <a:p>
                <a:pPr lvl="0">
                  <a:lnSpc>
                    <a:spcPct val="110000"/>
                  </a:lnSpc>
                </a:pPr>
                <a:r>
                  <a:rPr lang="en-US" sz="679" dirty="0">
                    <a:solidFill>
                      <a:schemeClr val="bg1"/>
                    </a:solidFill>
                    <a:latin typeface="Open Sans"/>
                    <a:ea typeface="Open Sans"/>
                    <a:cs typeface="Open Sans"/>
                    <a:sym typeface="Open Sans"/>
                  </a:rPr>
                  <a:t>253 / 75 / 114</a:t>
                </a:r>
              </a:p>
              <a:p>
                <a:pPr lvl="0">
                  <a:lnSpc>
                    <a:spcPct val="110000"/>
                  </a:lnSpc>
                </a:pPr>
                <a:r>
                  <a:rPr lang="en-US" sz="679" dirty="0">
                    <a:solidFill>
                      <a:schemeClr val="bg1"/>
                    </a:solidFill>
                    <a:latin typeface="Open Sans"/>
                    <a:ea typeface="Open Sans"/>
                    <a:cs typeface="Open Sans"/>
                    <a:sym typeface="Open Sans"/>
                  </a:rPr>
                  <a:t>#FD4B72</a:t>
                </a:r>
                <a:endParaRPr sz="679" dirty="0">
                  <a:solidFill>
                    <a:schemeClr val="bg1"/>
                  </a:solidFill>
                  <a:latin typeface="Open Sans"/>
                  <a:ea typeface="Open Sans"/>
                  <a:cs typeface="Open Sans"/>
                  <a:sym typeface="Open Sans"/>
                </a:endParaRPr>
              </a:p>
            </p:txBody>
          </p:sp>
          <p:sp>
            <p:nvSpPr>
              <p:cNvPr id="36" name="Google Shape;68;p6"/>
              <p:cNvSpPr/>
              <p:nvPr/>
            </p:nvSpPr>
            <p:spPr>
              <a:xfrm>
                <a:off x="1256377" y="5247423"/>
                <a:ext cx="856914" cy="348035"/>
              </a:xfrm>
              <a:prstGeom prst="rect">
                <a:avLst/>
              </a:prstGeom>
              <a:solidFill>
                <a:srgbClr val="17D76E"/>
              </a:solidFill>
              <a:ln>
                <a:noFill/>
              </a:ln>
            </p:spPr>
            <p:txBody>
              <a:bodyPr spcFirstLastPara="1" wrap="square" lIns="45720" tIns="18288" rIns="0" bIns="18288" anchor="ctr" anchorCtr="0">
                <a:noAutofit/>
              </a:bodyPr>
              <a:lstStyle/>
              <a:p>
                <a:pPr marL="0" marR="0" lvl="0" indent="0" algn="l" rtl="0">
                  <a:lnSpc>
                    <a:spcPct val="110000"/>
                  </a:lnSpc>
                  <a:spcBef>
                    <a:spcPts val="0"/>
                  </a:spcBef>
                  <a:spcAft>
                    <a:spcPts val="0"/>
                  </a:spcAft>
                  <a:buNone/>
                </a:pPr>
                <a:r>
                  <a:rPr lang="en-US" sz="679" dirty="0">
                    <a:solidFill>
                      <a:schemeClr val="dk1"/>
                    </a:solidFill>
                    <a:latin typeface="Open Sans"/>
                    <a:ea typeface="Open Sans"/>
                    <a:cs typeface="Open Sans"/>
                    <a:sym typeface="Open Sans"/>
                  </a:rPr>
                  <a:t>23 / 215 / 110</a:t>
                </a:r>
                <a:endParaRPr sz="679" dirty="0"/>
              </a:p>
              <a:p>
                <a:pPr marL="0" marR="0" lvl="0" indent="0" algn="l" rtl="0">
                  <a:lnSpc>
                    <a:spcPct val="110000"/>
                  </a:lnSpc>
                  <a:spcBef>
                    <a:spcPts val="0"/>
                  </a:spcBef>
                  <a:spcAft>
                    <a:spcPts val="0"/>
                  </a:spcAft>
                  <a:buNone/>
                </a:pPr>
                <a:r>
                  <a:rPr lang="en-US" sz="679" dirty="0">
                    <a:solidFill>
                      <a:schemeClr val="dk1"/>
                    </a:solidFill>
                    <a:latin typeface="Open Sans"/>
                    <a:ea typeface="Open Sans"/>
                    <a:cs typeface="Open Sans"/>
                    <a:sym typeface="Open Sans"/>
                  </a:rPr>
                  <a:t>#17D76E</a:t>
                </a:r>
                <a:endParaRPr sz="679" dirty="0">
                  <a:solidFill>
                    <a:schemeClr val="dk1"/>
                  </a:solidFill>
                  <a:latin typeface="Open Sans"/>
                  <a:ea typeface="Open Sans"/>
                  <a:cs typeface="Open Sans"/>
                  <a:sym typeface="Open Sans"/>
                </a:endParaRPr>
              </a:p>
            </p:txBody>
          </p:sp>
          <p:sp>
            <p:nvSpPr>
              <p:cNvPr id="37" name="Google Shape;68;p6"/>
              <p:cNvSpPr/>
              <p:nvPr/>
            </p:nvSpPr>
            <p:spPr>
              <a:xfrm>
                <a:off x="1256377" y="5978408"/>
                <a:ext cx="856914" cy="348035"/>
              </a:xfrm>
              <a:prstGeom prst="rect">
                <a:avLst/>
              </a:prstGeom>
              <a:solidFill>
                <a:srgbClr val="0000FF"/>
              </a:solidFill>
              <a:ln>
                <a:noFill/>
              </a:ln>
            </p:spPr>
            <p:txBody>
              <a:bodyPr spcFirstLastPara="1" wrap="square" lIns="45720" tIns="18288" rIns="0" bIns="18288" anchor="ctr" anchorCtr="0">
                <a:noAutofit/>
              </a:bodyPr>
              <a:lstStyle/>
              <a:p>
                <a:pPr lvl="0">
                  <a:lnSpc>
                    <a:spcPct val="110000"/>
                  </a:lnSpc>
                </a:pPr>
                <a:r>
                  <a:rPr lang="en-US" sz="679" dirty="0">
                    <a:solidFill>
                      <a:schemeClr val="bg1"/>
                    </a:solidFill>
                    <a:latin typeface="Open Sans"/>
                    <a:ea typeface="Open Sans"/>
                    <a:cs typeface="Open Sans"/>
                    <a:sym typeface="Open Sans"/>
                  </a:rPr>
                  <a:t>0 / 0 / 255</a:t>
                </a:r>
              </a:p>
              <a:p>
                <a:pPr lvl="0">
                  <a:lnSpc>
                    <a:spcPct val="110000"/>
                  </a:lnSpc>
                </a:pPr>
                <a:r>
                  <a:rPr lang="en-US" sz="679" dirty="0">
                    <a:solidFill>
                      <a:schemeClr val="bg1"/>
                    </a:solidFill>
                    <a:latin typeface="Open Sans"/>
                    <a:ea typeface="Open Sans"/>
                    <a:cs typeface="Open Sans"/>
                    <a:sym typeface="Open Sans"/>
                  </a:rPr>
                  <a:t>#0000FF</a:t>
                </a:r>
                <a:endParaRPr sz="679" dirty="0">
                  <a:solidFill>
                    <a:schemeClr val="bg1"/>
                  </a:solidFill>
                  <a:latin typeface="Open Sans"/>
                  <a:ea typeface="Open Sans"/>
                  <a:cs typeface="Open Sans"/>
                  <a:sym typeface="Open Sans"/>
                </a:endParaRPr>
              </a:p>
            </p:txBody>
          </p:sp>
        </p:grpSp>
      </p:grpSp>
    </p:spTree>
    <p:extLst>
      <p:ext uri="{BB962C8B-B14F-4D97-AF65-F5344CB8AC3E}">
        <p14:creationId xmlns:p14="http://schemas.microsoft.com/office/powerpoint/2010/main" val="1234796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Content_1">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6737C5B-3BE4-45C9-96ED-6DF2F6C3F67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169207" y="7303389"/>
            <a:ext cx="875176" cy="233684"/>
          </a:xfrm>
          <a:prstGeom prst="rect">
            <a:avLst/>
          </a:prstGeom>
        </p:spPr>
      </p:pic>
      <p:sp>
        <p:nvSpPr>
          <p:cNvPr id="4" name="Rectangle 3">
            <a:extLst>
              <a:ext uri="{FF2B5EF4-FFF2-40B4-BE49-F238E27FC236}">
                <a16:creationId xmlns:a16="http://schemas.microsoft.com/office/drawing/2014/main" id="{00C32007-5EA0-4269-8443-74B2CB2D92DC}"/>
              </a:ext>
            </a:extLst>
          </p:cNvPr>
          <p:cNvSpPr/>
          <p:nvPr userDrawn="1"/>
        </p:nvSpPr>
        <p:spPr>
          <a:xfrm>
            <a:off x="0" y="0"/>
            <a:ext cx="10363201" cy="155448"/>
          </a:xfrm>
          <a:prstGeom prst="rect">
            <a:avLst/>
          </a:prstGeom>
          <a:solidFill>
            <a:srgbClr val="001691"/>
          </a:soli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1528" dirty="0">
              <a:solidFill>
                <a:srgbClr val="001691"/>
              </a:solidFill>
            </a:endParaRPr>
          </a:p>
        </p:txBody>
      </p:sp>
      <p:grpSp>
        <p:nvGrpSpPr>
          <p:cNvPr id="49" name="Group 48"/>
          <p:cNvGrpSpPr/>
          <p:nvPr userDrawn="1"/>
        </p:nvGrpSpPr>
        <p:grpSpPr>
          <a:xfrm>
            <a:off x="10846894" y="496761"/>
            <a:ext cx="975741" cy="6372141"/>
            <a:chOff x="1294050" y="834228"/>
            <a:chExt cx="1149425" cy="5622477"/>
          </a:xfrm>
        </p:grpSpPr>
        <p:sp>
          <p:nvSpPr>
            <p:cNvPr id="50" name="Google Shape;57;p6"/>
            <p:cNvSpPr/>
            <p:nvPr/>
          </p:nvSpPr>
          <p:spPr>
            <a:xfrm>
              <a:off x="1294050" y="834228"/>
              <a:ext cx="1149425" cy="502920"/>
            </a:xfrm>
            <a:prstGeom prst="rect">
              <a:avLst/>
            </a:prstGeom>
            <a:solidFill>
              <a:srgbClr val="001691"/>
            </a:solidFill>
            <a:ln>
              <a:noFill/>
            </a:ln>
          </p:spPr>
          <p:txBody>
            <a:bodyPr spcFirstLastPara="1" wrap="square" lIns="73152" tIns="9144" rIns="0" bIns="9144" anchor="ctr" anchorCtr="0">
              <a:noAutofit/>
            </a:bodyPr>
            <a:lstStyle/>
            <a:p>
              <a:pPr marL="0" marR="0" lvl="0" indent="0" algn="l" rtl="0">
                <a:spcBef>
                  <a:spcPts val="0"/>
                </a:spcBef>
                <a:spcAft>
                  <a:spcPts val="0"/>
                </a:spcAft>
                <a:buNone/>
              </a:pPr>
              <a:r>
                <a:rPr lang="en-US" sz="764" dirty="0">
                  <a:solidFill>
                    <a:schemeClr val="lt1"/>
                  </a:solidFill>
                  <a:latin typeface="Open Sans"/>
                  <a:ea typeface="Open Sans"/>
                  <a:cs typeface="Open Sans"/>
                  <a:sym typeface="Open Sans"/>
                </a:rPr>
                <a:t>0 / 22 / 145</a:t>
              </a:r>
              <a:endParaRPr sz="764" dirty="0"/>
            </a:p>
            <a:p>
              <a:pPr marL="0" marR="0" lvl="0" indent="0" algn="l" rtl="0">
                <a:spcBef>
                  <a:spcPts val="0"/>
                </a:spcBef>
                <a:spcAft>
                  <a:spcPts val="0"/>
                </a:spcAft>
                <a:buNone/>
              </a:pPr>
              <a:r>
                <a:rPr lang="en-US" sz="764" dirty="0">
                  <a:solidFill>
                    <a:schemeClr val="lt1"/>
                  </a:solidFill>
                  <a:latin typeface="Open Sans"/>
                  <a:ea typeface="Open Sans"/>
                  <a:cs typeface="Open Sans"/>
                  <a:sym typeface="Open Sans"/>
                </a:rPr>
                <a:t>#001691</a:t>
              </a:r>
              <a:endParaRPr sz="764" dirty="0"/>
            </a:p>
            <a:p>
              <a:pPr marL="0" marR="0" lvl="0" indent="0" algn="l" rtl="0">
                <a:spcBef>
                  <a:spcPts val="0"/>
                </a:spcBef>
                <a:spcAft>
                  <a:spcPts val="0"/>
                </a:spcAft>
                <a:buNone/>
              </a:pPr>
              <a:r>
                <a:rPr lang="en-US" sz="764" b="1" dirty="0">
                  <a:solidFill>
                    <a:schemeClr val="lt1"/>
                  </a:solidFill>
                  <a:latin typeface="Open Sans"/>
                  <a:ea typeface="Open Sans"/>
                  <a:cs typeface="Open Sans"/>
                  <a:sym typeface="Open Sans"/>
                </a:rPr>
                <a:t>Magaya Blue</a:t>
              </a:r>
              <a:endParaRPr sz="764" b="1" dirty="0">
                <a:solidFill>
                  <a:schemeClr val="lt1"/>
                </a:solidFill>
                <a:latin typeface="Open Sans"/>
                <a:ea typeface="Open Sans"/>
                <a:cs typeface="Open Sans"/>
                <a:sym typeface="Open Sans"/>
              </a:endParaRPr>
            </a:p>
          </p:txBody>
        </p:sp>
        <p:sp>
          <p:nvSpPr>
            <p:cNvPr id="51" name="Google Shape;58;p6"/>
            <p:cNvSpPr/>
            <p:nvPr/>
          </p:nvSpPr>
          <p:spPr>
            <a:xfrm>
              <a:off x="1294050" y="1867932"/>
              <a:ext cx="1149425" cy="502920"/>
            </a:xfrm>
            <a:prstGeom prst="rect">
              <a:avLst/>
            </a:prstGeom>
            <a:solidFill>
              <a:srgbClr val="01166D"/>
            </a:solidFill>
            <a:ln>
              <a:noFill/>
            </a:ln>
          </p:spPr>
          <p:txBody>
            <a:bodyPr spcFirstLastPara="1" wrap="square" lIns="73152" tIns="9144" rIns="0" bIns="9144" anchor="ctr" anchorCtr="0">
              <a:noAutofit/>
            </a:bodyPr>
            <a:lstStyle/>
            <a:p>
              <a:pPr marL="0" marR="0" lvl="0" indent="0" algn="l" rtl="0">
                <a:spcBef>
                  <a:spcPts val="0"/>
                </a:spcBef>
                <a:spcAft>
                  <a:spcPts val="0"/>
                </a:spcAft>
                <a:buNone/>
              </a:pPr>
              <a:r>
                <a:rPr lang="en-US" sz="764" dirty="0">
                  <a:solidFill>
                    <a:schemeClr val="lt1"/>
                  </a:solidFill>
                  <a:latin typeface="Open Sans"/>
                  <a:ea typeface="Open Sans"/>
                  <a:cs typeface="Open Sans"/>
                  <a:sym typeface="Open Sans"/>
                </a:rPr>
                <a:t>1 / 22 / 109</a:t>
              </a:r>
              <a:endParaRPr sz="764" dirty="0"/>
            </a:p>
            <a:p>
              <a:pPr marL="0" marR="0" lvl="0" indent="0" algn="l" rtl="0">
                <a:spcBef>
                  <a:spcPts val="0"/>
                </a:spcBef>
                <a:spcAft>
                  <a:spcPts val="0"/>
                </a:spcAft>
                <a:buNone/>
              </a:pPr>
              <a:r>
                <a:rPr lang="en-US" sz="764" dirty="0">
                  <a:solidFill>
                    <a:schemeClr val="lt1"/>
                  </a:solidFill>
                  <a:latin typeface="Open Sans"/>
                  <a:ea typeface="Open Sans"/>
                  <a:cs typeface="Open Sans"/>
                  <a:sym typeface="Open Sans"/>
                </a:rPr>
                <a:t>#01166d</a:t>
              </a:r>
            </a:p>
            <a:p>
              <a:r>
                <a:rPr lang="en-US" sz="764" dirty="0">
                  <a:solidFill>
                    <a:schemeClr val="lt1"/>
                  </a:solidFill>
                  <a:latin typeface="Open Sans"/>
                  <a:ea typeface="Open Sans"/>
                  <a:cs typeface="Open Sans"/>
                  <a:sym typeface="Open Sans"/>
                </a:rPr>
                <a:t>Deep Blue</a:t>
              </a:r>
            </a:p>
          </p:txBody>
        </p:sp>
        <p:sp>
          <p:nvSpPr>
            <p:cNvPr id="52" name="Google Shape;59;p6"/>
            <p:cNvSpPr/>
            <p:nvPr/>
          </p:nvSpPr>
          <p:spPr>
            <a:xfrm>
              <a:off x="1294050" y="2386224"/>
              <a:ext cx="1149425" cy="502920"/>
            </a:xfrm>
            <a:prstGeom prst="rect">
              <a:avLst/>
            </a:prstGeom>
            <a:solidFill>
              <a:srgbClr val="142159"/>
            </a:solidFill>
            <a:ln>
              <a:noFill/>
            </a:ln>
          </p:spPr>
          <p:txBody>
            <a:bodyPr spcFirstLastPara="1" wrap="square" lIns="73152" tIns="9144" rIns="0" bIns="9144" anchor="ctr" anchorCtr="0">
              <a:noAutofit/>
            </a:bodyPr>
            <a:lstStyle/>
            <a:p>
              <a:pPr marL="0" marR="0" lvl="0" indent="0" algn="l" rtl="0">
                <a:spcBef>
                  <a:spcPts val="0"/>
                </a:spcBef>
                <a:spcAft>
                  <a:spcPts val="0"/>
                </a:spcAft>
                <a:buNone/>
              </a:pPr>
              <a:r>
                <a:rPr lang="en-US" sz="764" dirty="0">
                  <a:solidFill>
                    <a:schemeClr val="lt1"/>
                  </a:solidFill>
                  <a:latin typeface="Open Sans"/>
                  <a:ea typeface="Open Sans"/>
                  <a:cs typeface="Open Sans"/>
                  <a:sym typeface="Open Sans"/>
                </a:rPr>
                <a:t>20 / 33 / 89</a:t>
              </a:r>
              <a:endParaRPr sz="764" dirty="0"/>
            </a:p>
            <a:p>
              <a:pPr marL="0" marR="0" lvl="0" indent="0" algn="l" rtl="0">
                <a:spcBef>
                  <a:spcPts val="0"/>
                </a:spcBef>
                <a:spcAft>
                  <a:spcPts val="0"/>
                </a:spcAft>
                <a:buNone/>
              </a:pPr>
              <a:r>
                <a:rPr lang="en-US" sz="764" dirty="0">
                  <a:solidFill>
                    <a:schemeClr val="lt1"/>
                  </a:solidFill>
                  <a:latin typeface="Open Sans"/>
                  <a:ea typeface="Open Sans"/>
                  <a:cs typeface="Open Sans"/>
                  <a:sym typeface="Open Sans"/>
                </a:rPr>
                <a:t>#142159</a:t>
              </a:r>
            </a:p>
            <a:p>
              <a:r>
                <a:rPr lang="en-US" sz="764" dirty="0">
                  <a:solidFill>
                    <a:schemeClr val="lt1"/>
                  </a:solidFill>
                  <a:latin typeface="Open Sans"/>
                  <a:ea typeface="Open Sans"/>
                  <a:cs typeface="Open Sans"/>
                  <a:sym typeface="Open Sans"/>
                </a:rPr>
                <a:t>Dark Blue</a:t>
              </a:r>
            </a:p>
          </p:txBody>
        </p:sp>
        <p:sp>
          <p:nvSpPr>
            <p:cNvPr id="53" name="Google Shape;61;p6"/>
            <p:cNvSpPr/>
            <p:nvPr/>
          </p:nvSpPr>
          <p:spPr>
            <a:xfrm>
              <a:off x="1294050" y="3939395"/>
              <a:ext cx="1149425" cy="502920"/>
            </a:xfrm>
            <a:prstGeom prst="rect">
              <a:avLst/>
            </a:prstGeom>
            <a:solidFill>
              <a:srgbClr val="F6F7FE"/>
            </a:solidFill>
            <a:ln>
              <a:noFill/>
            </a:ln>
          </p:spPr>
          <p:txBody>
            <a:bodyPr spcFirstLastPara="1" wrap="square" lIns="73152" tIns="9144" rIns="0" bIns="9144" anchor="ctr" anchorCtr="0">
              <a:noAutofit/>
            </a:bodyPr>
            <a:lstStyle/>
            <a:p>
              <a:pPr lvl="0"/>
              <a:r>
                <a:rPr lang="en-US" sz="764" dirty="0">
                  <a:solidFill>
                    <a:schemeClr val="dk1"/>
                  </a:solidFill>
                  <a:latin typeface="Open Sans"/>
                  <a:ea typeface="Open Sans"/>
                  <a:cs typeface="Open Sans"/>
                  <a:sym typeface="Open Sans"/>
                </a:rPr>
                <a:t>246 / 247 / 254</a:t>
              </a:r>
            </a:p>
            <a:p>
              <a:pPr lvl="0"/>
              <a:r>
                <a:rPr lang="en-US" sz="764" dirty="0">
                  <a:solidFill>
                    <a:schemeClr val="dk1"/>
                  </a:solidFill>
                  <a:latin typeface="Open Sans"/>
                  <a:ea typeface="Open Sans"/>
                  <a:cs typeface="Open Sans"/>
                  <a:sym typeface="Open Sans"/>
                </a:rPr>
                <a:t>#F6F7FE</a:t>
              </a:r>
            </a:p>
            <a:p>
              <a:pPr lvl="0"/>
              <a:r>
                <a:rPr lang="en-US" sz="764" dirty="0">
                  <a:solidFill>
                    <a:schemeClr val="dk1"/>
                  </a:solidFill>
                  <a:latin typeface="Open Sans"/>
                  <a:ea typeface="Open Sans"/>
                  <a:cs typeface="Open Sans"/>
                  <a:sym typeface="Open Sans"/>
                </a:rPr>
                <a:t>Light Grey</a:t>
              </a:r>
              <a:endParaRPr sz="764" dirty="0">
                <a:solidFill>
                  <a:schemeClr val="dk1"/>
                </a:solidFill>
                <a:latin typeface="Open Sans"/>
                <a:ea typeface="Open Sans"/>
                <a:cs typeface="Open Sans"/>
                <a:sym typeface="Open Sans"/>
              </a:endParaRPr>
            </a:p>
          </p:txBody>
        </p:sp>
        <p:sp>
          <p:nvSpPr>
            <p:cNvPr id="54" name="Google Shape;62;p6"/>
            <p:cNvSpPr/>
            <p:nvPr/>
          </p:nvSpPr>
          <p:spPr>
            <a:xfrm>
              <a:off x="1294050" y="2903295"/>
              <a:ext cx="1149425" cy="502920"/>
            </a:xfrm>
            <a:prstGeom prst="rect">
              <a:avLst/>
            </a:prstGeom>
            <a:solidFill>
              <a:srgbClr val="6B7489"/>
            </a:solidFill>
            <a:ln>
              <a:noFill/>
            </a:ln>
          </p:spPr>
          <p:txBody>
            <a:bodyPr spcFirstLastPara="1" wrap="square" lIns="73152" tIns="9144" rIns="0" bIns="9144" anchor="ctr" anchorCtr="0">
              <a:noAutofit/>
            </a:bodyPr>
            <a:lstStyle/>
            <a:p>
              <a:pPr marL="0" marR="0" lvl="0" indent="0" algn="l" rtl="0">
                <a:spcBef>
                  <a:spcPts val="0"/>
                </a:spcBef>
                <a:spcAft>
                  <a:spcPts val="0"/>
                </a:spcAft>
                <a:buNone/>
              </a:pPr>
              <a:r>
                <a:rPr lang="en-US" sz="764" dirty="0">
                  <a:solidFill>
                    <a:schemeClr val="lt1"/>
                  </a:solidFill>
                  <a:latin typeface="Open Sans"/>
                  <a:ea typeface="Open Sans"/>
                  <a:cs typeface="Open Sans"/>
                  <a:sym typeface="Open Sans"/>
                </a:rPr>
                <a:t>107 / 116 / 137</a:t>
              </a:r>
              <a:endParaRPr sz="764" dirty="0"/>
            </a:p>
            <a:p>
              <a:pPr marL="0" marR="0" lvl="0" indent="0" algn="l" rtl="0">
                <a:spcBef>
                  <a:spcPts val="0"/>
                </a:spcBef>
                <a:spcAft>
                  <a:spcPts val="0"/>
                </a:spcAft>
                <a:buNone/>
              </a:pPr>
              <a:r>
                <a:rPr lang="en-US" sz="764" dirty="0">
                  <a:solidFill>
                    <a:schemeClr val="lt1"/>
                  </a:solidFill>
                  <a:latin typeface="Open Sans"/>
                  <a:ea typeface="Open Sans"/>
                  <a:cs typeface="Open Sans"/>
                  <a:sym typeface="Open Sans"/>
                </a:rPr>
                <a:t>#6B7489</a:t>
              </a:r>
              <a:endParaRPr sz="764" dirty="0"/>
            </a:p>
            <a:p>
              <a:pPr marL="0" marR="0" lvl="0" indent="0" algn="l" rtl="0">
                <a:spcBef>
                  <a:spcPts val="0"/>
                </a:spcBef>
                <a:spcAft>
                  <a:spcPts val="0"/>
                </a:spcAft>
                <a:buNone/>
              </a:pPr>
              <a:r>
                <a:rPr lang="en-US" sz="764" b="1" dirty="0">
                  <a:solidFill>
                    <a:schemeClr val="lt1"/>
                  </a:solidFill>
                  <a:latin typeface="Open Sans"/>
                  <a:ea typeface="Open Sans"/>
                  <a:cs typeface="Open Sans"/>
                  <a:sym typeface="Open Sans"/>
                </a:rPr>
                <a:t>Magaya Grey</a:t>
              </a:r>
              <a:endParaRPr sz="764" b="1" dirty="0">
                <a:solidFill>
                  <a:schemeClr val="lt1"/>
                </a:solidFill>
                <a:latin typeface="Open Sans"/>
                <a:ea typeface="Open Sans"/>
                <a:cs typeface="Open Sans"/>
                <a:sym typeface="Open Sans"/>
              </a:endParaRPr>
            </a:p>
          </p:txBody>
        </p:sp>
        <p:sp>
          <p:nvSpPr>
            <p:cNvPr id="55" name="Google Shape;63;p6"/>
            <p:cNvSpPr/>
            <p:nvPr/>
          </p:nvSpPr>
          <p:spPr>
            <a:xfrm>
              <a:off x="1294050" y="3420367"/>
              <a:ext cx="1149425" cy="502920"/>
            </a:xfrm>
            <a:prstGeom prst="rect">
              <a:avLst/>
            </a:prstGeom>
            <a:solidFill>
              <a:srgbClr val="383B48"/>
            </a:solidFill>
            <a:ln>
              <a:noFill/>
            </a:ln>
          </p:spPr>
          <p:txBody>
            <a:bodyPr spcFirstLastPara="1" wrap="square" lIns="73152" tIns="9144" rIns="0" bIns="9144" anchor="ctr" anchorCtr="0">
              <a:noAutofit/>
            </a:bodyPr>
            <a:lstStyle/>
            <a:p>
              <a:pPr marL="0" marR="0" lvl="0" indent="0" algn="l" rtl="0">
                <a:spcBef>
                  <a:spcPts val="0"/>
                </a:spcBef>
                <a:spcAft>
                  <a:spcPts val="0"/>
                </a:spcAft>
                <a:buNone/>
              </a:pPr>
              <a:r>
                <a:rPr lang="en-US" sz="764" dirty="0">
                  <a:solidFill>
                    <a:schemeClr val="lt1"/>
                  </a:solidFill>
                  <a:latin typeface="Open Sans"/>
                  <a:ea typeface="Open Sans"/>
                  <a:cs typeface="Open Sans"/>
                  <a:sym typeface="Open Sans"/>
                </a:rPr>
                <a:t>56 / 59 / 72</a:t>
              </a:r>
              <a:endParaRPr sz="764" dirty="0"/>
            </a:p>
            <a:p>
              <a:pPr marL="0" marR="0" lvl="0" indent="0" algn="l" rtl="0">
                <a:lnSpc>
                  <a:spcPct val="100000"/>
                </a:lnSpc>
                <a:spcBef>
                  <a:spcPts val="0"/>
                </a:spcBef>
                <a:spcAft>
                  <a:spcPts val="0"/>
                </a:spcAft>
                <a:buClr>
                  <a:schemeClr val="lt1"/>
                </a:buClr>
                <a:buSzPts val="850"/>
                <a:buFont typeface="Open Sans"/>
                <a:buNone/>
              </a:pPr>
              <a:r>
                <a:rPr lang="en-US" sz="764" dirty="0">
                  <a:solidFill>
                    <a:schemeClr val="lt1"/>
                  </a:solidFill>
                  <a:latin typeface="Open Sans"/>
                  <a:ea typeface="Open Sans"/>
                  <a:cs typeface="Open Sans"/>
                  <a:sym typeface="Open Sans"/>
                </a:rPr>
                <a:t>#383B48</a:t>
              </a:r>
              <a:br>
                <a:rPr lang="en-US" sz="764" dirty="0">
                  <a:solidFill>
                    <a:schemeClr val="lt1"/>
                  </a:solidFill>
                  <a:latin typeface="Open Sans"/>
                  <a:ea typeface="Open Sans"/>
                  <a:cs typeface="Open Sans"/>
                  <a:sym typeface="Open Sans"/>
                </a:rPr>
              </a:br>
              <a:r>
                <a:rPr lang="en-US" sz="764" dirty="0">
                  <a:solidFill>
                    <a:schemeClr val="lt1"/>
                  </a:solidFill>
                  <a:latin typeface="Open Sans"/>
                  <a:ea typeface="Open Sans"/>
                  <a:cs typeface="Open Sans"/>
                  <a:sym typeface="Open Sans"/>
                </a:rPr>
                <a:t>Dark Grey</a:t>
              </a:r>
              <a:endParaRPr sz="764" dirty="0">
                <a:solidFill>
                  <a:schemeClr val="lt1"/>
                </a:solidFill>
                <a:latin typeface="Open Sans"/>
                <a:ea typeface="Open Sans"/>
                <a:cs typeface="Open Sans"/>
                <a:sym typeface="Open Sans"/>
              </a:endParaRPr>
            </a:p>
          </p:txBody>
        </p:sp>
        <p:sp>
          <p:nvSpPr>
            <p:cNvPr id="56" name="Google Shape;60;p6"/>
            <p:cNvSpPr/>
            <p:nvPr/>
          </p:nvSpPr>
          <p:spPr>
            <a:xfrm>
              <a:off x="1294050" y="1344866"/>
              <a:ext cx="1149425" cy="502920"/>
            </a:xfrm>
            <a:prstGeom prst="rect">
              <a:avLst/>
            </a:prstGeom>
            <a:solidFill>
              <a:srgbClr val="09A1FF"/>
            </a:solidFill>
            <a:ln>
              <a:noFill/>
            </a:ln>
          </p:spPr>
          <p:txBody>
            <a:bodyPr spcFirstLastPara="1" wrap="square" lIns="73152" tIns="9144" rIns="0" bIns="9144" anchor="ctr" anchorCtr="0">
              <a:noAutofit/>
            </a:bodyPr>
            <a:lstStyle/>
            <a:p>
              <a:pPr marL="0" marR="0" lvl="0" indent="0" algn="l" rtl="0">
                <a:spcBef>
                  <a:spcPts val="0"/>
                </a:spcBef>
                <a:spcAft>
                  <a:spcPts val="0"/>
                </a:spcAft>
                <a:buNone/>
              </a:pPr>
              <a:r>
                <a:rPr lang="en-US" sz="764" dirty="0">
                  <a:solidFill>
                    <a:schemeClr val="lt1"/>
                  </a:solidFill>
                  <a:latin typeface="Open Sans"/>
                  <a:ea typeface="Open Sans"/>
                  <a:cs typeface="Open Sans"/>
                  <a:sym typeface="Open Sans"/>
                </a:rPr>
                <a:t>9 / 161 / 255</a:t>
              </a:r>
              <a:endParaRPr sz="764" dirty="0"/>
            </a:p>
            <a:p>
              <a:pPr marL="0" marR="0" lvl="0" indent="0" algn="l" rtl="0">
                <a:lnSpc>
                  <a:spcPct val="100000"/>
                </a:lnSpc>
                <a:spcBef>
                  <a:spcPts val="0"/>
                </a:spcBef>
                <a:spcAft>
                  <a:spcPts val="0"/>
                </a:spcAft>
                <a:buClr>
                  <a:schemeClr val="lt1"/>
                </a:buClr>
                <a:buSzPts val="850"/>
                <a:buFont typeface="Open Sans"/>
                <a:buNone/>
              </a:pPr>
              <a:r>
                <a:rPr lang="en-US" sz="764" dirty="0">
                  <a:solidFill>
                    <a:schemeClr val="lt1"/>
                  </a:solidFill>
                  <a:latin typeface="Open Sans"/>
                  <a:ea typeface="Open Sans"/>
                  <a:cs typeface="Open Sans"/>
                  <a:sym typeface="Open Sans"/>
                </a:rPr>
                <a:t>#09A1FF</a:t>
              </a:r>
            </a:p>
            <a:p>
              <a:pPr marL="0" marR="0" lvl="0" indent="0" algn="l" rtl="0">
                <a:lnSpc>
                  <a:spcPct val="100000"/>
                </a:lnSpc>
                <a:spcBef>
                  <a:spcPts val="0"/>
                </a:spcBef>
                <a:spcAft>
                  <a:spcPts val="0"/>
                </a:spcAft>
                <a:buClr>
                  <a:schemeClr val="lt1"/>
                </a:buClr>
                <a:buSzPts val="850"/>
                <a:buFont typeface="Open Sans"/>
                <a:buNone/>
              </a:pPr>
              <a:r>
                <a:rPr lang="en-US" sz="764" dirty="0">
                  <a:solidFill>
                    <a:schemeClr val="bg1"/>
                  </a:solidFill>
                  <a:latin typeface="Open Sans"/>
                  <a:ea typeface="Open Sans"/>
                  <a:cs typeface="Open Sans"/>
                  <a:sym typeface="Open Sans"/>
                </a:rPr>
                <a:t>Light Magaya Blue</a:t>
              </a:r>
              <a:endParaRPr sz="764" dirty="0">
                <a:solidFill>
                  <a:schemeClr val="bg1"/>
                </a:solidFill>
                <a:latin typeface="Open Sans"/>
                <a:ea typeface="Open Sans"/>
                <a:cs typeface="Open Sans"/>
                <a:sym typeface="Open Sans"/>
              </a:endParaRPr>
            </a:p>
          </p:txBody>
        </p:sp>
        <p:grpSp>
          <p:nvGrpSpPr>
            <p:cNvPr id="57" name="Group 56"/>
            <p:cNvGrpSpPr/>
            <p:nvPr/>
          </p:nvGrpSpPr>
          <p:grpSpPr>
            <a:xfrm>
              <a:off x="1301793" y="4463313"/>
              <a:ext cx="1135747" cy="1993392"/>
              <a:chOff x="1116961" y="4404945"/>
              <a:chExt cx="1135747" cy="1993392"/>
            </a:xfrm>
          </p:grpSpPr>
          <p:sp>
            <p:nvSpPr>
              <p:cNvPr id="58" name="Google Shape;65;p6"/>
              <p:cNvSpPr/>
              <p:nvPr/>
            </p:nvSpPr>
            <p:spPr>
              <a:xfrm>
                <a:off x="1116961" y="4404945"/>
                <a:ext cx="1135747" cy="1993392"/>
              </a:xfrm>
              <a:prstGeom prst="rect">
                <a:avLst/>
              </a:prstGeom>
              <a:noFill/>
              <a:ln w="9525" cap="flat" cmpd="sng">
                <a:solidFill>
                  <a:srgbClr val="BFBFB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623" dirty="0">
                  <a:solidFill>
                    <a:schemeClr val="lt1"/>
                  </a:solidFill>
                  <a:latin typeface="Calibri"/>
                  <a:ea typeface="Calibri"/>
                  <a:cs typeface="Calibri"/>
                  <a:sym typeface="Calibri"/>
                </a:endParaRPr>
              </a:p>
            </p:txBody>
          </p:sp>
          <p:sp>
            <p:nvSpPr>
              <p:cNvPr id="59" name="Google Shape;66;p6"/>
              <p:cNvSpPr/>
              <p:nvPr/>
            </p:nvSpPr>
            <p:spPr>
              <a:xfrm>
                <a:off x="1116961" y="4448781"/>
                <a:ext cx="1135747" cy="428824"/>
              </a:xfrm>
              <a:prstGeom prst="rect">
                <a:avLst/>
              </a:prstGeom>
              <a:noFill/>
              <a:ln>
                <a:noFill/>
              </a:ln>
            </p:spPr>
            <p:txBody>
              <a:bodyPr spcFirstLastPara="1" wrap="square" lIns="0" tIns="18288" rIns="0" bIns="18288" anchor="t" anchorCtr="0">
                <a:noAutofit/>
              </a:bodyPr>
              <a:lstStyle/>
              <a:p>
                <a:pPr marL="0" marR="0" lvl="0" indent="0" algn="ctr" rtl="0">
                  <a:spcBef>
                    <a:spcPts val="0"/>
                  </a:spcBef>
                  <a:spcAft>
                    <a:spcPts val="0"/>
                  </a:spcAft>
                  <a:buNone/>
                </a:pPr>
                <a:r>
                  <a:rPr lang="en-US" sz="764" b="1" dirty="0">
                    <a:solidFill>
                      <a:schemeClr val="dk1"/>
                    </a:solidFill>
                    <a:latin typeface="Open Sans"/>
                    <a:ea typeface="Open Sans"/>
                    <a:cs typeface="Open Sans"/>
                    <a:sym typeface="Open Sans"/>
                  </a:rPr>
                  <a:t>Accent Colors</a:t>
                </a:r>
              </a:p>
              <a:p>
                <a:pPr marL="0" marR="0" lvl="0" indent="0" algn="ctr" rtl="0">
                  <a:spcBef>
                    <a:spcPts val="0"/>
                  </a:spcBef>
                  <a:spcAft>
                    <a:spcPts val="0"/>
                  </a:spcAft>
                  <a:buNone/>
                </a:pPr>
                <a:r>
                  <a:rPr lang="en-US" sz="594" dirty="0">
                    <a:solidFill>
                      <a:schemeClr val="dk1"/>
                    </a:solidFill>
                    <a:latin typeface="Open Sans"/>
                    <a:ea typeface="Open Sans"/>
                    <a:cs typeface="Open Sans"/>
                    <a:sym typeface="Open Sans"/>
                  </a:rPr>
                  <a:t>Marketing Use for </a:t>
                </a:r>
                <a:endParaRPr sz="594" dirty="0"/>
              </a:p>
              <a:p>
                <a:pPr marL="0" marR="0" lvl="0" indent="0" algn="ctr" rtl="0">
                  <a:spcBef>
                    <a:spcPts val="0"/>
                  </a:spcBef>
                  <a:spcAft>
                    <a:spcPts val="0"/>
                  </a:spcAft>
                  <a:buNone/>
                </a:pPr>
                <a:r>
                  <a:rPr lang="en-US" sz="594" dirty="0">
                    <a:solidFill>
                      <a:schemeClr val="dk1"/>
                    </a:solidFill>
                    <a:latin typeface="Open Sans"/>
                    <a:ea typeface="Open Sans"/>
                    <a:cs typeface="Open Sans"/>
                    <a:sym typeface="Open Sans"/>
                  </a:rPr>
                  <a:t>Special Purposes Only</a:t>
                </a:r>
                <a:endParaRPr sz="594" dirty="0">
                  <a:solidFill>
                    <a:schemeClr val="dk1"/>
                  </a:solidFill>
                  <a:latin typeface="Open Sans"/>
                  <a:ea typeface="Open Sans"/>
                  <a:cs typeface="Open Sans"/>
                  <a:sym typeface="Open Sans"/>
                </a:endParaRPr>
              </a:p>
            </p:txBody>
          </p:sp>
          <p:sp>
            <p:nvSpPr>
              <p:cNvPr id="60" name="Google Shape;69;p6"/>
              <p:cNvSpPr/>
              <p:nvPr/>
            </p:nvSpPr>
            <p:spPr>
              <a:xfrm>
                <a:off x="1256377" y="4879016"/>
                <a:ext cx="856915" cy="356671"/>
              </a:xfrm>
              <a:prstGeom prst="rect">
                <a:avLst/>
              </a:prstGeom>
              <a:solidFill>
                <a:srgbClr val="FFC914"/>
              </a:solidFill>
              <a:ln>
                <a:noFill/>
              </a:ln>
            </p:spPr>
            <p:txBody>
              <a:bodyPr spcFirstLastPara="1" wrap="square" lIns="45720" tIns="18288" rIns="0" bIns="18288" anchor="ctr" anchorCtr="0">
                <a:noAutofit/>
              </a:bodyPr>
              <a:lstStyle/>
              <a:p>
                <a:pPr marL="0" marR="0" lvl="0" indent="0" algn="l" rtl="0">
                  <a:lnSpc>
                    <a:spcPct val="110000"/>
                  </a:lnSpc>
                  <a:spcBef>
                    <a:spcPts val="0"/>
                  </a:spcBef>
                  <a:spcAft>
                    <a:spcPts val="0"/>
                  </a:spcAft>
                  <a:buNone/>
                </a:pPr>
                <a:r>
                  <a:rPr lang="en-US" sz="679" dirty="0">
                    <a:solidFill>
                      <a:schemeClr val="dk1"/>
                    </a:solidFill>
                    <a:latin typeface="Open Sans"/>
                    <a:ea typeface="Open Sans"/>
                    <a:cs typeface="Open Sans"/>
                    <a:sym typeface="Open Sans"/>
                  </a:rPr>
                  <a:t>255 / 201 / 20</a:t>
                </a:r>
                <a:endParaRPr sz="679" dirty="0"/>
              </a:p>
              <a:p>
                <a:pPr marL="0" marR="0" lvl="0" indent="0" algn="l" rtl="0">
                  <a:lnSpc>
                    <a:spcPct val="110000"/>
                  </a:lnSpc>
                  <a:spcBef>
                    <a:spcPts val="0"/>
                  </a:spcBef>
                  <a:spcAft>
                    <a:spcPts val="0"/>
                  </a:spcAft>
                  <a:buNone/>
                </a:pPr>
                <a:r>
                  <a:rPr lang="en-US" sz="679" dirty="0">
                    <a:solidFill>
                      <a:schemeClr val="dk1"/>
                    </a:solidFill>
                    <a:latin typeface="Open Sans"/>
                    <a:ea typeface="Open Sans"/>
                    <a:cs typeface="Open Sans"/>
                    <a:sym typeface="Open Sans"/>
                  </a:rPr>
                  <a:t>#FFC914</a:t>
                </a:r>
                <a:endParaRPr sz="679" dirty="0">
                  <a:solidFill>
                    <a:schemeClr val="dk1"/>
                  </a:solidFill>
                  <a:latin typeface="Open Sans"/>
                  <a:ea typeface="Open Sans"/>
                  <a:cs typeface="Open Sans"/>
                  <a:sym typeface="Open Sans"/>
                </a:endParaRPr>
              </a:p>
            </p:txBody>
          </p:sp>
          <p:sp>
            <p:nvSpPr>
              <p:cNvPr id="61" name="Google Shape;68;p6"/>
              <p:cNvSpPr/>
              <p:nvPr/>
            </p:nvSpPr>
            <p:spPr>
              <a:xfrm>
                <a:off x="1256377" y="5612976"/>
                <a:ext cx="856914" cy="348035"/>
              </a:xfrm>
              <a:prstGeom prst="rect">
                <a:avLst/>
              </a:prstGeom>
              <a:solidFill>
                <a:srgbClr val="FD4B72"/>
              </a:solidFill>
              <a:ln>
                <a:noFill/>
              </a:ln>
            </p:spPr>
            <p:txBody>
              <a:bodyPr spcFirstLastPara="1" wrap="square" lIns="45720" tIns="18288" rIns="0" bIns="18288" anchor="ctr" anchorCtr="0">
                <a:noAutofit/>
              </a:bodyPr>
              <a:lstStyle/>
              <a:p>
                <a:pPr lvl="0">
                  <a:lnSpc>
                    <a:spcPct val="110000"/>
                  </a:lnSpc>
                </a:pPr>
                <a:r>
                  <a:rPr lang="en-US" sz="679" dirty="0">
                    <a:solidFill>
                      <a:schemeClr val="bg1"/>
                    </a:solidFill>
                    <a:latin typeface="Open Sans"/>
                    <a:ea typeface="Open Sans"/>
                    <a:cs typeface="Open Sans"/>
                    <a:sym typeface="Open Sans"/>
                  </a:rPr>
                  <a:t>253 / 75 / 114</a:t>
                </a:r>
              </a:p>
              <a:p>
                <a:pPr lvl="0">
                  <a:lnSpc>
                    <a:spcPct val="110000"/>
                  </a:lnSpc>
                </a:pPr>
                <a:r>
                  <a:rPr lang="en-US" sz="679" dirty="0">
                    <a:solidFill>
                      <a:schemeClr val="bg1"/>
                    </a:solidFill>
                    <a:latin typeface="Open Sans"/>
                    <a:ea typeface="Open Sans"/>
                    <a:cs typeface="Open Sans"/>
                    <a:sym typeface="Open Sans"/>
                  </a:rPr>
                  <a:t>#FD4B72</a:t>
                </a:r>
                <a:endParaRPr sz="679" dirty="0">
                  <a:solidFill>
                    <a:schemeClr val="bg1"/>
                  </a:solidFill>
                  <a:latin typeface="Open Sans"/>
                  <a:ea typeface="Open Sans"/>
                  <a:cs typeface="Open Sans"/>
                  <a:sym typeface="Open Sans"/>
                </a:endParaRPr>
              </a:p>
            </p:txBody>
          </p:sp>
          <p:sp>
            <p:nvSpPr>
              <p:cNvPr id="62" name="Google Shape;68;p6"/>
              <p:cNvSpPr/>
              <p:nvPr/>
            </p:nvSpPr>
            <p:spPr>
              <a:xfrm>
                <a:off x="1256377" y="5247423"/>
                <a:ext cx="856914" cy="348035"/>
              </a:xfrm>
              <a:prstGeom prst="rect">
                <a:avLst/>
              </a:prstGeom>
              <a:solidFill>
                <a:srgbClr val="17D76E"/>
              </a:solidFill>
              <a:ln>
                <a:noFill/>
              </a:ln>
            </p:spPr>
            <p:txBody>
              <a:bodyPr spcFirstLastPara="1" wrap="square" lIns="45720" tIns="18288" rIns="0" bIns="18288" anchor="ctr" anchorCtr="0">
                <a:noAutofit/>
              </a:bodyPr>
              <a:lstStyle/>
              <a:p>
                <a:pPr marL="0" marR="0" lvl="0" indent="0" algn="l" rtl="0">
                  <a:lnSpc>
                    <a:spcPct val="110000"/>
                  </a:lnSpc>
                  <a:spcBef>
                    <a:spcPts val="0"/>
                  </a:spcBef>
                  <a:spcAft>
                    <a:spcPts val="0"/>
                  </a:spcAft>
                  <a:buNone/>
                </a:pPr>
                <a:r>
                  <a:rPr lang="en-US" sz="679" dirty="0">
                    <a:solidFill>
                      <a:schemeClr val="dk1"/>
                    </a:solidFill>
                    <a:latin typeface="Open Sans"/>
                    <a:ea typeface="Open Sans"/>
                    <a:cs typeface="Open Sans"/>
                    <a:sym typeface="Open Sans"/>
                  </a:rPr>
                  <a:t>23 / 215 / 110</a:t>
                </a:r>
                <a:endParaRPr sz="679" dirty="0"/>
              </a:p>
              <a:p>
                <a:pPr marL="0" marR="0" lvl="0" indent="0" algn="l" rtl="0">
                  <a:lnSpc>
                    <a:spcPct val="110000"/>
                  </a:lnSpc>
                  <a:spcBef>
                    <a:spcPts val="0"/>
                  </a:spcBef>
                  <a:spcAft>
                    <a:spcPts val="0"/>
                  </a:spcAft>
                  <a:buNone/>
                </a:pPr>
                <a:r>
                  <a:rPr lang="en-US" sz="679" dirty="0">
                    <a:solidFill>
                      <a:schemeClr val="dk1"/>
                    </a:solidFill>
                    <a:latin typeface="Open Sans"/>
                    <a:ea typeface="Open Sans"/>
                    <a:cs typeface="Open Sans"/>
                    <a:sym typeface="Open Sans"/>
                  </a:rPr>
                  <a:t>#17D76E</a:t>
                </a:r>
                <a:endParaRPr sz="679" dirty="0">
                  <a:solidFill>
                    <a:schemeClr val="dk1"/>
                  </a:solidFill>
                  <a:latin typeface="Open Sans"/>
                  <a:ea typeface="Open Sans"/>
                  <a:cs typeface="Open Sans"/>
                  <a:sym typeface="Open Sans"/>
                </a:endParaRPr>
              </a:p>
            </p:txBody>
          </p:sp>
          <p:sp>
            <p:nvSpPr>
              <p:cNvPr id="63" name="Google Shape;68;p6"/>
              <p:cNvSpPr/>
              <p:nvPr/>
            </p:nvSpPr>
            <p:spPr>
              <a:xfrm>
                <a:off x="1256377" y="5978408"/>
                <a:ext cx="856914" cy="348035"/>
              </a:xfrm>
              <a:prstGeom prst="rect">
                <a:avLst/>
              </a:prstGeom>
              <a:solidFill>
                <a:srgbClr val="0000FF"/>
              </a:solidFill>
              <a:ln>
                <a:noFill/>
              </a:ln>
            </p:spPr>
            <p:txBody>
              <a:bodyPr spcFirstLastPara="1" wrap="square" lIns="45720" tIns="18288" rIns="0" bIns="18288" anchor="ctr" anchorCtr="0">
                <a:noAutofit/>
              </a:bodyPr>
              <a:lstStyle/>
              <a:p>
                <a:pPr lvl="0">
                  <a:lnSpc>
                    <a:spcPct val="110000"/>
                  </a:lnSpc>
                </a:pPr>
                <a:r>
                  <a:rPr lang="en-US" sz="679" dirty="0">
                    <a:solidFill>
                      <a:schemeClr val="bg1"/>
                    </a:solidFill>
                    <a:latin typeface="Open Sans"/>
                    <a:ea typeface="Open Sans"/>
                    <a:cs typeface="Open Sans"/>
                    <a:sym typeface="Open Sans"/>
                  </a:rPr>
                  <a:t>0 / 0 / 255</a:t>
                </a:r>
              </a:p>
              <a:p>
                <a:pPr lvl="0">
                  <a:lnSpc>
                    <a:spcPct val="110000"/>
                  </a:lnSpc>
                </a:pPr>
                <a:r>
                  <a:rPr lang="en-US" sz="679" dirty="0">
                    <a:solidFill>
                      <a:schemeClr val="bg1"/>
                    </a:solidFill>
                    <a:latin typeface="Open Sans"/>
                    <a:ea typeface="Open Sans"/>
                    <a:cs typeface="Open Sans"/>
                    <a:sym typeface="Open Sans"/>
                  </a:rPr>
                  <a:t>#0000FF</a:t>
                </a:r>
                <a:endParaRPr sz="679" dirty="0">
                  <a:solidFill>
                    <a:schemeClr val="bg1"/>
                  </a:solidFill>
                  <a:latin typeface="Open Sans"/>
                  <a:ea typeface="Open Sans"/>
                  <a:cs typeface="Open Sans"/>
                  <a:sym typeface="Open Sans"/>
                </a:endParaRPr>
              </a:p>
            </p:txBody>
          </p:sp>
        </p:grpSp>
      </p:grpSp>
    </p:spTree>
    <p:extLst>
      <p:ext uri="{BB962C8B-B14F-4D97-AF65-F5344CB8AC3E}">
        <p14:creationId xmlns:p14="http://schemas.microsoft.com/office/powerpoint/2010/main" val="28952527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Content_3">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ADC5A05-28E5-40BF-B7DE-3875FBC895AC}"/>
              </a:ext>
            </a:extLst>
          </p:cNvPr>
          <p:cNvSpPr/>
          <p:nvPr userDrawn="1"/>
        </p:nvSpPr>
        <p:spPr>
          <a:xfrm>
            <a:off x="0" y="0"/>
            <a:ext cx="3881146" cy="7772400"/>
          </a:xfrm>
          <a:prstGeom prst="rect">
            <a:avLst/>
          </a:prstGeom>
          <a:solidFill>
            <a:srgbClr val="F6F7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1528" dirty="0"/>
          </a:p>
        </p:txBody>
      </p:sp>
      <p:sp>
        <p:nvSpPr>
          <p:cNvPr id="5" name="Rectangle 4">
            <a:extLst>
              <a:ext uri="{FF2B5EF4-FFF2-40B4-BE49-F238E27FC236}">
                <a16:creationId xmlns:a16="http://schemas.microsoft.com/office/drawing/2014/main" id="{454BF816-A9B5-431A-AE62-EF33C9965A3C}"/>
              </a:ext>
            </a:extLst>
          </p:cNvPr>
          <p:cNvSpPr/>
          <p:nvPr userDrawn="1"/>
        </p:nvSpPr>
        <p:spPr>
          <a:xfrm>
            <a:off x="0" y="0"/>
            <a:ext cx="10363201" cy="155448"/>
          </a:xfrm>
          <a:prstGeom prst="rect">
            <a:avLst/>
          </a:prstGeom>
          <a:solidFill>
            <a:srgbClr val="001691"/>
          </a:soli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1528" dirty="0">
              <a:solidFill>
                <a:srgbClr val="001691"/>
              </a:solidFill>
            </a:endParaRPr>
          </a:p>
        </p:txBody>
      </p:sp>
      <p:pic>
        <p:nvPicPr>
          <p:cNvPr id="6" name="Picture 5">
            <a:extLst>
              <a:ext uri="{FF2B5EF4-FFF2-40B4-BE49-F238E27FC236}">
                <a16:creationId xmlns:a16="http://schemas.microsoft.com/office/drawing/2014/main" id="{271F2754-11D4-4E25-B031-0565345A5C7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169207" y="7303389"/>
            <a:ext cx="875176" cy="233684"/>
          </a:xfrm>
          <a:prstGeom prst="rect">
            <a:avLst/>
          </a:prstGeom>
        </p:spPr>
      </p:pic>
      <p:grpSp>
        <p:nvGrpSpPr>
          <p:cNvPr id="20" name="Group 19"/>
          <p:cNvGrpSpPr/>
          <p:nvPr userDrawn="1"/>
        </p:nvGrpSpPr>
        <p:grpSpPr>
          <a:xfrm>
            <a:off x="10846894" y="496761"/>
            <a:ext cx="975741" cy="6372141"/>
            <a:chOff x="1294050" y="834228"/>
            <a:chExt cx="1149425" cy="5622477"/>
          </a:xfrm>
        </p:grpSpPr>
        <p:sp>
          <p:nvSpPr>
            <p:cNvPr id="36" name="Google Shape;57;p6"/>
            <p:cNvSpPr/>
            <p:nvPr/>
          </p:nvSpPr>
          <p:spPr>
            <a:xfrm>
              <a:off x="1294050" y="834228"/>
              <a:ext cx="1149425" cy="502920"/>
            </a:xfrm>
            <a:prstGeom prst="rect">
              <a:avLst/>
            </a:prstGeom>
            <a:solidFill>
              <a:srgbClr val="001691"/>
            </a:solidFill>
            <a:ln>
              <a:noFill/>
            </a:ln>
          </p:spPr>
          <p:txBody>
            <a:bodyPr spcFirstLastPara="1" wrap="square" lIns="73152" tIns="9144" rIns="0" bIns="9144" anchor="ctr" anchorCtr="0">
              <a:noAutofit/>
            </a:bodyPr>
            <a:lstStyle/>
            <a:p>
              <a:pPr marL="0" marR="0" lvl="0" indent="0" algn="l" rtl="0">
                <a:spcBef>
                  <a:spcPts val="0"/>
                </a:spcBef>
                <a:spcAft>
                  <a:spcPts val="0"/>
                </a:spcAft>
                <a:buNone/>
              </a:pPr>
              <a:r>
                <a:rPr lang="en-US" sz="764" dirty="0">
                  <a:solidFill>
                    <a:schemeClr val="lt1"/>
                  </a:solidFill>
                  <a:latin typeface="Open Sans"/>
                  <a:ea typeface="Open Sans"/>
                  <a:cs typeface="Open Sans"/>
                  <a:sym typeface="Open Sans"/>
                </a:rPr>
                <a:t>0 / 22 / 145</a:t>
              </a:r>
              <a:endParaRPr sz="764" dirty="0"/>
            </a:p>
            <a:p>
              <a:pPr marL="0" marR="0" lvl="0" indent="0" algn="l" rtl="0">
                <a:spcBef>
                  <a:spcPts val="0"/>
                </a:spcBef>
                <a:spcAft>
                  <a:spcPts val="0"/>
                </a:spcAft>
                <a:buNone/>
              </a:pPr>
              <a:r>
                <a:rPr lang="en-US" sz="764" dirty="0">
                  <a:solidFill>
                    <a:schemeClr val="lt1"/>
                  </a:solidFill>
                  <a:latin typeface="Open Sans"/>
                  <a:ea typeface="Open Sans"/>
                  <a:cs typeface="Open Sans"/>
                  <a:sym typeface="Open Sans"/>
                </a:rPr>
                <a:t>#001691</a:t>
              </a:r>
              <a:endParaRPr sz="764" dirty="0"/>
            </a:p>
            <a:p>
              <a:pPr marL="0" marR="0" lvl="0" indent="0" algn="l" rtl="0">
                <a:spcBef>
                  <a:spcPts val="0"/>
                </a:spcBef>
                <a:spcAft>
                  <a:spcPts val="0"/>
                </a:spcAft>
                <a:buNone/>
              </a:pPr>
              <a:r>
                <a:rPr lang="en-US" sz="764" b="1" dirty="0">
                  <a:solidFill>
                    <a:schemeClr val="lt1"/>
                  </a:solidFill>
                  <a:latin typeface="Open Sans"/>
                  <a:ea typeface="Open Sans"/>
                  <a:cs typeface="Open Sans"/>
                  <a:sym typeface="Open Sans"/>
                </a:rPr>
                <a:t>Magaya Blue</a:t>
              </a:r>
              <a:endParaRPr sz="764" b="1" dirty="0">
                <a:solidFill>
                  <a:schemeClr val="lt1"/>
                </a:solidFill>
                <a:latin typeface="Open Sans"/>
                <a:ea typeface="Open Sans"/>
                <a:cs typeface="Open Sans"/>
                <a:sym typeface="Open Sans"/>
              </a:endParaRPr>
            </a:p>
          </p:txBody>
        </p:sp>
        <p:sp>
          <p:nvSpPr>
            <p:cNvPr id="37" name="Google Shape;58;p6"/>
            <p:cNvSpPr/>
            <p:nvPr/>
          </p:nvSpPr>
          <p:spPr>
            <a:xfrm>
              <a:off x="1294050" y="1867932"/>
              <a:ext cx="1149425" cy="502920"/>
            </a:xfrm>
            <a:prstGeom prst="rect">
              <a:avLst/>
            </a:prstGeom>
            <a:solidFill>
              <a:srgbClr val="01166D"/>
            </a:solidFill>
            <a:ln>
              <a:noFill/>
            </a:ln>
          </p:spPr>
          <p:txBody>
            <a:bodyPr spcFirstLastPara="1" wrap="square" lIns="73152" tIns="9144" rIns="0" bIns="9144" anchor="ctr" anchorCtr="0">
              <a:noAutofit/>
            </a:bodyPr>
            <a:lstStyle/>
            <a:p>
              <a:pPr marL="0" marR="0" lvl="0" indent="0" algn="l" rtl="0">
                <a:spcBef>
                  <a:spcPts val="0"/>
                </a:spcBef>
                <a:spcAft>
                  <a:spcPts val="0"/>
                </a:spcAft>
                <a:buNone/>
              </a:pPr>
              <a:r>
                <a:rPr lang="en-US" sz="764" dirty="0">
                  <a:solidFill>
                    <a:schemeClr val="lt1"/>
                  </a:solidFill>
                  <a:latin typeface="Open Sans"/>
                  <a:ea typeface="Open Sans"/>
                  <a:cs typeface="Open Sans"/>
                  <a:sym typeface="Open Sans"/>
                </a:rPr>
                <a:t>1 / 22 / 109</a:t>
              </a:r>
              <a:endParaRPr sz="764" dirty="0"/>
            </a:p>
            <a:p>
              <a:pPr marL="0" marR="0" lvl="0" indent="0" algn="l" rtl="0">
                <a:spcBef>
                  <a:spcPts val="0"/>
                </a:spcBef>
                <a:spcAft>
                  <a:spcPts val="0"/>
                </a:spcAft>
                <a:buNone/>
              </a:pPr>
              <a:r>
                <a:rPr lang="en-US" sz="764" dirty="0">
                  <a:solidFill>
                    <a:schemeClr val="lt1"/>
                  </a:solidFill>
                  <a:latin typeface="Open Sans"/>
                  <a:ea typeface="Open Sans"/>
                  <a:cs typeface="Open Sans"/>
                  <a:sym typeface="Open Sans"/>
                </a:rPr>
                <a:t>#01166d</a:t>
              </a:r>
            </a:p>
            <a:p>
              <a:r>
                <a:rPr lang="en-US" sz="764" dirty="0">
                  <a:solidFill>
                    <a:schemeClr val="lt1"/>
                  </a:solidFill>
                  <a:latin typeface="Open Sans"/>
                  <a:ea typeface="Open Sans"/>
                  <a:cs typeface="Open Sans"/>
                  <a:sym typeface="Open Sans"/>
                </a:rPr>
                <a:t>Deep Blue</a:t>
              </a:r>
            </a:p>
          </p:txBody>
        </p:sp>
        <p:sp>
          <p:nvSpPr>
            <p:cNvPr id="38" name="Google Shape;59;p6"/>
            <p:cNvSpPr/>
            <p:nvPr/>
          </p:nvSpPr>
          <p:spPr>
            <a:xfrm>
              <a:off x="1294050" y="2386224"/>
              <a:ext cx="1149425" cy="502920"/>
            </a:xfrm>
            <a:prstGeom prst="rect">
              <a:avLst/>
            </a:prstGeom>
            <a:solidFill>
              <a:srgbClr val="142159"/>
            </a:solidFill>
            <a:ln>
              <a:noFill/>
            </a:ln>
          </p:spPr>
          <p:txBody>
            <a:bodyPr spcFirstLastPara="1" wrap="square" lIns="73152" tIns="9144" rIns="0" bIns="9144" anchor="ctr" anchorCtr="0">
              <a:noAutofit/>
            </a:bodyPr>
            <a:lstStyle/>
            <a:p>
              <a:pPr marL="0" marR="0" lvl="0" indent="0" algn="l" rtl="0">
                <a:spcBef>
                  <a:spcPts val="0"/>
                </a:spcBef>
                <a:spcAft>
                  <a:spcPts val="0"/>
                </a:spcAft>
                <a:buNone/>
              </a:pPr>
              <a:r>
                <a:rPr lang="en-US" sz="764" dirty="0">
                  <a:solidFill>
                    <a:schemeClr val="lt1"/>
                  </a:solidFill>
                  <a:latin typeface="Open Sans"/>
                  <a:ea typeface="Open Sans"/>
                  <a:cs typeface="Open Sans"/>
                  <a:sym typeface="Open Sans"/>
                </a:rPr>
                <a:t>20 / 33 / 89</a:t>
              </a:r>
              <a:endParaRPr sz="764" dirty="0"/>
            </a:p>
            <a:p>
              <a:pPr marL="0" marR="0" lvl="0" indent="0" algn="l" rtl="0">
                <a:spcBef>
                  <a:spcPts val="0"/>
                </a:spcBef>
                <a:spcAft>
                  <a:spcPts val="0"/>
                </a:spcAft>
                <a:buNone/>
              </a:pPr>
              <a:r>
                <a:rPr lang="en-US" sz="764" dirty="0">
                  <a:solidFill>
                    <a:schemeClr val="lt1"/>
                  </a:solidFill>
                  <a:latin typeface="Open Sans"/>
                  <a:ea typeface="Open Sans"/>
                  <a:cs typeface="Open Sans"/>
                  <a:sym typeface="Open Sans"/>
                </a:rPr>
                <a:t>#142159</a:t>
              </a:r>
            </a:p>
            <a:p>
              <a:r>
                <a:rPr lang="en-US" sz="764" dirty="0">
                  <a:solidFill>
                    <a:schemeClr val="lt1"/>
                  </a:solidFill>
                  <a:latin typeface="Open Sans"/>
                  <a:ea typeface="Open Sans"/>
                  <a:cs typeface="Open Sans"/>
                  <a:sym typeface="Open Sans"/>
                </a:rPr>
                <a:t>Dark Blue</a:t>
              </a:r>
            </a:p>
          </p:txBody>
        </p:sp>
        <p:sp>
          <p:nvSpPr>
            <p:cNvPr id="39" name="Google Shape;61;p6"/>
            <p:cNvSpPr/>
            <p:nvPr/>
          </p:nvSpPr>
          <p:spPr>
            <a:xfrm>
              <a:off x="1294050" y="3939395"/>
              <a:ext cx="1149425" cy="502920"/>
            </a:xfrm>
            <a:prstGeom prst="rect">
              <a:avLst/>
            </a:prstGeom>
            <a:solidFill>
              <a:srgbClr val="F6F7FE"/>
            </a:solidFill>
            <a:ln>
              <a:noFill/>
            </a:ln>
          </p:spPr>
          <p:txBody>
            <a:bodyPr spcFirstLastPara="1" wrap="square" lIns="73152" tIns="9144" rIns="0" bIns="9144" anchor="ctr" anchorCtr="0">
              <a:noAutofit/>
            </a:bodyPr>
            <a:lstStyle/>
            <a:p>
              <a:pPr lvl="0"/>
              <a:r>
                <a:rPr lang="en-US" sz="764" dirty="0">
                  <a:solidFill>
                    <a:schemeClr val="dk1"/>
                  </a:solidFill>
                  <a:latin typeface="Open Sans"/>
                  <a:ea typeface="Open Sans"/>
                  <a:cs typeface="Open Sans"/>
                  <a:sym typeface="Open Sans"/>
                </a:rPr>
                <a:t>246 / 247 / 254</a:t>
              </a:r>
            </a:p>
            <a:p>
              <a:pPr lvl="0"/>
              <a:r>
                <a:rPr lang="en-US" sz="764" dirty="0">
                  <a:solidFill>
                    <a:schemeClr val="dk1"/>
                  </a:solidFill>
                  <a:latin typeface="Open Sans"/>
                  <a:ea typeface="Open Sans"/>
                  <a:cs typeface="Open Sans"/>
                  <a:sym typeface="Open Sans"/>
                </a:rPr>
                <a:t>#F6F7FE</a:t>
              </a:r>
            </a:p>
            <a:p>
              <a:pPr lvl="0"/>
              <a:r>
                <a:rPr lang="en-US" sz="764" dirty="0">
                  <a:solidFill>
                    <a:schemeClr val="dk1"/>
                  </a:solidFill>
                  <a:latin typeface="Open Sans"/>
                  <a:ea typeface="Open Sans"/>
                  <a:cs typeface="Open Sans"/>
                  <a:sym typeface="Open Sans"/>
                </a:rPr>
                <a:t>Light Grey</a:t>
              </a:r>
              <a:endParaRPr sz="764" dirty="0">
                <a:solidFill>
                  <a:schemeClr val="dk1"/>
                </a:solidFill>
                <a:latin typeface="Open Sans"/>
                <a:ea typeface="Open Sans"/>
                <a:cs typeface="Open Sans"/>
                <a:sym typeface="Open Sans"/>
              </a:endParaRPr>
            </a:p>
          </p:txBody>
        </p:sp>
        <p:sp>
          <p:nvSpPr>
            <p:cNvPr id="40" name="Google Shape;62;p6"/>
            <p:cNvSpPr/>
            <p:nvPr/>
          </p:nvSpPr>
          <p:spPr>
            <a:xfrm>
              <a:off x="1294050" y="2903295"/>
              <a:ext cx="1149425" cy="502920"/>
            </a:xfrm>
            <a:prstGeom prst="rect">
              <a:avLst/>
            </a:prstGeom>
            <a:solidFill>
              <a:srgbClr val="6B7489"/>
            </a:solidFill>
            <a:ln>
              <a:noFill/>
            </a:ln>
          </p:spPr>
          <p:txBody>
            <a:bodyPr spcFirstLastPara="1" wrap="square" lIns="73152" tIns="9144" rIns="0" bIns="9144" anchor="ctr" anchorCtr="0">
              <a:noAutofit/>
            </a:bodyPr>
            <a:lstStyle/>
            <a:p>
              <a:pPr marL="0" marR="0" lvl="0" indent="0" algn="l" rtl="0">
                <a:spcBef>
                  <a:spcPts val="0"/>
                </a:spcBef>
                <a:spcAft>
                  <a:spcPts val="0"/>
                </a:spcAft>
                <a:buNone/>
              </a:pPr>
              <a:r>
                <a:rPr lang="en-US" sz="764" dirty="0">
                  <a:solidFill>
                    <a:schemeClr val="lt1"/>
                  </a:solidFill>
                  <a:latin typeface="Open Sans"/>
                  <a:ea typeface="Open Sans"/>
                  <a:cs typeface="Open Sans"/>
                  <a:sym typeface="Open Sans"/>
                </a:rPr>
                <a:t>107 / 116 / 137</a:t>
              </a:r>
              <a:endParaRPr sz="764" dirty="0"/>
            </a:p>
            <a:p>
              <a:pPr marL="0" marR="0" lvl="0" indent="0" algn="l" rtl="0">
                <a:spcBef>
                  <a:spcPts val="0"/>
                </a:spcBef>
                <a:spcAft>
                  <a:spcPts val="0"/>
                </a:spcAft>
                <a:buNone/>
              </a:pPr>
              <a:r>
                <a:rPr lang="en-US" sz="764" dirty="0">
                  <a:solidFill>
                    <a:schemeClr val="lt1"/>
                  </a:solidFill>
                  <a:latin typeface="Open Sans"/>
                  <a:ea typeface="Open Sans"/>
                  <a:cs typeface="Open Sans"/>
                  <a:sym typeface="Open Sans"/>
                </a:rPr>
                <a:t>#6B7489</a:t>
              </a:r>
              <a:endParaRPr sz="764" dirty="0"/>
            </a:p>
            <a:p>
              <a:pPr marL="0" marR="0" lvl="0" indent="0" algn="l" rtl="0">
                <a:spcBef>
                  <a:spcPts val="0"/>
                </a:spcBef>
                <a:spcAft>
                  <a:spcPts val="0"/>
                </a:spcAft>
                <a:buNone/>
              </a:pPr>
              <a:r>
                <a:rPr lang="en-US" sz="764" b="1" dirty="0">
                  <a:solidFill>
                    <a:schemeClr val="lt1"/>
                  </a:solidFill>
                  <a:latin typeface="Open Sans"/>
                  <a:ea typeface="Open Sans"/>
                  <a:cs typeface="Open Sans"/>
                  <a:sym typeface="Open Sans"/>
                </a:rPr>
                <a:t>Magaya Grey</a:t>
              </a:r>
              <a:endParaRPr sz="764" b="1" dirty="0">
                <a:solidFill>
                  <a:schemeClr val="lt1"/>
                </a:solidFill>
                <a:latin typeface="Open Sans"/>
                <a:ea typeface="Open Sans"/>
                <a:cs typeface="Open Sans"/>
                <a:sym typeface="Open Sans"/>
              </a:endParaRPr>
            </a:p>
          </p:txBody>
        </p:sp>
        <p:sp>
          <p:nvSpPr>
            <p:cNvPr id="41" name="Google Shape;63;p6"/>
            <p:cNvSpPr/>
            <p:nvPr/>
          </p:nvSpPr>
          <p:spPr>
            <a:xfrm>
              <a:off x="1294050" y="3420367"/>
              <a:ext cx="1149425" cy="502920"/>
            </a:xfrm>
            <a:prstGeom prst="rect">
              <a:avLst/>
            </a:prstGeom>
            <a:solidFill>
              <a:srgbClr val="383B48"/>
            </a:solidFill>
            <a:ln>
              <a:noFill/>
            </a:ln>
          </p:spPr>
          <p:txBody>
            <a:bodyPr spcFirstLastPara="1" wrap="square" lIns="73152" tIns="9144" rIns="0" bIns="9144" anchor="ctr" anchorCtr="0">
              <a:noAutofit/>
            </a:bodyPr>
            <a:lstStyle/>
            <a:p>
              <a:pPr marL="0" marR="0" lvl="0" indent="0" algn="l" rtl="0">
                <a:spcBef>
                  <a:spcPts val="0"/>
                </a:spcBef>
                <a:spcAft>
                  <a:spcPts val="0"/>
                </a:spcAft>
                <a:buNone/>
              </a:pPr>
              <a:r>
                <a:rPr lang="en-US" sz="764" dirty="0">
                  <a:solidFill>
                    <a:schemeClr val="lt1"/>
                  </a:solidFill>
                  <a:latin typeface="Open Sans"/>
                  <a:ea typeface="Open Sans"/>
                  <a:cs typeface="Open Sans"/>
                  <a:sym typeface="Open Sans"/>
                </a:rPr>
                <a:t>56 / 59 / 72</a:t>
              </a:r>
              <a:endParaRPr sz="764" dirty="0"/>
            </a:p>
            <a:p>
              <a:pPr marL="0" marR="0" lvl="0" indent="0" algn="l" rtl="0">
                <a:lnSpc>
                  <a:spcPct val="100000"/>
                </a:lnSpc>
                <a:spcBef>
                  <a:spcPts val="0"/>
                </a:spcBef>
                <a:spcAft>
                  <a:spcPts val="0"/>
                </a:spcAft>
                <a:buClr>
                  <a:schemeClr val="lt1"/>
                </a:buClr>
                <a:buSzPts val="850"/>
                <a:buFont typeface="Open Sans"/>
                <a:buNone/>
              </a:pPr>
              <a:r>
                <a:rPr lang="en-US" sz="764" dirty="0">
                  <a:solidFill>
                    <a:schemeClr val="lt1"/>
                  </a:solidFill>
                  <a:latin typeface="Open Sans"/>
                  <a:ea typeface="Open Sans"/>
                  <a:cs typeface="Open Sans"/>
                  <a:sym typeface="Open Sans"/>
                </a:rPr>
                <a:t>#383B48</a:t>
              </a:r>
              <a:br>
                <a:rPr lang="en-US" sz="764" dirty="0">
                  <a:solidFill>
                    <a:schemeClr val="lt1"/>
                  </a:solidFill>
                  <a:latin typeface="Open Sans"/>
                  <a:ea typeface="Open Sans"/>
                  <a:cs typeface="Open Sans"/>
                  <a:sym typeface="Open Sans"/>
                </a:rPr>
              </a:br>
              <a:r>
                <a:rPr lang="en-US" sz="764" dirty="0">
                  <a:solidFill>
                    <a:schemeClr val="lt1"/>
                  </a:solidFill>
                  <a:latin typeface="Open Sans"/>
                  <a:ea typeface="Open Sans"/>
                  <a:cs typeface="Open Sans"/>
                  <a:sym typeface="Open Sans"/>
                </a:rPr>
                <a:t>Dark Grey</a:t>
              </a:r>
              <a:endParaRPr sz="764" dirty="0">
                <a:solidFill>
                  <a:schemeClr val="lt1"/>
                </a:solidFill>
                <a:latin typeface="Open Sans"/>
                <a:ea typeface="Open Sans"/>
                <a:cs typeface="Open Sans"/>
                <a:sym typeface="Open Sans"/>
              </a:endParaRPr>
            </a:p>
          </p:txBody>
        </p:sp>
        <p:sp>
          <p:nvSpPr>
            <p:cNvPr id="42" name="Google Shape;60;p6"/>
            <p:cNvSpPr/>
            <p:nvPr/>
          </p:nvSpPr>
          <p:spPr>
            <a:xfrm>
              <a:off x="1294050" y="1344866"/>
              <a:ext cx="1149425" cy="502920"/>
            </a:xfrm>
            <a:prstGeom prst="rect">
              <a:avLst/>
            </a:prstGeom>
            <a:solidFill>
              <a:srgbClr val="09A1FF"/>
            </a:solidFill>
            <a:ln>
              <a:noFill/>
            </a:ln>
          </p:spPr>
          <p:txBody>
            <a:bodyPr spcFirstLastPara="1" wrap="square" lIns="73152" tIns="9144" rIns="0" bIns="9144" anchor="ctr" anchorCtr="0">
              <a:noAutofit/>
            </a:bodyPr>
            <a:lstStyle/>
            <a:p>
              <a:pPr marL="0" marR="0" lvl="0" indent="0" algn="l" rtl="0">
                <a:spcBef>
                  <a:spcPts val="0"/>
                </a:spcBef>
                <a:spcAft>
                  <a:spcPts val="0"/>
                </a:spcAft>
                <a:buNone/>
              </a:pPr>
              <a:r>
                <a:rPr lang="en-US" sz="764" dirty="0">
                  <a:solidFill>
                    <a:schemeClr val="lt1"/>
                  </a:solidFill>
                  <a:latin typeface="Open Sans"/>
                  <a:ea typeface="Open Sans"/>
                  <a:cs typeface="Open Sans"/>
                  <a:sym typeface="Open Sans"/>
                </a:rPr>
                <a:t>9 / 161 / 255</a:t>
              </a:r>
              <a:endParaRPr sz="764" dirty="0"/>
            </a:p>
            <a:p>
              <a:pPr marL="0" marR="0" lvl="0" indent="0" algn="l" rtl="0">
                <a:lnSpc>
                  <a:spcPct val="100000"/>
                </a:lnSpc>
                <a:spcBef>
                  <a:spcPts val="0"/>
                </a:spcBef>
                <a:spcAft>
                  <a:spcPts val="0"/>
                </a:spcAft>
                <a:buClr>
                  <a:schemeClr val="lt1"/>
                </a:buClr>
                <a:buSzPts val="850"/>
                <a:buFont typeface="Open Sans"/>
                <a:buNone/>
              </a:pPr>
              <a:r>
                <a:rPr lang="en-US" sz="764" dirty="0">
                  <a:solidFill>
                    <a:schemeClr val="lt1"/>
                  </a:solidFill>
                  <a:latin typeface="Open Sans"/>
                  <a:ea typeface="Open Sans"/>
                  <a:cs typeface="Open Sans"/>
                  <a:sym typeface="Open Sans"/>
                </a:rPr>
                <a:t>#09A1FF</a:t>
              </a:r>
            </a:p>
            <a:p>
              <a:pPr marL="0" marR="0" lvl="0" indent="0" algn="l" rtl="0">
                <a:lnSpc>
                  <a:spcPct val="100000"/>
                </a:lnSpc>
                <a:spcBef>
                  <a:spcPts val="0"/>
                </a:spcBef>
                <a:spcAft>
                  <a:spcPts val="0"/>
                </a:spcAft>
                <a:buClr>
                  <a:schemeClr val="lt1"/>
                </a:buClr>
                <a:buSzPts val="850"/>
                <a:buFont typeface="Open Sans"/>
                <a:buNone/>
              </a:pPr>
              <a:r>
                <a:rPr lang="en-US" sz="764" dirty="0">
                  <a:solidFill>
                    <a:schemeClr val="bg1"/>
                  </a:solidFill>
                  <a:latin typeface="Open Sans"/>
                  <a:ea typeface="Open Sans"/>
                  <a:cs typeface="Open Sans"/>
                  <a:sym typeface="Open Sans"/>
                </a:rPr>
                <a:t>Light Magaya Blue</a:t>
              </a:r>
              <a:endParaRPr sz="764" dirty="0">
                <a:solidFill>
                  <a:schemeClr val="bg1"/>
                </a:solidFill>
                <a:latin typeface="Open Sans"/>
                <a:ea typeface="Open Sans"/>
                <a:cs typeface="Open Sans"/>
                <a:sym typeface="Open Sans"/>
              </a:endParaRPr>
            </a:p>
          </p:txBody>
        </p:sp>
        <p:grpSp>
          <p:nvGrpSpPr>
            <p:cNvPr id="43" name="Group 42"/>
            <p:cNvGrpSpPr/>
            <p:nvPr/>
          </p:nvGrpSpPr>
          <p:grpSpPr>
            <a:xfrm>
              <a:off x="1301793" y="4463313"/>
              <a:ext cx="1135747" cy="1993392"/>
              <a:chOff x="1116961" y="4404945"/>
              <a:chExt cx="1135747" cy="1993392"/>
            </a:xfrm>
          </p:grpSpPr>
          <p:sp>
            <p:nvSpPr>
              <p:cNvPr id="44" name="Google Shape;65;p6"/>
              <p:cNvSpPr/>
              <p:nvPr/>
            </p:nvSpPr>
            <p:spPr>
              <a:xfrm>
                <a:off x="1116961" y="4404945"/>
                <a:ext cx="1135747" cy="1993392"/>
              </a:xfrm>
              <a:prstGeom prst="rect">
                <a:avLst/>
              </a:prstGeom>
              <a:noFill/>
              <a:ln w="9525" cap="flat" cmpd="sng">
                <a:solidFill>
                  <a:srgbClr val="BFBFB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623" dirty="0">
                  <a:solidFill>
                    <a:schemeClr val="lt1"/>
                  </a:solidFill>
                  <a:latin typeface="Calibri"/>
                  <a:ea typeface="Calibri"/>
                  <a:cs typeface="Calibri"/>
                  <a:sym typeface="Calibri"/>
                </a:endParaRPr>
              </a:p>
            </p:txBody>
          </p:sp>
          <p:sp>
            <p:nvSpPr>
              <p:cNvPr id="45" name="Google Shape;66;p6"/>
              <p:cNvSpPr/>
              <p:nvPr/>
            </p:nvSpPr>
            <p:spPr>
              <a:xfrm>
                <a:off x="1116961" y="4448781"/>
                <a:ext cx="1135747" cy="428824"/>
              </a:xfrm>
              <a:prstGeom prst="rect">
                <a:avLst/>
              </a:prstGeom>
              <a:noFill/>
              <a:ln>
                <a:noFill/>
              </a:ln>
            </p:spPr>
            <p:txBody>
              <a:bodyPr spcFirstLastPara="1" wrap="square" lIns="0" tIns="18288" rIns="0" bIns="18288" anchor="t" anchorCtr="0">
                <a:noAutofit/>
              </a:bodyPr>
              <a:lstStyle/>
              <a:p>
                <a:pPr marL="0" marR="0" lvl="0" indent="0" algn="ctr" rtl="0">
                  <a:spcBef>
                    <a:spcPts val="0"/>
                  </a:spcBef>
                  <a:spcAft>
                    <a:spcPts val="0"/>
                  </a:spcAft>
                  <a:buNone/>
                </a:pPr>
                <a:r>
                  <a:rPr lang="en-US" sz="764" b="1" dirty="0">
                    <a:solidFill>
                      <a:schemeClr val="dk1"/>
                    </a:solidFill>
                    <a:latin typeface="Open Sans"/>
                    <a:ea typeface="Open Sans"/>
                    <a:cs typeface="Open Sans"/>
                    <a:sym typeface="Open Sans"/>
                  </a:rPr>
                  <a:t>Accent Colors</a:t>
                </a:r>
              </a:p>
              <a:p>
                <a:pPr marL="0" marR="0" lvl="0" indent="0" algn="ctr" rtl="0">
                  <a:spcBef>
                    <a:spcPts val="0"/>
                  </a:spcBef>
                  <a:spcAft>
                    <a:spcPts val="0"/>
                  </a:spcAft>
                  <a:buNone/>
                </a:pPr>
                <a:r>
                  <a:rPr lang="en-US" sz="594" dirty="0">
                    <a:solidFill>
                      <a:schemeClr val="dk1"/>
                    </a:solidFill>
                    <a:latin typeface="Open Sans"/>
                    <a:ea typeface="Open Sans"/>
                    <a:cs typeface="Open Sans"/>
                    <a:sym typeface="Open Sans"/>
                  </a:rPr>
                  <a:t>Marketing Use for </a:t>
                </a:r>
                <a:endParaRPr sz="594" dirty="0"/>
              </a:p>
              <a:p>
                <a:pPr marL="0" marR="0" lvl="0" indent="0" algn="ctr" rtl="0">
                  <a:spcBef>
                    <a:spcPts val="0"/>
                  </a:spcBef>
                  <a:spcAft>
                    <a:spcPts val="0"/>
                  </a:spcAft>
                  <a:buNone/>
                </a:pPr>
                <a:r>
                  <a:rPr lang="en-US" sz="594" dirty="0">
                    <a:solidFill>
                      <a:schemeClr val="dk1"/>
                    </a:solidFill>
                    <a:latin typeface="Open Sans"/>
                    <a:ea typeface="Open Sans"/>
                    <a:cs typeface="Open Sans"/>
                    <a:sym typeface="Open Sans"/>
                  </a:rPr>
                  <a:t>Special Purposes Only</a:t>
                </a:r>
                <a:endParaRPr sz="594" dirty="0">
                  <a:solidFill>
                    <a:schemeClr val="dk1"/>
                  </a:solidFill>
                  <a:latin typeface="Open Sans"/>
                  <a:ea typeface="Open Sans"/>
                  <a:cs typeface="Open Sans"/>
                  <a:sym typeface="Open Sans"/>
                </a:endParaRPr>
              </a:p>
            </p:txBody>
          </p:sp>
          <p:sp>
            <p:nvSpPr>
              <p:cNvPr id="46" name="Google Shape;69;p6"/>
              <p:cNvSpPr/>
              <p:nvPr/>
            </p:nvSpPr>
            <p:spPr>
              <a:xfrm>
                <a:off x="1256377" y="4879016"/>
                <a:ext cx="856915" cy="356671"/>
              </a:xfrm>
              <a:prstGeom prst="rect">
                <a:avLst/>
              </a:prstGeom>
              <a:solidFill>
                <a:srgbClr val="FFC914"/>
              </a:solidFill>
              <a:ln>
                <a:noFill/>
              </a:ln>
            </p:spPr>
            <p:txBody>
              <a:bodyPr spcFirstLastPara="1" wrap="square" lIns="45720" tIns="18288" rIns="0" bIns="18288" anchor="ctr" anchorCtr="0">
                <a:noAutofit/>
              </a:bodyPr>
              <a:lstStyle/>
              <a:p>
                <a:pPr marL="0" marR="0" lvl="0" indent="0" algn="l" rtl="0">
                  <a:lnSpc>
                    <a:spcPct val="110000"/>
                  </a:lnSpc>
                  <a:spcBef>
                    <a:spcPts val="0"/>
                  </a:spcBef>
                  <a:spcAft>
                    <a:spcPts val="0"/>
                  </a:spcAft>
                  <a:buNone/>
                </a:pPr>
                <a:r>
                  <a:rPr lang="en-US" sz="679" dirty="0">
                    <a:solidFill>
                      <a:schemeClr val="dk1"/>
                    </a:solidFill>
                    <a:latin typeface="Open Sans"/>
                    <a:ea typeface="Open Sans"/>
                    <a:cs typeface="Open Sans"/>
                    <a:sym typeface="Open Sans"/>
                  </a:rPr>
                  <a:t>255 / 201 / 20</a:t>
                </a:r>
                <a:endParaRPr sz="679" dirty="0"/>
              </a:p>
              <a:p>
                <a:pPr marL="0" marR="0" lvl="0" indent="0" algn="l" rtl="0">
                  <a:lnSpc>
                    <a:spcPct val="110000"/>
                  </a:lnSpc>
                  <a:spcBef>
                    <a:spcPts val="0"/>
                  </a:spcBef>
                  <a:spcAft>
                    <a:spcPts val="0"/>
                  </a:spcAft>
                  <a:buNone/>
                </a:pPr>
                <a:r>
                  <a:rPr lang="en-US" sz="679" dirty="0">
                    <a:solidFill>
                      <a:schemeClr val="dk1"/>
                    </a:solidFill>
                    <a:latin typeface="Open Sans"/>
                    <a:ea typeface="Open Sans"/>
                    <a:cs typeface="Open Sans"/>
                    <a:sym typeface="Open Sans"/>
                  </a:rPr>
                  <a:t>#FFC914</a:t>
                </a:r>
                <a:endParaRPr sz="679" dirty="0">
                  <a:solidFill>
                    <a:schemeClr val="dk1"/>
                  </a:solidFill>
                  <a:latin typeface="Open Sans"/>
                  <a:ea typeface="Open Sans"/>
                  <a:cs typeface="Open Sans"/>
                  <a:sym typeface="Open Sans"/>
                </a:endParaRPr>
              </a:p>
            </p:txBody>
          </p:sp>
          <p:sp>
            <p:nvSpPr>
              <p:cNvPr id="47" name="Google Shape;68;p6"/>
              <p:cNvSpPr/>
              <p:nvPr/>
            </p:nvSpPr>
            <p:spPr>
              <a:xfrm>
                <a:off x="1256377" y="5612976"/>
                <a:ext cx="856914" cy="348035"/>
              </a:xfrm>
              <a:prstGeom prst="rect">
                <a:avLst/>
              </a:prstGeom>
              <a:solidFill>
                <a:srgbClr val="FD4B72"/>
              </a:solidFill>
              <a:ln>
                <a:noFill/>
              </a:ln>
            </p:spPr>
            <p:txBody>
              <a:bodyPr spcFirstLastPara="1" wrap="square" lIns="45720" tIns="18288" rIns="0" bIns="18288" anchor="ctr" anchorCtr="0">
                <a:noAutofit/>
              </a:bodyPr>
              <a:lstStyle/>
              <a:p>
                <a:pPr lvl="0">
                  <a:lnSpc>
                    <a:spcPct val="110000"/>
                  </a:lnSpc>
                </a:pPr>
                <a:r>
                  <a:rPr lang="en-US" sz="679" dirty="0">
                    <a:solidFill>
                      <a:schemeClr val="bg1"/>
                    </a:solidFill>
                    <a:latin typeface="Open Sans"/>
                    <a:ea typeface="Open Sans"/>
                    <a:cs typeface="Open Sans"/>
                    <a:sym typeface="Open Sans"/>
                  </a:rPr>
                  <a:t>253 / 75 / 114</a:t>
                </a:r>
              </a:p>
              <a:p>
                <a:pPr lvl="0">
                  <a:lnSpc>
                    <a:spcPct val="110000"/>
                  </a:lnSpc>
                </a:pPr>
                <a:r>
                  <a:rPr lang="en-US" sz="679" dirty="0">
                    <a:solidFill>
                      <a:schemeClr val="bg1"/>
                    </a:solidFill>
                    <a:latin typeface="Open Sans"/>
                    <a:ea typeface="Open Sans"/>
                    <a:cs typeface="Open Sans"/>
                    <a:sym typeface="Open Sans"/>
                  </a:rPr>
                  <a:t>#FD4B72</a:t>
                </a:r>
                <a:endParaRPr sz="679" dirty="0">
                  <a:solidFill>
                    <a:schemeClr val="bg1"/>
                  </a:solidFill>
                  <a:latin typeface="Open Sans"/>
                  <a:ea typeface="Open Sans"/>
                  <a:cs typeface="Open Sans"/>
                  <a:sym typeface="Open Sans"/>
                </a:endParaRPr>
              </a:p>
            </p:txBody>
          </p:sp>
          <p:sp>
            <p:nvSpPr>
              <p:cNvPr id="48" name="Google Shape;68;p6"/>
              <p:cNvSpPr/>
              <p:nvPr/>
            </p:nvSpPr>
            <p:spPr>
              <a:xfrm>
                <a:off x="1256377" y="5247423"/>
                <a:ext cx="856914" cy="348035"/>
              </a:xfrm>
              <a:prstGeom prst="rect">
                <a:avLst/>
              </a:prstGeom>
              <a:solidFill>
                <a:srgbClr val="17D76E"/>
              </a:solidFill>
              <a:ln>
                <a:noFill/>
              </a:ln>
            </p:spPr>
            <p:txBody>
              <a:bodyPr spcFirstLastPara="1" wrap="square" lIns="45720" tIns="18288" rIns="0" bIns="18288" anchor="ctr" anchorCtr="0">
                <a:noAutofit/>
              </a:bodyPr>
              <a:lstStyle/>
              <a:p>
                <a:pPr marL="0" marR="0" lvl="0" indent="0" algn="l" rtl="0">
                  <a:lnSpc>
                    <a:spcPct val="110000"/>
                  </a:lnSpc>
                  <a:spcBef>
                    <a:spcPts val="0"/>
                  </a:spcBef>
                  <a:spcAft>
                    <a:spcPts val="0"/>
                  </a:spcAft>
                  <a:buNone/>
                </a:pPr>
                <a:r>
                  <a:rPr lang="en-US" sz="679" dirty="0">
                    <a:solidFill>
                      <a:schemeClr val="dk1"/>
                    </a:solidFill>
                    <a:latin typeface="Open Sans"/>
                    <a:ea typeface="Open Sans"/>
                    <a:cs typeface="Open Sans"/>
                    <a:sym typeface="Open Sans"/>
                  </a:rPr>
                  <a:t>23 / 215 / 110</a:t>
                </a:r>
                <a:endParaRPr sz="679" dirty="0"/>
              </a:p>
              <a:p>
                <a:pPr marL="0" marR="0" lvl="0" indent="0" algn="l" rtl="0">
                  <a:lnSpc>
                    <a:spcPct val="110000"/>
                  </a:lnSpc>
                  <a:spcBef>
                    <a:spcPts val="0"/>
                  </a:spcBef>
                  <a:spcAft>
                    <a:spcPts val="0"/>
                  </a:spcAft>
                  <a:buNone/>
                </a:pPr>
                <a:r>
                  <a:rPr lang="en-US" sz="679" dirty="0">
                    <a:solidFill>
                      <a:schemeClr val="dk1"/>
                    </a:solidFill>
                    <a:latin typeface="Open Sans"/>
                    <a:ea typeface="Open Sans"/>
                    <a:cs typeface="Open Sans"/>
                    <a:sym typeface="Open Sans"/>
                  </a:rPr>
                  <a:t>#17D76E</a:t>
                </a:r>
                <a:endParaRPr sz="679" dirty="0">
                  <a:solidFill>
                    <a:schemeClr val="dk1"/>
                  </a:solidFill>
                  <a:latin typeface="Open Sans"/>
                  <a:ea typeface="Open Sans"/>
                  <a:cs typeface="Open Sans"/>
                  <a:sym typeface="Open Sans"/>
                </a:endParaRPr>
              </a:p>
            </p:txBody>
          </p:sp>
          <p:sp>
            <p:nvSpPr>
              <p:cNvPr id="49" name="Google Shape;68;p6"/>
              <p:cNvSpPr/>
              <p:nvPr/>
            </p:nvSpPr>
            <p:spPr>
              <a:xfrm>
                <a:off x="1256377" y="5978408"/>
                <a:ext cx="856914" cy="348035"/>
              </a:xfrm>
              <a:prstGeom prst="rect">
                <a:avLst/>
              </a:prstGeom>
              <a:solidFill>
                <a:srgbClr val="0000FF"/>
              </a:solidFill>
              <a:ln>
                <a:noFill/>
              </a:ln>
            </p:spPr>
            <p:txBody>
              <a:bodyPr spcFirstLastPara="1" wrap="square" lIns="45720" tIns="18288" rIns="0" bIns="18288" anchor="ctr" anchorCtr="0">
                <a:noAutofit/>
              </a:bodyPr>
              <a:lstStyle/>
              <a:p>
                <a:pPr lvl="0">
                  <a:lnSpc>
                    <a:spcPct val="110000"/>
                  </a:lnSpc>
                </a:pPr>
                <a:r>
                  <a:rPr lang="en-US" sz="679" dirty="0">
                    <a:solidFill>
                      <a:schemeClr val="bg1"/>
                    </a:solidFill>
                    <a:latin typeface="Open Sans"/>
                    <a:ea typeface="Open Sans"/>
                    <a:cs typeface="Open Sans"/>
                    <a:sym typeface="Open Sans"/>
                  </a:rPr>
                  <a:t>0 / 0 / 255</a:t>
                </a:r>
              </a:p>
              <a:p>
                <a:pPr lvl="0">
                  <a:lnSpc>
                    <a:spcPct val="110000"/>
                  </a:lnSpc>
                </a:pPr>
                <a:r>
                  <a:rPr lang="en-US" sz="679" dirty="0">
                    <a:solidFill>
                      <a:schemeClr val="bg1"/>
                    </a:solidFill>
                    <a:latin typeface="Open Sans"/>
                    <a:ea typeface="Open Sans"/>
                    <a:cs typeface="Open Sans"/>
                    <a:sym typeface="Open Sans"/>
                  </a:rPr>
                  <a:t>#0000FF</a:t>
                </a:r>
                <a:endParaRPr sz="679" dirty="0">
                  <a:solidFill>
                    <a:schemeClr val="bg1"/>
                  </a:solidFill>
                  <a:latin typeface="Open Sans"/>
                  <a:ea typeface="Open Sans"/>
                  <a:cs typeface="Open Sans"/>
                  <a:sym typeface="Open Sans"/>
                </a:endParaRPr>
              </a:p>
            </p:txBody>
          </p:sp>
        </p:grpSp>
      </p:grpSp>
    </p:spTree>
    <p:extLst>
      <p:ext uri="{BB962C8B-B14F-4D97-AF65-F5344CB8AC3E}">
        <p14:creationId xmlns:p14="http://schemas.microsoft.com/office/powerpoint/2010/main" val="18712598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Content_1 w/o Logo">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0C32007-5EA0-4269-8443-74B2CB2D92DC}"/>
              </a:ext>
            </a:extLst>
          </p:cNvPr>
          <p:cNvSpPr/>
          <p:nvPr userDrawn="1"/>
        </p:nvSpPr>
        <p:spPr>
          <a:xfrm>
            <a:off x="0" y="0"/>
            <a:ext cx="10363201" cy="155448"/>
          </a:xfrm>
          <a:prstGeom prst="rect">
            <a:avLst/>
          </a:prstGeom>
          <a:solidFill>
            <a:srgbClr val="001691"/>
          </a:soli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1528" dirty="0">
              <a:solidFill>
                <a:srgbClr val="001691"/>
              </a:solidFill>
            </a:endParaRPr>
          </a:p>
        </p:txBody>
      </p:sp>
      <p:grpSp>
        <p:nvGrpSpPr>
          <p:cNvPr id="48" name="Group 47"/>
          <p:cNvGrpSpPr/>
          <p:nvPr userDrawn="1"/>
        </p:nvGrpSpPr>
        <p:grpSpPr>
          <a:xfrm>
            <a:off x="10846894" y="496761"/>
            <a:ext cx="975741" cy="6372141"/>
            <a:chOff x="1294050" y="834228"/>
            <a:chExt cx="1149425" cy="5622477"/>
          </a:xfrm>
        </p:grpSpPr>
        <p:sp>
          <p:nvSpPr>
            <p:cNvPr id="49" name="Google Shape;57;p6"/>
            <p:cNvSpPr/>
            <p:nvPr/>
          </p:nvSpPr>
          <p:spPr>
            <a:xfrm>
              <a:off x="1294050" y="834228"/>
              <a:ext cx="1149425" cy="502920"/>
            </a:xfrm>
            <a:prstGeom prst="rect">
              <a:avLst/>
            </a:prstGeom>
            <a:solidFill>
              <a:srgbClr val="001691"/>
            </a:solidFill>
            <a:ln>
              <a:noFill/>
            </a:ln>
          </p:spPr>
          <p:txBody>
            <a:bodyPr spcFirstLastPara="1" wrap="square" lIns="73152" tIns="9144" rIns="0" bIns="9144" anchor="ctr" anchorCtr="0">
              <a:noAutofit/>
            </a:bodyPr>
            <a:lstStyle/>
            <a:p>
              <a:pPr marL="0" marR="0" lvl="0" indent="0" algn="l" rtl="0">
                <a:spcBef>
                  <a:spcPts val="0"/>
                </a:spcBef>
                <a:spcAft>
                  <a:spcPts val="0"/>
                </a:spcAft>
                <a:buNone/>
              </a:pPr>
              <a:r>
                <a:rPr lang="en-US" sz="764" dirty="0">
                  <a:solidFill>
                    <a:schemeClr val="lt1"/>
                  </a:solidFill>
                  <a:latin typeface="Open Sans"/>
                  <a:ea typeface="Open Sans"/>
                  <a:cs typeface="Open Sans"/>
                  <a:sym typeface="Open Sans"/>
                </a:rPr>
                <a:t>0 / 22 / 145</a:t>
              </a:r>
              <a:endParaRPr sz="764" dirty="0"/>
            </a:p>
            <a:p>
              <a:pPr marL="0" marR="0" lvl="0" indent="0" algn="l" rtl="0">
                <a:spcBef>
                  <a:spcPts val="0"/>
                </a:spcBef>
                <a:spcAft>
                  <a:spcPts val="0"/>
                </a:spcAft>
                <a:buNone/>
              </a:pPr>
              <a:r>
                <a:rPr lang="en-US" sz="764" dirty="0">
                  <a:solidFill>
                    <a:schemeClr val="lt1"/>
                  </a:solidFill>
                  <a:latin typeface="Open Sans"/>
                  <a:ea typeface="Open Sans"/>
                  <a:cs typeface="Open Sans"/>
                  <a:sym typeface="Open Sans"/>
                </a:rPr>
                <a:t>#001691</a:t>
              </a:r>
              <a:endParaRPr sz="764" dirty="0"/>
            </a:p>
            <a:p>
              <a:pPr marL="0" marR="0" lvl="0" indent="0" algn="l" rtl="0">
                <a:spcBef>
                  <a:spcPts val="0"/>
                </a:spcBef>
                <a:spcAft>
                  <a:spcPts val="0"/>
                </a:spcAft>
                <a:buNone/>
              </a:pPr>
              <a:r>
                <a:rPr lang="en-US" sz="764" b="1" dirty="0">
                  <a:solidFill>
                    <a:schemeClr val="lt1"/>
                  </a:solidFill>
                  <a:latin typeface="Open Sans"/>
                  <a:ea typeface="Open Sans"/>
                  <a:cs typeface="Open Sans"/>
                  <a:sym typeface="Open Sans"/>
                </a:rPr>
                <a:t>Magaya Blue</a:t>
              </a:r>
              <a:endParaRPr sz="764" b="1" dirty="0">
                <a:solidFill>
                  <a:schemeClr val="lt1"/>
                </a:solidFill>
                <a:latin typeface="Open Sans"/>
                <a:ea typeface="Open Sans"/>
                <a:cs typeface="Open Sans"/>
                <a:sym typeface="Open Sans"/>
              </a:endParaRPr>
            </a:p>
          </p:txBody>
        </p:sp>
        <p:sp>
          <p:nvSpPr>
            <p:cNvPr id="50" name="Google Shape;58;p6"/>
            <p:cNvSpPr/>
            <p:nvPr/>
          </p:nvSpPr>
          <p:spPr>
            <a:xfrm>
              <a:off x="1294050" y="1867932"/>
              <a:ext cx="1149425" cy="502920"/>
            </a:xfrm>
            <a:prstGeom prst="rect">
              <a:avLst/>
            </a:prstGeom>
            <a:solidFill>
              <a:srgbClr val="01166D"/>
            </a:solidFill>
            <a:ln>
              <a:noFill/>
            </a:ln>
          </p:spPr>
          <p:txBody>
            <a:bodyPr spcFirstLastPara="1" wrap="square" lIns="73152" tIns="9144" rIns="0" bIns="9144" anchor="ctr" anchorCtr="0">
              <a:noAutofit/>
            </a:bodyPr>
            <a:lstStyle/>
            <a:p>
              <a:pPr marL="0" marR="0" lvl="0" indent="0" algn="l" rtl="0">
                <a:spcBef>
                  <a:spcPts val="0"/>
                </a:spcBef>
                <a:spcAft>
                  <a:spcPts val="0"/>
                </a:spcAft>
                <a:buNone/>
              </a:pPr>
              <a:r>
                <a:rPr lang="en-US" sz="764" dirty="0">
                  <a:solidFill>
                    <a:schemeClr val="lt1"/>
                  </a:solidFill>
                  <a:latin typeface="Open Sans"/>
                  <a:ea typeface="Open Sans"/>
                  <a:cs typeface="Open Sans"/>
                  <a:sym typeface="Open Sans"/>
                </a:rPr>
                <a:t>1 / 22 / 109</a:t>
              </a:r>
              <a:endParaRPr sz="764" dirty="0"/>
            </a:p>
            <a:p>
              <a:pPr marL="0" marR="0" lvl="0" indent="0" algn="l" rtl="0">
                <a:spcBef>
                  <a:spcPts val="0"/>
                </a:spcBef>
                <a:spcAft>
                  <a:spcPts val="0"/>
                </a:spcAft>
                <a:buNone/>
              </a:pPr>
              <a:r>
                <a:rPr lang="en-US" sz="764" dirty="0">
                  <a:solidFill>
                    <a:schemeClr val="lt1"/>
                  </a:solidFill>
                  <a:latin typeface="Open Sans"/>
                  <a:ea typeface="Open Sans"/>
                  <a:cs typeface="Open Sans"/>
                  <a:sym typeface="Open Sans"/>
                </a:rPr>
                <a:t>#01166d</a:t>
              </a:r>
            </a:p>
            <a:p>
              <a:r>
                <a:rPr lang="en-US" sz="764" dirty="0">
                  <a:solidFill>
                    <a:schemeClr val="lt1"/>
                  </a:solidFill>
                  <a:latin typeface="Open Sans"/>
                  <a:ea typeface="Open Sans"/>
                  <a:cs typeface="Open Sans"/>
                  <a:sym typeface="Open Sans"/>
                </a:rPr>
                <a:t>Deep Blue</a:t>
              </a:r>
            </a:p>
          </p:txBody>
        </p:sp>
        <p:sp>
          <p:nvSpPr>
            <p:cNvPr id="51" name="Google Shape;59;p6"/>
            <p:cNvSpPr/>
            <p:nvPr/>
          </p:nvSpPr>
          <p:spPr>
            <a:xfrm>
              <a:off x="1294050" y="2386224"/>
              <a:ext cx="1149425" cy="502920"/>
            </a:xfrm>
            <a:prstGeom prst="rect">
              <a:avLst/>
            </a:prstGeom>
            <a:solidFill>
              <a:srgbClr val="142159"/>
            </a:solidFill>
            <a:ln>
              <a:noFill/>
            </a:ln>
          </p:spPr>
          <p:txBody>
            <a:bodyPr spcFirstLastPara="1" wrap="square" lIns="73152" tIns="9144" rIns="0" bIns="9144" anchor="ctr" anchorCtr="0">
              <a:noAutofit/>
            </a:bodyPr>
            <a:lstStyle/>
            <a:p>
              <a:pPr marL="0" marR="0" lvl="0" indent="0" algn="l" rtl="0">
                <a:spcBef>
                  <a:spcPts val="0"/>
                </a:spcBef>
                <a:spcAft>
                  <a:spcPts val="0"/>
                </a:spcAft>
                <a:buNone/>
              </a:pPr>
              <a:r>
                <a:rPr lang="en-US" sz="764" dirty="0">
                  <a:solidFill>
                    <a:schemeClr val="lt1"/>
                  </a:solidFill>
                  <a:latin typeface="Open Sans"/>
                  <a:ea typeface="Open Sans"/>
                  <a:cs typeface="Open Sans"/>
                  <a:sym typeface="Open Sans"/>
                </a:rPr>
                <a:t>20 / 33 / 89</a:t>
              </a:r>
              <a:endParaRPr sz="764" dirty="0"/>
            </a:p>
            <a:p>
              <a:pPr marL="0" marR="0" lvl="0" indent="0" algn="l" rtl="0">
                <a:spcBef>
                  <a:spcPts val="0"/>
                </a:spcBef>
                <a:spcAft>
                  <a:spcPts val="0"/>
                </a:spcAft>
                <a:buNone/>
              </a:pPr>
              <a:r>
                <a:rPr lang="en-US" sz="764" dirty="0">
                  <a:solidFill>
                    <a:schemeClr val="lt1"/>
                  </a:solidFill>
                  <a:latin typeface="Open Sans"/>
                  <a:ea typeface="Open Sans"/>
                  <a:cs typeface="Open Sans"/>
                  <a:sym typeface="Open Sans"/>
                </a:rPr>
                <a:t>#142159</a:t>
              </a:r>
            </a:p>
            <a:p>
              <a:r>
                <a:rPr lang="en-US" sz="764" dirty="0">
                  <a:solidFill>
                    <a:schemeClr val="lt1"/>
                  </a:solidFill>
                  <a:latin typeface="Open Sans"/>
                  <a:ea typeface="Open Sans"/>
                  <a:cs typeface="Open Sans"/>
                  <a:sym typeface="Open Sans"/>
                </a:rPr>
                <a:t>Dark Blue</a:t>
              </a:r>
            </a:p>
          </p:txBody>
        </p:sp>
        <p:sp>
          <p:nvSpPr>
            <p:cNvPr id="52" name="Google Shape;61;p6"/>
            <p:cNvSpPr/>
            <p:nvPr/>
          </p:nvSpPr>
          <p:spPr>
            <a:xfrm>
              <a:off x="1294050" y="3939395"/>
              <a:ext cx="1149425" cy="502920"/>
            </a:xfrm>
            <a:prstGeom prst="rect">
              <a:avLst/>
            </a:prstGeom>
            <a:solidFill>
              <a:srgbClr val="F6F7FE"/>
            </a:solidFill>
            <a:ln>
              <a:noFill/>
            </a:ln>
          </p:spPr>
          <p:txBody>
            <a:bodyPr spcFirstLastPara="1" wrap="square" lIns="73152" tIns="9144" rIns="0" bIns="9144" anchor="ctr" anchorCtr="0">
              <a:noAutofit/>
            </a:bodyPr>
            <a:lstStyle/>
            <a:p>
              <a:pPr lvl="0"/>
              <a:r>
                <a:rPr lang="en-US" sz="764" dirty="0">
                  <a:solidFill>
                    <a:schemeClr val="dk1"/>
                  </a:solidFill>
                  <a:latin typeface="Open Sans"/>
                  <a:ea typeface="Open Sans"/>
                  <a:cs typeface="Open Sans"/>
                  <a:sym typeface="Open Sans"/>
                </a:rPr>
                <a:t>246 / 247 / 254</a:t>
              </a:r>
            </a:p>
            <a:p>
              <a:pPr lvl="0"/>
              <a:r>
                <a:rPr lang="en-US" sz="764" dirty="0">
                  <a:solidFill>
                    <a:schemeClr val="dk1"/>
                  </a:solidFill>
                  <a:latin typeface="Open Sans"/>
                  <a:ea typeface="Open Sans"/>
                  <a:cs typeface="Open Sans"/>
                  <a:sym typeface="Open Sans"/>
                </a:rPr>
                <a:t>#F6F7FE</a:t>
              </a:r>
            </a:p>
            <a:p>
              <a:pPr lvl="0"/>
              <a:r>
                <a:rPr lang="en-US" sz="764" dirty="0">
                  <a:solidFill>
                    <a:schemeClr val="dk1"/>
                  </a:solidFill>
                  <a:latin typeface="Open Sans"/>
                  <a:ea typeface="Open Sans"/>
                  <a:cs typeface="Open Sans"/>
                  <a:sym typeface="Open Sans"/>
                </a:rPr>
                <a:t>Light Grey</a:t>
              </a:r>
              <a:endParaRPr sz="764" dirty="0">
                <a:solidFill>
                  <a:schemeClr val="dk1"/>
                </a:solidFill>
                <a:latin typeface="Open Sans"/>
                <a:ea typeface="Open Sans"/>
                <a:cs typeface="Open Sans"/>
                <a:sym typeface="Open Sans"/>
              </a:endParaRPr>
            </a:p>
          </p:txBody>
        </p:sp>
        <p:sp>
          <p:nvSpPr>
            <p:cNvPr id="53" name="Google Shape;62;p6"/>
            <p:cNvSpPr/>
            <p:nvPr/>
          </p:nvSpPr>
          <p:spPr>
            <a:xfrm>
              <a:off x="1294050" y="2903295"/>
              <a:ext cx="1149425" cy="502920"/>
            </a:xfrm>
            <a:prstGeom prst="rect">
              <a:avLst/>
            </a:prstGeom>
            <a:solidFill>
              <a:srgbClr val="6B7489"/>
            </a:solidFill>
            <a:ln>
              <a:noFill/>
            </a:ln>
          </p:spPr>
          <p:txBody>
            <a:bodyPr spcFirstLastPara="1" wrap="square" lIns="73152" tIns="9144" rIns="0" bIns="9144" anchor="ctr" anchorCtr="0">
              <a:noAutofit/>
            </a:bodyPr>
            <a:lstStyle/>
            <a:p>
              <a:pPr marL="0" marR="0" lvl="0" indent="0" algn="l" rtl="0">
                <a:spcBef>
                  <a:spcPts val="0"/>
                </a:spcBef>
                <a:spcAft>
                  <a:spcPts val="0"/>
                </a:spcAft>
                <a:buNone/>
              </a:pPr>
              <a:r>
                <a:rPr lang="en-US" sz="764" dirty="0">
                  <a:solidFill>
                    <a:schemeClr val="lt1"/>
                  </a:solidFill>
                  <a:latin typeface="Open Sans"/>
                  <a:ea typeface="Open Sans"/>
                  <a:cs typeface="Open Sans"/>
                  <a:sym typeface="Open Sans"/>
                </a:rPr>
                <a:t>107 / 116 / 137</a:t>
              </a:r>
              <a:endParaRPr sz="764" dirty="0"/>
            </a:p>
            <a:p>
              <a:pPr marL="0" marR="0" lvl="0" indent="0" algn="l" rtl="0">
                <a:spcBef>
                  <a:spcPts val="0"/>
                </a:spcBef>
                <a:spcAft>
                  <a:spcPts val="0"/>
                </a:spcAft>
                <a:buNone/>
              </a:pPr>
              <a:r>
                <a:rPr lang="en-US" sz="764" dirty="0">
                  <a:solidFill>
                    <a:schemeClr val="lt1"/>
                  </a:solidFill>
                  <a:latin typeface="Open Sans"/>
                  <a:ea typeface="Open Sans"/>
                  <a:cs typeface="Open Sans"/>
                  <a:sym typeface="Open Sans"/>
                </a:rPr>
                <a:t>#6B7489</a:t>
              </a:r>
              <a:endParaRPr sz="764" dirty="0"/>
            </a:p>
            <a:p>
              <a:pPr marL="0" marR="0" lvl="0" indent="0" algn="l" rtl="0">
                <a:spcBef>
                  <a:spcPts val="0"/>
                </a:spcBef>
                <a:spcAft>
                  <a:spcPts val="0"/>
                </a:spcAft>
                <a:buNone/>
              </a:pPr>
              <a:r>
                <a:rPr lang="en-US" sz="764" b="1" dirty="0">
                  <a:solidFill>
                    <a:schemeClr val="lt1"/>
                  </a:solidFill>
                  <a:latin typeface="Open Sans"/>
                  <a:ea typeface="Open Sans"/>
                  <a:cs typeface="Open Sans"/>
                  <a:sym typeface="Open Sans"/>
                </a:rPr>
                <a:t>Magaya Grey</a:t>
              </a:r>
              <a:endParaRPr sz="764" b="1" dirty="0">
                <a:solidFill>
                  <a:schemeClr val="lt1"/>
                </a:solidFill>
                <a:latin typeface="Open Sans"/>
                <a:ea typeface="Open Sans"/>
                <a:cs typeface="Open Sans"/>
                <a:sym typeface="Open Sans"/>
              </a:endParaRPr>
            </a:p>
          </p:txBody>
        </p:sp>
        <p:sp>
          <p:nvSpPr>
            <p:cNvPr id="54" name="Google Shape;63;p6"/>
            <p:cNvSpPr/>
            <p:nvPr/>
          </p:nvSpPr>
          <p:spPr>
            <a:xfrm>
              <a:off x="1294050" y="3420367"/>
              <a:ext cx="1149425" cy="502920"/>
            </a:xfrm>
            <a:prstGeom prst="rect">
              <a:avLst/>
            </a:prstGeom>
            <a:solidFill>
              <a:srgbClr val="383B48"/>
            </a:solidFill>
            <a:ln>
              <a:noFill/>
            </a:ln>
          </p:spPr>
          <p:txBody>
            <a:bodyPr spcFirstLastPara="1" wrap="square" lIns="73152" tIns="9144" rIns="0" bIns="9144" anchor="ctr" anchorCtr="0">
              <a:noAutofit/>
            </a:bodyPr>
            <a:lstStyle/>
            <a:p>
              <a:pPr marL="0" marR="0" lvl="0" indent="0" algn="l" rtl="0">
                <a:spcBef>
                  <a:spcPts val="0"/>
                </a:spcBef>
                <a:spcAft>
                  <a:spcPts val="0"/>
                </a:spcAft>
                <a:buNone/>
              </a:pPr>
              <a:r>
                <a:rPr lang="en-US" sz="764" dirty="0">
                  <a:solidFill>
                    <a:schemeClr val="lt1"/>
                  </a:solidFill>
                  <a:latin typeface="Open Sans"/>
                  <a:ea typeface="Open Sans"/>
                  <a:cs typeface="Open Sans"/>
                  <a:sym typeface="Open Sans"/>
                </a:rPr>
                <a:t>56 / 59 / 72</a:t>
              </a:r>
              <a:endParaRPr sz="764" dirty="0"/>
            </a:p>
            <a:p>
              <a:pPr marL="0" marR="0" lvl="0" indent="0" algn="l" rtl="0">
                <a:lnSpc>
                  <a:spcPct val="100000"/>
                </a:lnSpc>
                <a:spcBef>
                  <a:spcPts val="0"/>
                </a:spcBef>
                <a:spcAft>
                  <a:spcPts val="0"/>
                </a:spcAft>
                <a:buClr>
                  <a:schemeClr val="lt1"/>
                </a:buClr>
                <a:buSzPts val="850"/>
                <a:buFont typeface="Open Sans"/>
                <a:buNone/>
              </a:pPr>
              <a:r>
                <a:rPr lang="en-US" sz="764" dirty="0">
                  <a:solidFill>
                    <a:schemeClr val="lt1"/>
                  </a:solidFill>
                  <a:latin typeface="Open Sans"/>
                  <a:ea typeface="Open Sans"/>
                  <a:cs typeface="Open Sans"/>
                  <a:sym typeface="Open Sans"/>
                </a:rPr>
                <a:t>#383B48</a:t>
              </a:r>
              <a:br>
                <a:rPr lang="en-US" sz="764" dirty="0">
                  <a:solidFill>
                    <a:schemeClr val="lt1"/>
                  </a:solidFill>
                  <a:latin typeface="Open Sans"/>
                  <a:ea typeface="Open Sans"/>
                  <a:cs typeface="Open Sans"/>
                  <a:sym typeface="Open Sans"/>
                </a:rPr>
              </a:br>
              <a:r>
                <a:rPr lang="en-US" sz="764" dirty="0">
                  <a:solidFill>
                    <a:schemeClr val="lt1"/>
                  </a:solidFill>
                  <a:latin typeface="Open Sans"/>
                  <a:ea typeface="Open Sans"/>
                  <a:cs typeface="Open Sans"/>
                  <a:sym typeface="Open Sans"/>
                </a:rPr>
                <a:t>Dark Grey</a:t>
              </a:r>
              <a:endParaRPr sz="764" dirty="0">
                <a:solidFill>
                  <a:schemeClr val="lt1"/>
                </a:solidFill>
                <a:latin typeface="Open Sans"/>
                <a:ea typeface="Open Sans"/>
                <a:cs typeface="Open Sans"/>
                <a:sym typeface="Open Sans"/>
              </a:endParaRPr>
            </a:p>
          </p:txBody>
        </p:sp>
        <p:sp>
          <p:nvSpPr>
            <p:cNvPr id="55" name="Google Shape;60;p6"/>
            <p:cNvSpPr/>
            <p:nvPr/>
          </p:nvSpPr>
          <p:spPr>
            <a:xfrm>
              <a:off x="1294050" y="1344866"/>
              <a:ext cx="1149425" cy="502920"/>
            </a:xfrm>
            <a:prstGeom prst="rect">
              <a:avLst/>
            </a:prstGeom>
            <a:solidFill>
              <a:srgbClr val="09A1FF"/>
            </a:solidFill>
            <a:ln>
              <a:noFill/>
            </a:ln>
          </p:spPr>
          <p:txBody>
            <a:bodyPr spcFirstLastPara="1" wrap="square" lIns="73152" tIns="9144" rIns="0" bIns="9144" anchor="ctr" anchorCtr="0">
              <a:noAutofit/>
            </a:bodyPr>
            <a:lstStyle/>
            <a:p>
              <a:pPr marL="0" marR="0" lvl="0" indent="0" algn="l" rtl="0">
                <a:spcBef>
                  <a:spcPts val="0"/>
                </a:spcBef>
                <a:spcAft>
                  <a:spcPts val="0"/>
                </a:spcAft>
                <a:buNone/>
              </a:pPr>
              <a:r>
                <a:rPr lang="en-US" sz="764" dirty="0">
                  <a:solidFill>
                    <a:schemeClr val="lt1"/>
                  </a:solidFill>
                  <a:latin typeface="Open Sans"/>
                  <a:ea typeface="Open Sans"/>
                  <a:cs typeface="Open Sans"/>
                  <a:sym typeface="Open Sans"/>
                </a:rPr>
                <a:t>9 / 161 / 255</a:t>
              </a:r>
              <a:endParaRPr sz="764" dirty="0"/>
            </a:p>
            <a:p>
              <a:pPr marL="0" marR="0" lvl="0" indent="0" algn="l" rtl="0">
                <a:lnSpc>
                  <a:spcPct val="100000"/>
                </a:lnSpc>
                <a:spcBef>
                  <a:spcPts val="0"/>
                </a:spcBef>
                <a:spcAft>
                  <a:spcPts val="0"/>
                </a:spcAft>
                <a:buClr>
                  <a:schemeClr val="lt1"/>
                </a:buClr>
                <a:buSzPts val="850"/>
                <a:buFont typeface="Open Sans"/>
                <a:buNone/>
              </a:pPr>
              <a:r>
                <a:rPr lang="en-US" sz="764" dirty="0">
                  <a:solidFill>
                    <a:schemeClr val="lt1"/>
                  </a:solidFill>
                  <a:latin typeface="Open Sans"/>
                  <a:ea typeface="Open Sans"/>
                  <a:cs typeface="Open Sans"/>
                  <a:sym typeface="Open Sans"/>
                </a:rPr>
                <a:t>#09A1FF</a:t>
              </a:r>
            </a:p>
            <a:p>
              <a:pPr marL="0" marR="0" lvl="0" indent="0" algn="l" rtl="0">
                <a:lnSpc>
                  <a:spcPct val="100000"/>
                </a:lnSpc>
                <a:spcBef>
                  <a:spcPts val="0"/>
                </a:spcBef>
                <a:spcAft>
                  <a:spcPts val="0"/>
                </a:spcAft>
                <a:buClr>
                  <a:schemeClr val="lt1"/>
                </a:buClr>
                <a:buSzPts val="850"/>
                <a:buFont typeface="Open Sans"/>
                <a:buNone/>
              </a:pPr>
              <a:r>
                <a:rPr lang="en-US" sz="764" dirty="0">
                  <a:solidFill>
                    <a:schemeClr val="bg1"/>
                  </a:solidFill>
                  <a:latin typeface="Open Sans"/>
                  <a:ea typeface="Open Sans"/>
                  <a:cs typeface="Open Sans"/>
                  <a:sym typeface="Open Sans"/>
                </a:rPr>
                <a:t>Light Magaya Blue</a:t>
              </a:r>
              <a:endParaRPr sz="764" dirty="0">
                <a:solidFill>
                  <a:schemeClr val="bg1"/>
                </a:solidFill>
                <a:latin typeface="Open Sans"/>
                <a:ea typeface="Open Sans"/>
                <a:cs typeface="Open Sans"/>
                <a:sym typeface="Open Sans"/>
              </a:endParaRPr>
            </a:p>
          </p:txBody>
        </p:sp>
        <p:grpSp>
          <p:nvGrpSpPr>
            <p:cNvPr id="56" name="Group 55"/>
            <p:cNvGrpSpPr/>
            <p:nvPr/>
          </p:nvGrpSpPr>
          <p:grpSpPr>
            <a:xfrm>
              <a:off x="1301793" y="4463313"/>
              <a:ext cx="1135747" cy="1993392"/>
              <a:chOff x="1116961" y="4404945"/>
              <a:chExt cx="1135747" cy="1993392"/>
            </a:xfrm>
          </p:grpSpPr>
          <p:sp>
            <p:nvSpPr>
              <p:cNvPr id="57" name="Google Shape;65;p6"/>
              <p:cNvSpPr/>
              <p:nvPr/>
            </p:nvSpPr>
            <p:spPr>
              <a:xfrm>
                <a:off x="1116961" y="4404945"/>
                <a:ext cx="1135747" cy="1993392"/>
              </a:xfrm>
              <a:prstGeom prst="rect">
                <a:avLst/>
              </a:prstGeom>
              <a:noFill/>
              <a:ln w="9525" cap="flat" cmpd="sng">
                <a:solidFill>
                  <a:srgbClr val="BFBFB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623" dirty="0">
                  <a:solidFill>
                    <a:schemeClr val="lt1"/>
                  </a:solidFill>
                  <a:latin typeface="Calibri"/>
                  <a:ea typeface="Calibri"/>
                  <a:cs typeface="Calibri"/>
                  <a:sym typeface="Calibri"/>
                </a:endParaRPr>
              </a:p>
            </p:txBody>
          </p:sp>
          <p:sp>
            <p:nvSpPr>
              <p:cNvPr id="58" name="Google Shape;66;p6"/>
              <p:cNvSpPr/>
              <p:nvPr/>
            </p:nvSpPr>
            <p:spPr>
              <a:xfrm>
                <a:off x="1116961" y="4448781"/>
                <a:ext cx="1135747" cy="428824"/>
              </a:xfrm>
              <a:prstGeom prst="rect">
                <a:avLst/>
              </a:prstGeom>
              <a:noFill/>
              <a:ln>
                <a:noFill/>
              </a:ln>
            </p:spPr>
            <p:txBody>
              <a:bodyPr spcFirstLastPara="1" wrap="square" lIns="0" tIns="18288" rIns="0" bIns="18288" anchor="t" anchorCtr="0">
                <a:noAutofit/>
              </a:bodyPr>
              <a:lstStyle/>
              <a:p>
                <a:pPr marL="0" marR="0" lvl="0" indent="0" algn="ctr" rtl="0">
                  <a:spcBef>
                    <a:spcPts val="0"/>
                  </a:spcBef>
                  <a:spcAft>
                    <a:spcPts val="0"/>
                  </a:spcAft>
                  <a:buNone/>
                </a:pPr>
                <a:r>
                  <a:rPr lang="en-US" sz="764" b="1" dirty="0">
                    <a:solidFill>
                      <a:schemeClr val="dk1"/>
                    </a:solidFill>
                    <a:latin typeface="Open Sans"/>
                    <a:ea typeface="Open Sans"/>
                    <a:cs typeface="Open Sans"/>
                    <a:sym typeface="Open Sans"/>
                  </a:rPr>
                  <a:t>Accent Colors</a:t>
                </a:r>
              </a:p>
              <a:p>
                <a:pPr marL="0" marR="0" lvl="0" indent="0" algn="ctr" rtl="0">
                  <a:spcBef>
                    <a:spcPts val="0"/>
                  </a:spcBef>
                  <a:spcAft>
                    <a:spcPts val="0"/>
                  </a:spcAft>
                  <a:buNone/>
                </a:pPr>
                <a:r>
                  <a:rPr lang="en-US" sz="594" dirty="0">
                    <a:solidFill>
                      <a:schemeClr val="dk1"/>
                    </a:solidFill>
                    <a:latin typeface="Open Sans"/>
                    <a:ea typeface="Open Sans"/>
                    <a:cs typeface="Open Sans"/>
                    <a:sym typeface="Open Sans"/>
                  </a:rPr>
                  <a:t>Marketing Use for </a:t>
                </a:r>
                <a:endParaRPr sz="594" dirty="0"/>
              </a:p>
              <a:p>
                <a:pPr marL="0" marR="0" lvl="0" indent="0" algn="ctr" rtl="0">
                  <a:spcBef>
                    <a:spcPts val="0"/>
                  </a:spcBef>
                  <a:spcAft>
                    <a:spcPts val="0"/>
                  </a:spcAft>
                  <a:buNone/>
                </a:pPr>
                <a:r>
                  <a:rPr lang="en-US" sz="594" dirty="0">
                    <a:solidFill>
                      <a:schemeClr val="dk1"/>
                    </a:solidFill>
                    <a:latin typeface="Open Sans"/>
                    <a:ea typeface="Open Sans"/>
                    <a:cs typeface="Open Sans"/>
                    <a:sym typeface="Open Sans"/>
                  </a:rPr>
                  <a:t>Special Purposes Only</a:t>
                </a:r>
                <a:endParaRPr sz="594" dirty="0">
                  <a:solidFill>
                    <a:schemeClr val="dk1"/>
                  </a:solidFill>
                  <a:latin typeface="Open Sans"/>
                  <a:ea typeface="Open Sans"/>
                  <a:cs typeface="Open Sans"/>
                  <a:sym typeface="Open Sans"/>
                </a:endParaRPr>
              </a:p>
            </p:txBody>
          </p:sp>
          <p:sp>
            <p:nvSpPr>
              <p:cNvPr id="59" name="Google Shape;69;p6"/>
              <p:cNvSpPr/>
              <p:nvPr/>
            </p:nvSpPr>
            <p:spPr>
              <a:xfrm>
                <a:off x="1256377" y="4879016"/>
                <a:ext cx="856915" cy="356671"/>
              </a:xfrm>
              <a:prstGeom prst="rect">
                <a:avLst/>
              </a:prstGeom>
              <a:solidFill>
                <a:srgbClr val="FFC914"/>
              </a:solidFill>
              <a:ln>
                <a:noFill/>
              </a:ln>
            </p:spPr>
            <p:txBody>
              <a:bodyPr spcFirstLastPara="1" wrap="square" lIns="45720" tIns="18288" rIns="0" bIns="18288" anchor="ctr" anchorCtr="0">
                <a:noAutofit/>
              </a:bodyPr>
              <a:lstStyle/>
              <a:p>
                <a:pPr marL="0" marR="0" lvl="0" indent="0" algn="l" rtl="0">
                  <a:lnSpc>
                    <a:spcPct val="110000"/>
                  </a:lnSpc>
                  <a:spcBef>
                    <a:spcPts val="0"/>
                  </a:spcBef>
                  <a:spcAft>
                    <a:spcPts val="0"/>
                  </a:spcAft>
                  <a:buNone/>
                </a:pPr>
                <a:r>
                  <a:rPr lang="en-US" sz="679" dirty="0">
                    <a:solidFill>
                      <a:schemeClr val="dk1"/>
                    </a:solidFill>
                    <a:latin typeface="Open Sans"/>
                    <a:ea typeface="Open Sans"/>
                    <a:cs typeface="Open Sans"/>
                    <a:sym typeface="Open Sans"/>
                  </a:rPr>
                  <a:t>255 / 201 / 20</a:t>
                </a:r>
                <a:endParaRPr sz="679" dirty="0"/>
              </a:p>
              <a:p>
                <a:pPr marL="0" marR="0" lvl="0" indent="0" algn="l" rtl="0">
                  <a:lnSpc>
                    <a:spcPct val="110000"/>
                  </a:lnSpc>
                  <a:spcBef>
                    <a:spcPts val="0"/>
                  </a:spcBef>
                  <a:spcAft>
                    <a:spcPts val="0"/>
                  </a:spcAft>
                  <a:buNone/>
                </a:pPr>
                <a:r>
                  <a:rPr lang="en-US" sz="679" dirty="0">
                    <a:solidFill>
                      <a:schemeClr val="dk1"/>
                    </a:solidFill>
                    <a:latin typeface="Open Sans"/>
                    <a:ea typeface="Open Sans"/>
                    <a:cs typeface="Open Sans"/>
                    <a:sym typeface="Open Sans"/>
                  </a:rPr>
                  <a:t>#FFC914</a:t>
                </a:r>
                <a:endParaRPr sz="679" dirty="0">
                  <a:solidFill>
                    <a:schemeClr val="dk1"/>
                  </a:solidFill>
                  <a:latin typeface="Open Sans"/>
                  <a:ea typeface="Open Sans"/>
                  <a:cs typeface="Open Sans"/>
                  <a:sym typeface="Open Sans"/>
                </a:endParaRPr>
              </a:p>
            </p:txBody>
          </p:sp>
          <p:sp>
            <p:nvSpPr>
              <p:cNvPr id="60" name="Google Shape;68;p6"/>
              <p:cNvSpPr/>
              <p:nvPr/>
            </p:nvSpPr>
            <p:spPr>
              <a:xfrm>
                <a:off x="1256377" y="5612976"/>
                <a:ext cx="856914" cy="348035"/>
              </a:xfrm>
              <a:prstGeom prst="rect">
                <a:avLst/>
              </a:prstGeom>
              <a:solidFill>
                <a:srgbClr val="FD4B72"/>
              </a:solidFill>
              <a:ln>
                <a:noFill/>
              </a:ln>
            </p:spPr>
            <p:txBody>
              <a:bodyPr spcFirstLastPara="1" wrap="square" lIns="45720" tIns="18288" rIns="0" bIns="18288" anchor="ctr" anchorCtr="0">
                <a:noAutofit/>
              </a:bodyPr>
              <a:lstStyle/>
              <a:p>
                <a:pPr lvl="0">
                  <a:lnSpc>
                    <a:spcPct val="110000"/>
                  </a:lnSpc>
                </a:pPr>
                <a:r>
                  <a:rPr lang="en-US" sz="679" dirty="0">
                    <a:solidFill>
                      <a:schemeClr val="bg1"/>
                    </a:solidFill>
                    <a:latin typeface="Open Sans"/>
                    <a:ea typeface="Open Sans"/>
                    <a:cs typeface="Open Sans"/>
                    <a:sym typeface="Open Sans"/>
                  </a:rPr>
                  <a:t>253 / 75 / 114</a:t>
                </a:r>
              </a:p>
              <a:p>
                <a:pPr lvl="0">
                  <a:lnSpc>
                    <a:spcPct val="110000"/>
                  </a:lnSpc>
                </a:pPr>
                <a:r>
                  <a:rPr lang="en-US" sz="679" dirty="0">
                    <a:solidFill>
                      <a:schemeClr val="bg1"/>
                    </a:solidFill>
                    <a:latin typeface="Open Sans"/>
                    <a:ea typeface="Open Sans"/>
                    <a:cs typeface="Open Sans"/>
                    <a:sym typeface="Open Sans"/>
                  </a:rPr>
                  <a:t>#FD4B72</a:t>
                </a:r>
                <a:endParaRPr sz="679" dirty="0">
                  <a:solidFill>
                    <a:schemeClr val="bg1"/>
                  </a:solidFill>
                  <a:latin typeface="Open Sans"/>
                  <a:ea typeface="Open Sans"/>
                  <a:cs typeface="Open Sans"/>
                  <a:sym typeface="Open Sans"/>
                </a:endParaRPr>
              </a:p>
            </p:txBody>
          </p:sp>
          <p:sp>
            <p:nvSpPr>
              <p:cNvPr id="61" name="Google Shape;68;p6"/>
              <p:cNvSpPr/>
              <p:nvPr/>
            </p:nvSpPr>
            <p:spPr>
              <a:xfrm>
                <a:off x="1256377" y="5247423"/>
                <a:ext cx="856914" cy="348035"/>
              </a:xfrm>
              <a:prstGeom prst="rect">
                <a:avLst/>
              </a:prstGeom>
              <a:solidFill>
                <a:srgbClr val="17D76E"/>
              </a:solidFill>
              <a:ln>
                <a:noFill/>
              </a:ln>
            </p:spPr>
            <p:txBody>
              <a:bodyPr spcFirstLastPara="1" wrap="square" lIns="45720" tIns="18288" rIns="0" bIns="18288" anchor="ctr" anchorCtr="0">
                <a:noAutofit/>
              </a:bodyPr>
              <a:lstStyle/>
              <a:p>
                <a:pPr marL="0" marR="0" lvl="0" indent="0" algn="l" rtl="0">
                  <a:lnSpc>
                    <a:spcPct val="110000"/>
                  </a:lnSpc>
                  <a:spcBef>
                    <a:spcPts val="0"/>
                  </a:spcBef>
                  <a:spcAft>
                    <a:spcPts val="0"/>
                  </a:spcAft>
                  <a:buNone/>
                </a:pPr>
                <a:r>
                  <a:rPr lang="en-US" sz="679" dirty="0">
                    <a:solidFill>
                      <a:schemeClr val="dk1"/>
                    </a:solidFill>
                    <a:latin typeface="Open Sans"/>
                    <a:ea typeface="Open Sans"/>
                    <a:cs typeface="Open Sans"/>
                    <a:sym typeface="Open Sans"/>
                  </a:rPr>
                  <a:t>23 / 215 / 110</a:t>
                </a:r>
                <a:endParaRPr sz="679" dirty="0"/>
              </a:p>
              <a:p>
                <a:pPr marL="0" marR="0" lvl="0" indent="0" algn="l" rtl="0">
                  <a:lnSpc>
                    <a:spcPct val="110000"/>
                  </a:lnSpc>
                  <a:spcBef>
                    <a:spcPts val="0"/>
                  </a:spcBef>
                  <a:spcAft>
                    <a:spcPts val="0"/>
                  </a:spcAft>
                  <a:buNone/>
                </a:pPr>
                <a:r>
                  <a:rPr lang="en-US" sz="679" dirty="0">
                    <a:solidFill>
                      <a:schemeClr val="dk1"/>
                    </a:solidFill>
                    <a:latin typeface="Open Sans"/>
                    <a:ea typeface="Open Sans"/>
                    <a:cs typeface="Open Sans"/>
                    <a:sym typeface="Open Sans"/>
                  </a:rPr>
                  <a:t>#17D76E</a:t>
                </a:r>
                <a:endParaRPr sz="679" dirty="0">
                  <a:solidFill>
                    <a:schemeClr val="dk1"/>
                  </a:solidFill>
                  <a:latin typeface="Open Sans"/>
                  <a:ea typeface="Open Sans"/>
                  <a:cs typeface="Open Sans"/>
                  <a:sym typeface="Open Sans"/>
                </a:endParaRPr>
              </a:p>
            </p:txBody>
          </p:sp>
          <p:sp>
            <p:nvSpPr>
              <p:cNvPr id="62" name="Google Shape;68;p6"/>
              <p:cNvSpPr/>
              <p:nvPr/>
            </p:nvSpPr>
            <p:spPr>
              <a:xfrm>
                <a:off x="1256377" y="5978408"/>
                <a:ext cx="856914" cy="348035"/>
              </a:xfrm>
              <a:prstGeom prst="rect">
                <a:avLst/>
              </a:prstGeom>
              <a:solidFill>
                <a:srgbClr val="0000FF"/>
              </a:solidFill>
              <a:ln>
                <a:noFill/>
              </a:ln>
            </p:spPr>
            <p:txBody>
              <a:bodyPr spcFirstLastPara="1" wrap="square" lIns="45720" tIns="18288" rIns="0" bIns="18288" anchor="ctr" anchorCtr="0">
                <a:noAutofit/>
              </a:bodyPr>
              <a:lstStyle/>
              <a:p>
                <a:pPr lvl="0">
                  <a:lnSpc>
                    <a:spcPct val="110000"/>
                  </a:lnSpc>
                </a:pPr>
                <a:r>
                  <a:rPr lang="en-US" sz="679" dirty="0">
                    <a:solidFill>
                      <a:schemeClr val="bg1"/>
                    </a:solidFill>
                    <a:latin typeface="Open Sans"/>
                    <a:ea typeface="Open Sans"/>
                    <a:cs typeface="Open Sans"/>
                    <a:sym typeface="Open Sans"/>
                  </a:rPr>
                  <a:t>0 / 0 / 255</a:t>
                </a:r>
              </a:p>
              <a:p>
                <a:pPr lvl="0">
                  <a:lnSpc>
                    <a:spcPct val="110000"/>
                  </a:lnSpc>
                </a:pPr>
                <a:r>
                  <a:rPr lang="en-US" sz="679" dirty="0">
                    <a:solidFill>
                      <a:schemeClr val="bg1"/>
                    </a:solidFill>
                    <a:latin typeface="Open Sans"/>
                    <a:ea typeface="Open Sans"/>
                    <a:cs typeface="Open Sans"/>
                    <a:sym typeface="Open Sans"/>
                  </a:rPr>
                  <a:t>#0000FF</a:t>
                </a:r>
                <a:endParaRPr sz="679" dirty="0">
                  <a:solidFill>
                    <a:schemeClr val="bg1"/>
                  </a:solidFill>
                  <a:latin typeface="Open Sans"/>
                  <a:ea typeface="Open Sans"/>
                  <a:cs typeface="Open Sans"/>
                  <a:sym typeface="Open Sans"/>
                </a:endParaRPr>
              </a:p>
            </p:txBody>
          </p:sp>
        </p:grpSp>
      </p:grpSp>
    </p:spTree>
    <p:extLst>
      <p:ext uri="{BB962C8B-B14F-4D97-AF65-F5344CB8AC3E}">
        <p14:creationId xmlns:p14="http://schemas.microsoft.com/office/powerpoint/2010/main" val="25496222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390" y="1163309"/>
            <a:ext cx="10363984" cy="430887"/>
          </a:xfrm>
          <a:prstGeom prst="rect">
            <a:avLst/>
          </a:prstGeom>
        </p:spPr>
        <p:txBody>
          <a:bodyPr wrap="square" lIns="0" tIns="0" rIns="0" bIns="0">
            <a:spAutoFit/>
          </a:bodyPr>
          <a:lstStyle>
            <a:lvl1pPr>
              <a:defRPr sz="2800" b="0" i="0">
                <a:solidFill>
                  <a:schemeClr val="bg1"/>
                </a:solidFill>
                <a:latin typeface="Montserrat-Light"/>
                <a:cs typeface="Montserrat-Light"/>
              </a:defRPr>
            </a:lvl1pPr>
          </a:lstStyle>
          <a:p>
            <a:endParaRPr/>
          </a:p>
        </p:txBody>
      </p:sp>
      <p:sp>
        <p:nvSpPr>
          <p:cNvPr id="3" name="Holder 3"/>
          <p:cNvSpPr>
            <a:spLocks noGrp="1"/>
          </p:cNvSpPr>
          <p:nvPr>
            <p:ph type="body" idx="1"/>
          </p:nvPr>
        </p:nvSpPr>
        <p:spPr>
          <a:xfrm>
            <a:off x="1526349" y="2591561"/>
            <a:ext cx="7310504" cy="276999"/>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3523488" y="7228334"/>
            <a:ext cx="3316224" cy="276999"/>
          </a:xfrm>
          <a:prstGeom prst="rect">
            <a:avLst/>
          </a:prstGeom>
        </p:spPr>
        <p:txBody>
          <a:bodyPr wrap="square" lIns="0" tIns="0" rIns="0" bIns="0">
            <a:spAutoFit/>
          </a:bodyPr>
          <a:lstStyle>
            <a:lvl1pPr algn="ctr">
              <a:defRPr>
                <a:solidFill>
                  <a:schemeClr val="tx1">
                    <a:tint val="75000"/>
                  </a:schemeClr>
                </a:solidFill>
                <a:latin typeface="Montserrat" panose="00000500000000000000" pitchFamily="50" charset="0"/>
              </a:defRPr>
            </a:lvl1pPr>
          </a:lstStyle>
          <a:p>
            <a:endParaRPr lang="en-CA" dirty="0"/>
          </a:p>
        </p:txBody>
      </p:sp>
      <p:sp>
        <p:nvSpPr>
          <p:cNvPr id="5" name="Holder 5"/>
          <p:cNvSpPr>
            <a:spLocks noGrp="1"/>
          </p:cNvSpPr>
          <p:nvPr>
            <p:ph type="dt" sz="half" idx="6"/>
          </p:nvPr>
        </p:nvSpPr>
        <p:spPr>
          <a:xfrm>
            <a:off x="518160" y="7228334"/>
            <a:ext cx="2383536" cy="276999"/>
          </a:xfrm>
          <a:prstGeom prst="rect">
            <a:avLst/>
          </a:prstGeom>
        </p:spPr>
        <p:txBody>
          <a:bodyPr wrap="square" lIns="0" tIns="0" rIns="0" bIns="0">
            <a:spAutoFit/>
          </a:bodyPr>
          <a:lstStyle>
            <a:lvl1pPr algn="l">
              <a:defRPr>
                <a:solidFill>
                  <a:schemeClr val="tx1">
                    <a:tint val="75000"/>
                  </a:schemeClr>
                </a:solidFill>
                <a:latin typeface="Montserrat" panose="00000500000000000000" pitchFamily="50" charset="0"/>
              </a:defRPr>
            </a:lvl1pPr>
          </a:lstStyle>
          <a:p>
            <a:fld id="{1D8BD707-D9CF-40AE-B4C6-C98DA3205C09}" type="datetimeFigureOut">
              <a:rPr lang="en-US" smtClean="0"/>
              <a:pPr/>
              <a:t>6/23/2026</a:t>
            </a:fld>
            <a:endParaRPr lang="en-US" dirty="0"/>
          </a:p>
        </p:txBody>
      </p:sp>
      <p:sp>
        <p:nvSpPr>
          <p:cNvPr id="6" name="Holder 6"/>
          <p:cNvSpPr>
            <a:spLocks noGrp="1"/>
          </p:cNvSpPr>
          <p:nvPr>
            <p:ph type="sldNum" sz="quarter" idx="7"/>
          </p:nvPr>
        </p:nvSpPr>
        <p:spPr>
          <a:xfrm>
            <a:off x="9942127" y="7466019"/>
            <a:ext cx="300952" cy="184666"/>
          </a:xfrm>
          <a:prstGeom prst="rect">
            <a:avLst/>
          </a:prstGeom>
        </p:spPr>
        <p:txBody>
          <a:bodyPr wrap="square" lIns="0" tIns="0" rIns="0" bIns="0">
            <a:spAutoFit/>
          </a:bodyPr>
          <a:lstStyle>
            <a:lvl1pPr>
              <a:defRPr sz="1200" b="0" i="0">
                <a:solidFill>
                  <a:schemeClr val="bg1"/>
                </a:solidFill>
                <a:latin typeface="Open Sans Light"/>
                <a:cs typeface="Open Sans Light"/>
              </a:defRPr>
            </a:lvl1pPr>
          </a:lstStyle>
          <a:p>
            <a:pPr marL="48891">
              <a:spcBef>
                <a:spcPts val="229"/>
              </a:spcBef>
            </a:pPr>
            <a:fld id="{81D60167-4931-47E6-BA6A-407CBD079E47}" type="slidenum">
              <a:rPr lang="en-US" smtClean="0">
                <a:latin typeface="Open Sans" panose="020B0606030504020204" pitchFamily="34" charset="0"/>
                <a:cs typeface="Open Sans" panose="020B0606030504020204" pitchFamily="34" charset="0"/>
              </a:rPr>
              <a:pPr marL="48891">
                <a:spcBef>
                  <a:spcPts val="229"/>
                </a:spcBef>
              </a:pPr>
              <a:t>‹#›</a:t>
            </a:fld>
            <a:r>
              <a:rPr lang="en-US" spc="-80" dirty="0">
                <a:latin typeface="Open Sans" panose="020B0606030504020204" pitchFamily="34" charset="0"/>
                <a:cs typeface="Open Sans" panose="020B0606030504020204" pitchFamily="34" charset="0"/>
              </a:rPr>
              <a:t> </a:t>
            </a:r>
          </a:p>
        </p:txBody>
      </p:sp>
    </p:spTree>
  </p:cSld>
  <p:clrMap bg1="lt1" tx1="dk1" bg2="lt2" tx2="dk2" accent1="accent1" accent2="accent2" accent3="accent3" accent4="accent4" accent5="accent5" accent6="accent6" hlink="hlink" folHlink="folHlink"/>
  <p:sldLayoutIdLst>
    <p:sldLayoutId id="2147483667" r:id="rId1"/>
    <p:sldLayoutId id="2147483671" r:id="rId2"/>
    <p:sldLayoutId id="2147483670" r:id="rId3"/>
    <p:sldLayoutId id="2147483669" r:id="rId4"/>
    <p:sldLayoutId id="2147483673" r:id="rId5"/>
    <p:sldLayoutId id="2147483668" r:id="rId6"/>
    <p:sldLayoutId id="2147483672" r:id="rId7"/>
    <p:sldLayoutId id="2147483666" r:id="rId8"/>
    <p:sldLayoutId id="2147483674" r:id="rId9"/>
    <p:sldLayoutId id="2147483675" r:id="rId10"/>
    <p:sldLayoutId id="2147483676" r:id="rId11"/>
    <p:sldLayoutId id="2147483679" r:id="rId12"/>
  </p:sldLayoutIdLst>
  <p:txStyles>
    <p:titleStyle>
      <a:lvl1pPr>
        <a:defRPr>
          <a:latin typeface="+mj-lt"/>
          <a:ea typeface="+mj-ea"/>
          <a:cs typeface="+mj-cs"/>
        </a:defRPr>
      </a:lvl1pPr>
    </p:titleStyle>
    <p:bodyStyle>
      <a:lvl1pPr marL="0">
        <a:defRPr>
          <a:latin typeface="Montserrat" panose="00000500000000000000" pitchFamily="50" charset="0"/>
          <a:ea typeface="+mn-ea"/>
          <a:cs typeface="+mn-cs"/>
        </a:defRPr>
      </a:lvl1pPr>
      <a:lvl2pPr marL="457162">
        <a:defRPr>
          <a:latin typeface="+mn-lt"/>
          <a:ea typeface="+mn-ea"/>
          <a:cs typeface="+mn-cs"/>
        </a:defRPr>
      </a:lvl2pPr>
      <a:lvl3pPr marL="914323">
        <a:defRPr>
          <a:latin typeface="+mn-lt"/>
          <a:ea typeface="+mn-ea"/>
          <a:cs typeface="+mn-cs"/>
        </a:defRPr>
      </a:lvl3pPr>
      <a:lvl4pPr marL="1371485">
        <a:defRPr>
          <a:latin typeface="+mn-lt"/>
          <a:ea typeface="+mn-ea"/>
          <a:cs typeface="+mn-cs"/>
        </a:defRPr>
      </a:lvl4pPr>
      <a:lvl5pPr marL="1828647">
        <a:defRPr>
          <a:latin typeface="+mn-lt"/>
          <a:ea typeface="+mn-ea"/>
          <a:cs typeface="+mn-cs"/>
        </a:defRPr>
      </a:lvl5pPr>
      <a:lvl6pPr marL="2285808">
        <a:defRPr>
          <a:latin typeface="+mn-lt"/>
          <a:ea typeface="+mn-ea"/>
          <a:cs typeface="+mn-cs"/>
        </a:defRPr>
      </a:lvl6pPr>
      <a:lvl7pPr marL="2742970">
        <a:defRPr>
          <a:latin typeface="+mn-lt"/>
          <a:ea typeface="+mn-ea"/>
          <a:cs typeface="+mn-cs"/>
        </a:defRPr>
      </a:lvl7pPr>
      <a:lvl8pPr marL="3200132">
        <a:defRPr>
          <a:latin typeface="+mn-lt"/>
          <a:ea typeface="+mn-ea"/>
          <a:cs typeface="+mn-cs"/>
        </a:defRPr>
      </a:lvl8pPr>
      <a:lvl9pPr marL="3657294">
        <a:defRPr>
          <a:latin typeface="+mn-lt"/>
          <a:ea typeface="+mn-ea"/>
          <a:cs typeface="+mn-cs"/>
        </a:defRPr>
      </a:lvl9pPr>
    </p:bodyStyle>
    <p:otherStyle>
      <a:lvl1pPr marL="0">
        <a:defRPr>
          <a:latin typeface="+mn-lt"/>
          <a:ea typeface="+mn-ea"/>
          <a:cs typeface="+mn-cs"/>
        </a:defRPr>
      </a:lvl1pPr>
      <a:lvl2pPr marL="457162">
        <a:defRPr>
          <a:latin typeface="+mn-lt"/>
          <a:ea typeface="+mn-ea"/>
          <a:cs typeface="+mn-cs"/>
        </a:defRPr>
      </a:lvl2pPr>
      <a:lvl3pPr marL="914323">
        <a:defRPr>
          <a:latin typeface="+mn-lt"/>
          <a:ea typeface="+mn-ea"/>
          <a:cs typeface="+mn-cs"/>
        </a:defRPr>
      </a:lvl3pPr>
      <a:lvl4pPr marL="1371485">
        <a:defRPr>
          <a:latin typeface="+mn-lt"/>
          <a:ea typeface="+mn-ea"/>
          <a:cs typeface="+mn-cs"/>
        </a:defRPr>
      </a:lvl4pPr>
      <a:lvl5pPr marL="1828647">
        <a:defRPr>
          <a:latin typeface="+mn-lt"/>
          <a:ea typeface="+mn-ea"/>
          <a:cs typeface="+mn-cs"/>
        </a:defRPr>
      </a:lvl5pPr>
      <a:lvl6pPr marL="2285808">
        <a:defRPr>
          <a:latin typeface="+mn-lt"/>
          <a:ea typeface="+mn-ea"/>
          <a:cs typeface="+mn-cs"/>
        </a:defRPr>
      </a:lvl6pPr>
      <a:lvl7pPr marL="2742970">
        <a:defRPr>
          <a:latin typeface="+mn-lt"/>
          <a:ea typeface="+mn-ea"/>
          <a:cs typeface="+mn-cs"/>
        </a:defRPr>
      </a:lvl7pPr>
      <a:lvl8pPr marL="3200132">
        <a:defRPr>
          <a:latin typeface="+mn-lt"/>
          <a:ea typeface="+mn-ea"/>
          <a:cs typeface="+mn-cs"/>
        </a:defRPr>
      </a:lvl8pPr>
      <a:lvl9pPr marL="3657294">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3" Type="http://schemas.openxmlformats.org/officeDocument/2006/relationships/image" Target="../media/image11.jpg"/><Relationship Id="rId7" Type="http://schemas.openxmlformats.org/officeDocument/2006/relationships/image" Target="../media/image15.jpeg"/><Relationship Id="rId2" Type="http://schemas.openxmlformats.org/officeDocument/2006/relationships/image" Target="../media/image10.jpg"/><Relationship Id="rId1" Type="http://schemas.openxmlformats.org/officeDocument/2006/relationships/slideLayout" Target="../slideLayouts/slideLayout10.xml"/><Relationship Id="rId6" Type="http://schemas.openxmlformats.org/officeDocument/2006/relationships/image" Target="../media/image14.jpg"/><Relationship Id="rId5" Type="http://schemas.openxmlformats.org/officeDocument/2006/relationships/image" Target="../media/image13.jpg"/><Relationship Id="rId4" Type="http://schemas.openxmlformats.org/officeDocument/2006/relationships/image" Target="../media/image12.jpg"/></Relationships>
</file>

<file path=ppt/slides/_rels/slide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4.xml"/><Relationship Id="rId4" Type="http://schemas.openxmlformats.org/officeDocument/2006/relationships/image" Target="../media/image24.png"/></Relationships>
</file>

<file path=ppt/slides/_rels/slide11.xml.rels><?xml version="1.0" encoding="UTF-8" standalone="yes"?>
<Relationships xmlns="http://schemas.openxmlformats.org/package/2006/relationships"><Relationship Id="rId2" Type="http://schemas.openxmlformats.org/officeDocument/2006/relationships/hyperlink" Target="mailto:ebencomo@magaya.com" TargetMode="Externa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p:cNvGrpSpPr/>
          <p:nvPr/>
        </p:nvGrpSpPr>
        <p:grpSpPr>
          <a:xfrm>
            <a:off x="461615" y="4231215"/>
            <a:ext cx="4765494" cy="2031130"/>
            <a:chOff x="543783" y="3835429"/>
            <a:chExt cx="5613764" cy="2392677"/>
          </a:xfrm>
        </p:grpSpPr>
        <p:sp>
          <p:nvSpPr>
            <p:cNvPr id="2" name="TextBox 1">
              <a:extLst>
                <a:ext uri="{FF2B5EF4-FFF2-40B4-BE49-F238E27FC236}">
                  <a16:creationId xmlns:a16="http://schemas.microsoft.com/office/drawing/2014/main" id="{014CCD8E-906E-42FC-A29D-1F8B0D89206F}"/>
                </a:ext>
              </a:extLst>
            </p:cNvPr>
            <p:cNvSpPr txBox="1"/>
            <p:nvPr/>
          </p:nvSpPr>
          <p:spPr>
            <a:xfrm>
              <a:off x="543783" y="3835429"/>
              <a:ext cx="5613764" cy="1563019"/>
            </a:xfrm>
            <a:prstGeom prst="rect">
              <a:avLst/>
            </a:prstGeom>
            <a:noFill/>
          </p:spPr>
          <p:txBody>
            <a:bodyPr wrap="square" rtlCol="0">
              <a:spAutoFit/>
            </a:bodyPr>
            <a:lstStyle/>
            <a:p>
              <a:pPr>
                <a:lnSpc>
                  <a:spcPct val="90000"/>
                </a:lnSpc>
              </a:pPr>
              <a:r>
                <a:rPr lang="en-US" sz="3311" b="1" dirty="0">
                  <a:solidFill>
                    <a:srgbClr val="001691"/>
                  </a:solidFill>
                  <a:latin typeface="Montserrat" panose="00000500000000000000" pitchFamily="50" charset="0"/>
                </a:rPr>
                <a:t>MOVING FREIGHT</a:t>
              </a:r>
            </a:p>
            <a:p>
              <a:pPr>
                <a:lnSpc>
                  <a:spcPct val="90000"/>
                </a:lnSpc>
              </a:pPr>
              <a:r>
                <a:rPr lang="en-US" sz="5603" b="1" i="1" dirty="0">
                  <a:solidFill>
                    <a:srgbClr val="09A1FF"/>
                  </a:solidFill>
                  <a:latin typeface="Montserrat" panose="00000500000000000000" pitchFamily="50" charset="0"/>
                </a:rPr>
                <a:t>FORWARD</a:t>
              </a:r>
              <a:endParaRPr lang="en-CA" sz="5603" b="1" i="1" dirty="0">
                <a:solidFill>
                  <a:srgbClr val="09A1FF"/>
                </a:solidFill>
                <a:latin typeface="Montserrat" panose="00000500000000000000" pitchFamily="50" charset="0"/>
              </a:endParaRPr>
            </a:p>
          </p:txBody>
        </p:sp>
        <p:cxnSp>
          <p:nvCxnSpPr>
            <p:cNvPr id="3" name="Straight Connector 2">
              <a:extLst>
                <a:ext uri="{FF2B5EF4-FFF2-40B4-BE49-F238E27FC236}">
                  <a16:creationId xmlns:a16="http://schemas.microsoft.com/office/drawing/2014/main" id="{EE76ED82-4748-C5F2-D617-B3D874AF7DD6}"/>
                </a:ext>
              </a:extLst>
            </p:cNvPr>
            <p:cNvCxnSpPr>
              <a:cxnSpLocks/>
            </p:cNvCxnSpPr>
            <p:nvPr/>
          </p:nvCxnSpPr>
          <p:spPr>
            <a:xfrm>
              <a:off x="640080" y="5363192"/>
              <a:ext cx="4892040"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91064B10-5E3C-D3D7-2530-AD4D534E8B0E}"/>
                </a:ext>
              </a:extLst>
            </p:cNvPr>
            <p:cNvSpPr txBox="1"/>
            <p:nvPr/>
          </p:nvSpPr>
          <p:spPr>
            <a:xfrm>
              <a:off x="555505" y="5503738"/>
              <a:ext cx="5328625" cy="724368"/>
            </a:xfrm>
            <a:prstGeom prst="rect">
              <a:avLst/>
            </a:prstGeom>
            <a:noFill/>
          </p:spPr>
          <p:txBody>
            <a:bodyPr wrap="square" rtlCol="0">
              <a:spAutoFit/>
            </a:bodyPr>
            <a:lstStyle/>
            <a:p>
              <a:pPr algn="l" fontAlgn="base"/>
              <a:r>
                <a:rPr lang="en-CA" sz="1698" b="1" dirty="0">
                  <a:solidFill>
                    <a:srgbClr val="424242"/>
                  </a:solidFill>
                  <a:latin typeface="Montserrat SemiBold" pitchFamily="2" charset="77"/>
                </a:rPr>
                <a:t>The </a:t>
              </a:r>
              <a:r>
                <a:rPr lang="en-CA" sz="1698" b="1" dirty="0">
                  <a:solidFill>
                    <a:srgbClr val="09A1FF"/>
                  </a:solidFill>
                  <a:latin typeface="Montserrat SemiBold" pitchFamily="2" charset="77"/>
                </a:rPr>
                <a:t>#1 Freight Management Platform </a:t>
              </a:r>
              <a:br>
                <a:rPr lang="en-CA" sz="1698" b="1" dirty="0">
                  <a:solidFill>
                    <a:srgbClr val="09A1FF"/>
                  </a:solidFill>
                  <a:latin typeface="Montserrat SemiBold" pitchFamily="2" charset="77"/>
                </a:rPr>
              </a:br>
              <a:r>
                <a:rPr lang="en-CA" sz="1698" b="1" dirty="0">
                  <a:solidFill>
                    <a:srgbClr val="424242"/>
                  </a:solidFill>
                  <a:latin typeface="Montserrat SemiBold" pitchFamily="2" charset="77"/>
                </a:rPr>
                <a:t>for Logistics Service Providers</a:t>
              </a:r>
            </a:p>
          </p:txBody>
        </p:sp>
      </p:grpSp>
      <p:pic>
        <p:nvPicPr>
          <p:cNvPr id="2050" name="Picture 2" descr="Magaya Digital Freight Platform">
            <a:extLst>
              <a:ext uri="{FF2B5EF4-FFF2-40B4-BE49-F238E27FC236}">
                <a16:creationId xmlns:a16="http://schemas.microsoft.com/office/drawing/2014/main" id="{BCF9C40B-D723-9B15-B573-CD5A56BF5AE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27109" y="2122332"/>
            <a:ext cx="4765494" cy="24304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833683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0CA98CF-7024-0E4C-B9D0-B934DCC8FE4C}"/>
              </a:ext>
            </a:extLst>
          </p:cNvPr>
          <p:cNvSpPr/>
          <p:nvPr/>
        </p:nvSpPr>
        <p:spPr>
          <a:xfrm>
            <a:off x="1" y="1361157"/>
            <a:ext cx="10363200" cy="588751"/>
          </a:xfrm>
          <a:prstGeom prst="rect">
            <a:avLst/>
          </a:prstGeom>
        </p:spPr>
        <p:txBody>
          <a:bodyPr wrap="square">
            <a:spAutoFit/>
          </a:bodyPr>
          <a:lstStyle/>
          <a:p>
            <a:pPr algn="ctr"/>
            <a:r>
              <a:rPr lang="en-US" sz="3226" b="1" dirty="0">
                <a:solidFill>
                  <a:srgbClr val="001691"/>
                </a:solidFill>
                <a:latin typeface="Montserrat" panose="00000500000000000000" pitchFamily="2" charset="0"/>
                <a:ea typeface="Helvetica Neue UltraLight" panose="02000206000000020004" pitchFamily="2" charset="0"/>
                <a:cs typeface="Helvetica Neue" panose="02000503000000020004" pitchFamily="2" charset="0"/>
              </a:rPr>
              <a:t>INDUSTRIES </a:t>
            </a:r>
            <a:r>
              <a:rPr lang="en-US" sz="3226" b="1" dirty="0">
                <a:solidFill>
                  <a:srgbClr val="09A1FF"/>
                </a:solidFill>
                <a:latin typeface="Montserrat" panose="00000500000000000000" pitchFamily="2" charset="0"/>
                <a:ea typeface="Helvetica Neue UltraLight" panose="02000206000000020004" pitchFamily="2" charset="0"/>
                <a:cs typeface="Helvetica Neue" panose="02000503000000020004" pitchFamily="2" charset="0"/>
              </a:rPr>
              <a:t>WE SERVE</a:t>
            </a:r>
          </a:p>
        </p:txBody>
      </p:sp>
      <p:grpSp>
        <p:nvGrpSpPr>
          <p:cNvPr id="21" name="Group 20"/>
          <p:cNvGrpSpPr/>
          <p:nvPr/>
        </p:nvGrpSpPr>
        <p:grpSpPr>
          <a:xfrm>
            <a:off x="778203" y="2174669"/>
            <a:ext cx="8826177" cy="3985626"/>
            <a:chOff x="916725" y="1412812"/>
            <a:chExt cx="10397258" cy="4695077"/>
          </a:xfrm>
        </p:grpSpPr>
        <p:grpSp>
          <p:nvGrpSpPr>
            <p:cNvPr id="15" name="Group 14"/>
            <p:cNvGrpSpPr/>
            <p:nvPr/>
          </p:nvGrpSpPr>
          <p:grpSpPr>
            <a:xfrm>
              <a:off x="916726" y="1412812"/>
              <a:ext cx="3343684" cy="2265345"/>
              <a:chOff x="916726" y="1412812"/>
              <a:chExt cx="3343684" cy="2265345"/>
            </a:xfrm>
          </p:grpSpPr>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16727" y="1412812"/>
                <a:ext cx="3343683" cy="2265345"/>
              </a:xfrm>
              <a:prstGeom prst="rect">
                <a:avLst/>
              </a:prstGeom>
            </p:spPr>
          </p:pic>
          <p:sp>
            <p:nvSpPr>
              <p:cNvPr id="9" name="Rectangle 8"/>
              <p:cNvSpPr/>
              <p:nvPr/>
            </p:nvSpPr>
            <p:spPr>
              <a:xfrm>
                <a:off x="916726" y="3111229"/>
                <a:ext cx="3343683" cy="566928"/>
              </a:xfrm>
              <a:prstGeom prst="rect">
                <a:avLst/>
              </a:prstGeom>
              <a:solidFill>
                <a:srgbClr val="000066">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28" b="1" dirty="0">
                    <a:latin typeface="Montserrat" panose="00000500000000000000" pitchFamily="50" charset="0"/>
                  </a:rPr>
                  <a:t>FREIGHT FORWARDING</a:t>
                </a:r>
                <a:endParaRPr lang="en-CA" sz="1528" b="1" dirty="0">
                  <a:latin typeface="Montserrat" panose="00000500000000000000" pitchFamily="50" charset="0"/>
                </a:endParaRPr>
              </a:p>
            </p:txBody>
          </p:sp>
        </p:grpSp>
        <p:grpSp>
          <p:nvGrpSpPr>
            <p:cNvPr id="18" name="Group 17"/>
            <p:cNvGrpSpPr/>
            <p:nvPr/>
          </p:nvGrpSpPr>
          <p:grpSpPr>
            <a:xfrm>
              <a:off x="916725" y="3842543"/>
              <a:ext cx="3343685" cy="2265346"/>
              <a:chOff x="916725" y="3842543"/>
              <a:chExt cx="3343685" cy="2265346"/>
            </a:xfrm>
          </p:grpSpPr>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16727" y="3842543"/>
                <a:ext cx="3343683" cy="2265346"/>
              </a:xfrm>
              <a:prstGeom prst="rect">
                <a:avLst/>
              </a:prstGeom>
            </p:spPr>
          </p:pic>
          <p:sp>
            <p:nvSpPr>
              <p:cNvPr id="10" name="Rectangle 9"/>
              <p:cNvSpPr/>
              <p:nvPr/>
            </p:nvSpPr>
            <p:spPr>
              <a:xfrm>
                <a:off x="916725" y="5538944"/>
                <a:ext cx="3343683" cy="568945"/>
              </a:xfrm>
              <a:prstGeom prst="rect">
                <a:avLst/>
              </a:prstGeom>
              <a:solidFill>
                <a:srgbClr val="000066">
                  <a:alpha val="5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28" b="1" dirty="0">
                    <a:latin typeface="Montserrat" panose="00000500000000000000" pitchFamily="50" charset="0"/>
                  </a:rPr>
                  <a:t>WAREHOUSE</a:t>
                </a:r>
                <a:endParaRPr lang="en-CA" sz="1528" b="1" dirty="0">
                  <a:latin typeface="Montserrat" panose="00000500000000000000" pitchFamily="50" charset="0"/>
                </a:endParaRPr>
              </a:p>
            </p:txBody>
          </p:sp>
        </p:grpSp>
        <p:grpSp>
          <p:nvGrpSpPr>
            <p:cNvPr id="16" name="Group 15"/>
            <p:cNvGrpSpPr/>
            <p:nvPr/>
          </p:nvGrpSpPr>
          <p:grpSpPr>
            <a:xfrm>
              <a:off x="4440764" y="1412812"/>
              <a:ext cx="3343685" cy="2265345"/>
              <a:chOff x="4440764" y="1412812"/>
              <a:chExt cx="3343685" cy="2265345"/>
            </a:xfrm>
          </p:grpSpPr>
          <p:pic>
            <p:nvPicPr>
              <p:cNvPr id="4" name="Picture 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440764" y="1412812"/>
                <a:ext cx="3343682" cy="2265345"/>
              </a:xfrm>
              <a:prstGeom prst="rect">
                <a:avLst/>
              </a:prstGeom>
            </p:spPr>
          </p:pic>
          <p:sp>
            <p:nvSpPr>
              <p:cNvPr id="11" name="Rectangle 10"/>
              <p:cNvSpPr/>
              <p:nvPr/>
            </p:nvSpPr>
            <p:spPr>
              <a:xfrm>
                <a:off x="4440766" y="3111229"/>
                <a:ext cx="3343683" cy="566928"/>
              </a:xfrm>
              <a:prstGeom prst="rect">
                <a:avLst/>
              </a:prstGeom>
              <a:solidFill>
                <a:srgbClr val="000066">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28" b="1" dirty="0">
                    <a:latin typeface="Montserrat" panose="00000500000000000000" pitchFamily="50" charset="0"/>
                  </a:rPr>
                  <a:t>3PL</a:t>
                </a:r>
                <a:endParaRPr lang="en-CA" sz="1528" b="1" dirty="0">
                  <a:latin typeface="Montserrat" panose="00000500000000000000" pitchFamily="50" charset="0"/>
                </a:endParaRPr>
              </a:p>
            </p:txBody>
          </p:sp>
        </p:grpSp>
        <p:grpSp>
          <p:nvGrpSpPr>
            <p:cNvPr id="19" name="Group 18"/>
            <p:cNvGrpSpPr/>
            <p:nvPr/>
          </p:nvGrpSpPr>
          <p:grpSpPr>
            <a:xfrm>
              <a:off x="4440765" y="3842543"/>
              <a:ext cx="3343684" cy="2265346"/>
              <a:chOff x="4440765" y="3842543"/>
              <a:chExt cx="3343684" cy="2265346"/>
            </a:xfrm>
          </p:grpSpPr>
          <p:pic>
            <p:nvPicPr>
              <p:cNvPr id="7" name="Picture 6"/>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440765" y="3842543"/>
                <a:ext cx="3343684" cy="2265346"/>
              </a:xfrm>
              <a:prstGeom prst="rect">
                <a:avLst/>
              </a:prstGeom>
            </p:spPr>
          </p:pic>
          <p:sp>
            <p:nvSpPr>
              <p:cNvPr id="12" name="Rectangle 11"/>
              <p:cNvSpPr/>
              <p:nvPr/>
            </p:nvSpPr>
            <p:spPr>
              <a:xfrm>
                <a:off x="4440766" y="5538944"/>
                <a:ext cx="3343683" cy="568945"/>
              </a:xfrm>
              <a:prstGeom prst="rect">
                <a:avLst/>
              </a:prstGeom>
              <a:solidFill>
                <a:srgbClr val="000066">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28" b="1" dirty="0">
                    <a:latin typeface="Montserrat" panose="00000500000000000000" pitchFamily="50" charset="0"/>
                  </a:rPr>
                  <a:t>COURIER</a:t>
                </a:r>
                <a:endParaRPr lang="en-CA" sz="1528" b="1" dirty="0">
                  <a:latin typeface="Montserrat" panose="00000500000000000000" pitchFamily="50" charset="0"/>
                </a:endParaRPr>
              </a:p>
            </p:txBody>
          </p:sp>
        </p:grpSp>
        <p:grpSp>
          <p:nvGrpSpPr>
            <p:cNvPr id="17" name="Group 16"/>
            <p:cNvGrpSpPr/>
            <p:nvPr/>
          </p:nvGrpSpPr>
          <p:grpSpPr>
            <a:xfrm>
              <a:off x="7964800" y="1412812"/>
              <a:ext cx="3349183" cy="2265345"/>
              <a:chOff x="7964800" y="1412812"/>
              <a:chExt cx="3349183" cy="2265345"/>
            </a:xfrm>
          </p:grpSpPr>
          <p:pic>
            <p:nvPicPr>
              <p:cNvPr id="5" name="Picture 4"/>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964800" y="1412812"/>
                <a:ext cx="3343682" cy="2265345"/>
              </a:xfrm>
              <a:prstGeom prst="rect">
                <a:avLst/>
              </a:prstGeom>
            </p:spPr>
          </p:pic>
          <p:sp>
            <p:nvSpPr>
              <p:cNvPr id="13" name="Rectangle 12"/>
              <p:cNvSpPr/>
              <p:nvPr/>
            </p:nvSpPr>
            <p:spPr>
              <a:xfrm>
                <a:off x="7970300" y="3111229"/>
                <a:ext cx="3343683" cy="566928"/>
              </a:xfrm>
              <a:prstGeom prst="rect">
                <a:avLst/>
              </a:prstGeom>
              <a:solidFill>
                <a:srgbClr val="000066">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28" b="1" dirty="0">
                    <a:latin typeface="Montserrat" panose="00000500000000000000" pitchFamily="50" charset="0"/>
                  </a:rPr>
                  <a:t>NVOCC</a:t>
                </a:r>
                <a:endParaRPr lang="en-CA" sz="1528" b="1" dirty="0">
                  <a:latin typeface="Montserrat" panose="00000500000000000000" pitchFamily="50" charset="0"/>
                </a:endParaRPr>
              </a:p>
            </p:txBody>
          </p:sp>
        </p:grpSp>
        <p:grpSp>
          <p:nvGrpSpPr>
            <p:cNvPr id="20" name="Group 19"/>
            <p:cNvGrpSpPr/>
            <p:nvPr/>
          </p:nvGrpSpPr>
          <p:grpSpPr>
            <a:xfrm>
              <a:off x="7970300" y="3846271"/>
              <a:ext cx="3343683" cy="2261618"/>
              <a:chOff x="7970300" y="3846271"/>
              <a:chExt cx="3343683" cy="2261618"/>
            </a:xfrm>
          </p:grpSpPr>
          <p:pic>
            <p:nvPicPr>
              <p:cNvPr id="8" name="Picture 7"/>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7970300" y="3846271"/>
                <a:ext cx="3338182" cy="2261618"/>
              </a:xfrm>
              <a:prstGeom prst="rect">
                <a:avLst/>
              </a:prstGeom>
            </p:spPr>
          </p:pic>
          <p:sp>
            <p:nvSpPr>
              <p:cNvPr id="14" name="Rectangle 13"/>
              <p:cNvSpPr/>
              <p:nvPr/>
            </p:nvSpPr>
            <p:spPr>
              <a:xfrm>
                <a:off x="7970300" y="5538944"/>
                <a:ext cx="3343683" cy="568945"/>
              </a:xfrm>
              <a:prstGeom prst="rect">
                <a:avLst/>
              </a:prstGeom>
              <a:solidFill>
                <a:srgbClr val="000066">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28" b="1" dirty="0">
                    <a:latin typeface="Montserrat" panose="00000500000000000000" pitchFamily="50" charset="0"/>
                  </a:rPr>
                  <a:t>CUSTOMS BROKERAGE</a:t>
                </a:r>
                <a:endParaRPr lang="en-CA" sz="1528" b="1" dirty="0">
                  <a:latin typeface="Montserrat" panose="00000500000000000000" pitchFamily="50" charset="0"/>
                </a:endParaRPr>
              </a:p>
            </p:txBody>
          </p:sp>
        </p:grpSp>
      </p:grpSp>
    </p:spTree>
    <p:extLst>
      <p:ext uri="{BB962C8B-B14F-4D97-AF65-F5344CB8AC3E}">
        <p14:creationId xmlns:p14="http://schemas.microsoft.com/office/powerpoint/2010/main" val="23871197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0CA98CF-7024-0E4C-B9D0-B934DCC8FE4C}"/>
              </a:ext>
            </a:extLst>
          </p:cNvPr>
          <p:cNvSpPr/>
          <p:nvPr/>
        </p:nvSpPr>
        <p:spPr>
          <a:xfrm>
            <a:off x="330168" y="3331984"/>
            <a:ext cx="3276459" cy="1085169"/>
          </a:xfrm>
          <a:prstGeom prst="rect">
            <a:avLst/>
          </a:prstGeom>
        </p:spPr>
        <p:txBody>
          <a:bodyPr wrap="square">
            <a:spAutoFit/>
          </a:bodyPr>
          <a:lstStyle/>
          <a:p>
            <a:r>
              <a:rPr lang="en-US" sz="3226" b="1" dirty="0">
                <a:solidFill>
                  <a:srgbClr val="001691"/>
                </a:solidFill>
                <a:latin typeface="Montserrat" panose="00000500000000000000" pitchFamily="2" charset="0"/>
                <a:ea typeface="Helvetica Neue UltraLight" panose="02000206000000020004" pitchFamily="2" charset="0"/>
                <a:cs typeface="Helvetica Neue" panose="02000503000000020004" pitchFamily="2" charset="0"/>
              </a:rPr>
              <a:t>THE MAGAYA </a:t>
            </a:r>
            <a:r>
              <a:rPr lang="en-US" sz="3226" b="1" dirty="0">
                <a:solidFill>
                  <a:srgbClr val="09A1FF"/>
                </a:solidFill>
                <a:latin typeface="Montserrat" panose="00000500000000000000" pitchFamily="2" charset="0"/>
                <a:ea typeface="Helvetica Neue UltraLight" panose="02000206000000020004" pitchFamily="2" charset="0"/>
                <a:cs typeface="Helvetica Neue" panose="02000503000000020004" pitchFamily="2" charset="0"/>
              </a:rPr>
              <a:t>DIFFERENCE</a:t>
            </a:r>
          </a:p>
        </p:txBody>
      </p:sp>
      <p:sp>
        <p:nvSpPr>
          <p:cNvPr id="11" name="Rectangle 10">
            <a:extLst>
              <a:ext uri="{FF2B5EF4-FFF2-40B4-BE49-F238E27FC236}">
                <a16:creationId xmlns:a16="http://schemas.microsoft.com/office/drawing/2014/main" id="{9E884C6D-5BC4-5C4B-9B86-B2D0803841FF}"/>
              </a:ext>
            </a:extLst>
          </p:cNvPr>
          <p:cNvSpPr/>
          <p:nvPr/>
        </p:nvSpPr>
        <p:spPr>
          <a:xfrm>
            <a:off x="4149593" y="1563104"/>
            <a:ext cx="6091244" cy="4621201"/>
          </a:xfrm>
          <a:prstGeom prst="rect">
            <a:avLst/>
          </a:prstGeom>
        </p:spPr>
        <p:txBody>
          <a:bodyPr wrap="square">
            <a:spAutoFit/>
          </a:bodyPr>
          <a:lstStyle/>
          <a:p>
            <a:pPr fontAlgn="base">
              <a:lnSpc>
                <a:spcPct val="120000"/>
              </a:lnSpc>
            </a:pPr>
            <a:r>
              <a:rPr lang="en-US" sz="1528" b="1" dirty="0">
                <a:solidFill>
                  <a:srgbClr val="001691"/>
                </a:solidFill>
                <a:latin typeface="Montserrat" panose="00000500000000000000" pitchFamily="50" charset="0"/>
                <a:ea typeface="Open Sans" panose="020B0606030504020204" pitchFamily="34" charset="0"/>
                <a:cs typeface="Open Sans" panose="020B0606030504020204" pitchFamily="34" charset="0"/>
              </a:rPr>
              <a:t>UNIFIED SHIPPING &amp; WAREHOUSING FOR SEAMLESS OPERATIONS​</a:t>
            </a:r>
          </a:p>
          <a:p>
            <a:pPr fontAlgn="base">
              <a:lnSpc>
                <a:spcPct val="120000"/>
              </a:lnSpc>
            </a:pPr>
            <a:r>
              <a:rPr lang="en-US" sz="1188" dirty="0">
                <a:solidFill>
                  <a:srgbClr val="383B48"/>
                </a:solidFill>
                <a:latin typeface="Open Sans" panose="020B0606030504020204" pitchFamily="34" charset="0"/>
                <a:ea typeface="Open Sans" panose="020B0606030504020204" pitchFamily="34" charset="0"/>
                <a:cs typeface="Open Sans" panose="020B0606030504020204" pitchFamily="34" charset="0"/>
              </a:rPr>
              <a:t>Manage freight, warehousing, and distribution in a single platform, eliminating silos and inefficiencies. </a:t>
            </a:r>
          </a:p>
          <a:p>
            <a:pPr fontAlgn="base">
              <a:lnSpc>
                <a:spcPct val="120000"/>
              </a:lnSpc>
            </a:pPr>
            <a:endParaRPr lang="en-US" sz="1188" dirty="0">
              <a:solidFill>
                <a:srgbClr val="383B48"/>
              </a:solidFill>
              <a:latin typeface="Open Sans" panose="020B0606030504020204" pitchFamily="34" charset="0"/>
              <a:ea typeface="Open Sans" panose="020B0606030504020204" pitchFamily="34" charset="0"/>
              <a:cs typeface="Open Sans" panose="020B0606030504020204" pitchFamily="34" charset="0"/>
            </a:endParaRPr>
          </a:p>
          <a:p>
            <a:pPr fontAlgn="base">
              <a:lnSpc>
                <a:spcPct val="120000"/>
              </a:lnSpc>
            </a:pPr>
            <a:r>
              <a:rPr lang="en-US" sz="1528" b="1" dirty="0">
                <a:solidFill>
                  <a:srgbClr val="001691"/>
                </a:solidFill>
                <a:latin typeface="Montserrat" panose="00000500000000000000" pitchFamily="50" charset="0"/>
                <a:ea typeface="Open Sans" panose="020B0606030504020204" pitchFamily="34" charset="0"/>
                <a:cs typeface="Open Sans" panose="020B0606030504020204" pitchFamily="34" charset="0"/>
              </a:rPr>
              <a:t>MODULAR PLATFORM THAT SCALES WITH YOU</a:t>
            </a:r>
            <a:r>
              <a:rPr lang="en-US" sz="1528" b="1" dirty="0">
                <a:solidFill>
                  <a:srgbClr val="09A1FF"/>
                </a:solidFill>
                <a:latin typeface="Montserrat" panose="00000500000000000000" pitchFamily="50" charset="0"/>
                <a:ea typeface="Open Sans" panose="020B0606030504020204" pitchFamily="34" charset="0"/>
                <a:cs typeface="Open Sans" panose="020B0606030504020204" pitchFamily="34" charset="0"/>
              </a:rPr>
              <a:t>​</a:t>
            </a:r>
          </a:p>
          <a:p>
            <a:pPr fontAlgn="base">
              <a:lnSpc>
                <a:spcPct val="120000"/>
              </a:lnSpc>
            </a:pPr>
            <a:r>
              <a:rPr lang="en-US" sz="1188" dirty="0">
                <a:solidFill>
                  <a:srgbClr val="383B48"/>
                </a:solidFill>
                <a:latin typeface="Open Sans" panose="020B0606030504020204" pitchFamily="34" charset="0"/>
                <a:ea typeface="Open Sans" panose="020B0606030504020204" pitchFamily="34" charset="0"/>
                <a:cs typeface="Open Sans" panose="020B0606030504020204" pitchFamily="34" charset="0"/>
              </a:rPr>
              <a:t>Start with what you need and expand as your business grows. </a:t>
            </a:r>
          </a:p>
          <a:p>
            <a:pPr fontAlgn="base">
              <a:lnSpc>
                <a:spcPct val="120000"/>
              </a:lnSpc>
            </a:pPr>
            <a:r>
              <a:rPr lang="en-US" sz="1188" dirty="0">
                <a:solidFill>
                  <a:srgbClr val="000000"/>
                </a:solidFill>
                <a:latin typeface="Open Sans" panose="020B0606030504020204" pitchFamily="34" charset="0"/>
                <a:ea typeface="Open Sans" panose="020B0606030504020204" pitchFamily="34" charset="0"/>
                <a:cs typeface="Open Sans" panose="020B0606030504020204" pitchFamily="34" charset="0"/>
              </a:rPr>
              <a:t>​</a:t>
            </a:r>
            <a:endParaRPr lang="en-US" sz="1019"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p>
            <a:pPr fontAlgn="base">
              <a:lnSpc>
                <a:spcPct val="120000"/>
              </a:lnSpc>
            </a:pPr>
            <a:r>
              <a:rPr lang="en-US" sz="1528" b="1" dirty="0">
                <a:solidFill>
                  <a:srgbClr val="001691"/>
                </a:solidFill>
                <a:latin typeface="Montserrat" panose="00000500000000000000" pitchFamily="50" charset="0"/>
                <a:ea typeface="Open Sans" panose="020B0606030504020204" pitchFamily="34" charset="0"/>
                <a:cs typeface="Open Sans" panose="020B0606030504020204" pitchFamily="34" charset="0"/>
              </a:rPr>
              <a:t>EASY INTEGRATION WITH ANY THIRD-PARTY SYSTEM</a:t>
            </a:r>
            <a:r>
              <a:rPr lang="en-US" sz="1528" b="1" dirty="0">
                <a:solidFill>
                  <a:srgbClr val="001691"/>
                </a:solidFill>
                <a:latin typeface="Montserrat SemiBold" pitchFamily="2" charset="77"/>
                <a:ea typeface="Open Sans" panose="020B0606030504020204" pitchFamily="34" charset="0"/>
                <a:cs typeface="Open Sans" panose="020B0606030504020204" pitchFamily="34" charset="0"/>
              </a:rPr>
              <a:t>​</a:t>
            </a:r>
          </a:p>
          <a:p>
            <a:pPr fontAlgn="base">
              <a:lnSpc>
                <a:spcPct val="120000"/>
              </a:lnSpc>
            </a:pPr>
            <a:r>
              <a:rPr lang="en-US" sz="1188" dirty="0">
                <a:solidFill>
                  <a:srgbClr val="383B48"/>
                </a:solidFill>
                <a:latin typeface="Open Sans" panose="020B0606030504020204" pitchFamily="34" charset="0"/>
                <a:ea typeface="Open Sans" panose="020B0606030504020204" pitchFamily="34" charset="0"/>
                <a:cs typeface="Open Sans" panose="020B0606030504020204" pitchFamily="34" charset="0"/>
              </a:rPr>
              <a:t>Connect effortlessly with ERPs, accounting software, e-commerce platforms, and more.</a:t>
            </a:r>
            <a:r>
              <a:rPr lang="en-US" sz="1188" dirty="0">
                <a:solidFill>
                  <a:srgbClr val="000000"/>
                </a:solidFill>
                <a:latin typeface="Open Sans" panose="020B0606030504020204" pitchFamily="34" charset="0"/>
                <a:ea typeface="Open Sans" panose="020B0606030504020204" pitchFamily="34" charset="0"/>
                <a:cs typeface="Open Sans" panose="020B0606030504020204" pitchFamily="34" charset="0"/>
              </a:rPr>
              <a:t>​</a:t>
            </a:r>
          </a:p>
          <a:p>
            <a:pPr fontAlgn="base">
              <a:lnSpc>
                <a:spcPct val="120000"/>
              </a:lnSpc>
            </a:pPr>
            <a:endParaRPr lang="en-US" sz="1188"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p>
            <a:pPr fontAlgn="base">
              <a:lnSpc>
                <a:spcPct val="120000"/>
              </a:lnSpc>
            </a:pPr>
            <a:r>
              <a:rPr lang="en-US" sz="1528" b="1" dirty="0">
                <a:solidFill>
                  <a:srgbClr val="001691"/>
                </a:solidFill>
                <a:latin typeface="Montserrat" panose="00000500000000000000" pitchFamily="50" charset="0"/>
                <a:ea typeface="Open Sans" panose="020B0606030504020204" pitchFamily="34" charset="0"/>
                <a:cs typeface="Open Sans" panose="020B0606030504020204" pitchFamily="34" charset="0"/>
              </a:rPr>
              <a:t>GLOBAL, BEST-IN-CLASS CUSTOMER SUPPORT​</a:t>
            </a:r>
          </a:p>
          <a:p>
            <a:pPr fontAlgn="base">
              <a:lnSpc>
                <a:spcPct val="120000"/>
              </a:lnSpc>
            </a:pPr>
            <a:r>
              <a:rPr lang="en-US" sz="1188" dirty="0">
                <a:solidFill>
                  <a:srgbClr val="383B48"/>
                </a:solidFill>
                <a:latin typeface="Open Sans" panose="020B0606030504020204" pitchFamily="34" charset="0"/>
                <a:ea typeface="Open Sans" panose="020B0606030504020204" pitchFamily="34" charset="0"/>
                <a:cs typeface="Open Sans" panose="020B0606030504020204" pitchFamily="34" charset="0"/>
              </a:rPr>
              <a:t>Wherever you operate, our world-class support team provides fast, expert assistance.</a:t>
            </a:r>
          </a:p>
          <a:p>
            <a:pPr fontAlgn="base">
              <a:lnSpc>
                <a:spcPct val="120000"/>
              </a:lnSpc>
            </a:pPr>
            <a:endParaRPr lang="en-US" sz="1188" dirty="0">
              <a:solidFill>
                <a:srgbClr val="383B48"/>
              </a:solidFill>
              <a:latin typeface="Open Sans" panose="020B0606030504020204" pitchFamily="34" charset="0"/>
              <a:ea typeface="Open Sans" panose="020B0606030504020204" pitchFamily="34" charset="0"/>
              <a:cs typeface="Open Sans" panose="020B0606030504020204" pitchFamily="34" charset="0"/>
            </a:endParaRPr>
          </a:p>
          <a:p>
            <a:pPr fontAlgn="base">
              <a:lnSpc>
                <a:spcPct val="120000"/>
              </a:lnSpc>
            </a:pPr>
            <a:r>
              <a:rPr lang="en-US" sz="1528" b="1" dirty="0">
                <a:solidFill>
                  <a:srgbClr val="001691"/>
                </a:solidFill>
                <a:latin typeface="Montserrat" panose="00000500000000000000" pitchFamily="50" charset="0"/>
                <a:ea typeface="Open Sans" panose="020B0606030504020204" pitchFamily="34" charset="0"/>
                <a:cs typeface="Open Sans" panose="020B0606030504020204" pitchFamily="34" charset="0"/>
              </a:rPr>
              <a:t>A CULTURE OF INNOVATION, EXCELLENCE, AND SERVICE​</a:t>
            </a:r>
          </a:p>
          <a:p>
            <a:pPr fontAlgn="base">
              <a:lnSpc>
                <a:spcPct val="120000"/>
              </a:lnSpc>
            </a:pPr>
            <a:r>
              <a:rPr lang="en-US" sz="1188" dirty="0">
                <a:solidFill>
                  <a:srgbClr val="383B48"/>
                </a:solidFill>
                <a:latin typeface="Open Sans" panose="020B0606030504020204" pitchFamily="34" charset="0"/>
                <a:ea typeface="Open Sans" panose="020B0606030504020204" pitchFamily="34" charset="0"/>
                <a:cs typeface="Open Sans" panose="020B0606030504020204" pitchFamily="34" charset="0"/>
              </a:rPr>
              <a:t>We’re committed to continuous improvement, customer success, and delivering innovative solutions that move freight forward.</a:t>
            </a:r>
            <a:endParaRPr lang="en-US" sz="1188"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p:txBody>
      </p:sp>
      <p:grpSp>
        <p:nvGrpSpPr>
          <p:cNvPr id="12" name="Group 11"/>
          <p:cNvGrpSpPr/>
          <p:nvPr/>
        </p:nvGrpSpPr>
        <p:grpSpPr>
          <a:xfrm>
            <a:off x="1285593" y="2058417"/>
            <a:ext cx="1103900" cy="1103900"/>
            <a:chOff x="5466438" y="1500065"/>
            <a:chExt cx="1300397" cy="1300397"/>
          </a:xfrm>
        </p:grpSpPr>
        <p:sp>
          <p:nvSpPr>
            <p:cNvPr id="13" name="Oval 12"/>
            <p:cNvSpPr/>
            <p:nvPr/>
          </p:nvSpPr>
          <p:spPr>
            <a:xfrm>
              <a:off x="5466438" y="1500065"/>
              <a:ext cx="1300397" cy="1300397"/>
            </a:xfrm>
            <a:prstGeom prst="ellipse">
              <a:avLst/>
            </a:prstGeom>
            <a:solidFill>
              <a:srgbClr val="00169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1528" dirty="0"/>
            </a:p>
          </p:txBody>
        </p:sp>
        <p:pic>
          <p:nvPicPr>
            <p:cNvPr id="14" name="Picture 1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690231" y="1718471"/>
              <a:ext cx="841248" cy="841248"/>
            </a:xfrm>
            <a:prstGeom prst="rect">
              <a:avLst/>
            </a:prstGeom>
          </p:spPr>
        </p:pic>
      </p:grpSp>
    </p:spTree>
    <p:extLst>
      <p:ext uri="{BB962C8B-B14F-4D97-AF65-F5344CB8AC3E}">
        <p14:creationId xmlns:p14="http://schemas.microsoft.com/office/powerpoint/2010/main" val="34799783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6">
            <a:extLst>
              <a:ext uri="{FF2B5EF4-FFF2-40B4-BE49-F238E27FC236}">
                <a16:creationId xmlns:a16="http://schemas.microsoft.com/office/drawing/2014/main" id="{C5CAA35D-3EA2-4183-CB5F-2CD1DAAA6E15}"/>
              </a:ext>
            </a:extLst>
          </p:cNvPr>
          <p:cNvSpPr txBox="1">
            <a:spLocks/>
          </p:cNvSpPr>
          <p:nvPr/>
        </p:nvSpPr>
        <p:spPr>
          <a:xfrm>
            <a:off x="0" y="2209800"/>
            <a:ext cx="10363200" cy="1490152"/>
          </a:xfrm>
          <a:prstGeom prst="rect">
            <a:avLst/>
          </a:prstGeom>
        </p:spPr>
        <p:txBody>
          <a:bodyPr vert="horz" wrap="square" lIns="0" tIns="12700" rIns="0" bIns="0" rtlCol="0">
            <a:spAutoFit/>
          </a:bodyPr>
          <a:lstStyle>
            <a:lvl1pPr>
              <a:defRPr>
                <a:latin typeface="+mj-lt"/>
                <a:ea typeface="+mj-ea"/>
                <a:cs typeface="+mj-cs"/>
              </a:defRPr>
            </a:lvl1pPr>
          </a:lstStyle>
          <a:p>
            <a:pPr algn="ctr"/>
            <a:r>
              <a:rPr lang="en-CA" sz="4800" b="1" dirty="0">
                <a:solidFill>
                  <a:srgbClr val="001691"/>
                </a:solidFill>
                <a:latin typeface="Montserrat" panose="00000500000000000000" pitchFamily="50" charset="0"/>
              </a:rPr>
              <a:t>MAGAYA </a:t>
            </a:r>
            <a:r>
              <a:rPr lang="en-CA" sz="4800" b="1" dirty="0">
                <a:solidFill>
                  <a:srgbClr val="09A1FF"/>
                </a:solidFill>
                <a:latin typeface="Montserrat" panose="00000500000000000000" pitchFamily="50" charset="0"/>
              </a:rPr>
              <a:t>SUPPLY CHAIN</a:t>
            </a:r>
            <a:br>
              <a:rPr lang="en-CA" sz="4800" b="1" dirty="0">
                <a:solidFill>
                  <a:srgbClr val="001691"/>
                </a:solidFill>
                <a:latin typeface="Montserrat" panose="00000500000000000000" pitchFamily="50" charset="0"/>
              </a:rPr>
            </a:br>
            <a:r>
              <a:rPr lang="en-CA" sz="4800" dirty="0">
                <a:solidFill>
                  <a:srgbClr val="383B48"/>
                </a:solidFill>
                <a:latin typeface="Montserrat" panose="00000500000000000000" pitchFamily="50" charset="0"/>
              </a:rPr>
              <a:t>Warehouse Ops</a:t>
            </a:r>
            <a:endParaRPr lang="en-US" sz="4800" kern="0" dirty="0">
              <a:solidFill>
                <a:srgbClr val="383B48"/>
              </a:solidFill>
              <a:latin typeface="Montserrat" panose="00000500000000000000" pitchFamily="50" charset="0"/>
            </a:endParaRPr>
          </a:p>
        </p:txBody>
      </p:sp>
      <p:pic>
        <p:nvPicPr>
          <p:cNvPr id="3" name="Picture 2">
            <a:extLst>
              <a:ext uri="{FF2B5EF4-FFF2-40B4-BE49-F238E27FC236}">
                <a16:creationId xmlns:a16="http://schemas.microsoft.com/office/drawing/2014/main" id="{453EBC88-A032-C4DA-72E6-7C5DA34D41B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048000" y="4087108"/>
            <a:ext cx="4267200" cy="2451507"/>
          </a:xfrm>
          <a:prstGeom prst="rect">
            <a:avLst/>
          </a:prstGeom>
        </p:spPr>
      </p:pic>
    </p:spTree>
    <p:extLst>
      <p:ext uri="{BB962C8B-B14F-4D97-AF65-F5344CB8AC3E}">
        <p14:creationId xmlns:p14="http://schemas.microsoft.com/office/powerpoint/2010/main" val="32935228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3547872" y="3429000"/>
            <a:ext cx="3218688" cy="3523445"/>
            <a:chOff x="3547872" y="3291840"/>
            <a:chExt cx="3218688" cy="4005072"/>
          </a:xfrm>
        </p:grpSpPr>
        <p:cxnSp>
          <p:nvCxnSpPr>
            <p:cNvPr id="3" name="Straight Connector 2"/>
            <p:cNvCxnSpPr/>
            <p:nvPr/>
          </p:nvCxnSpPr>
          <p:spPr>
            <a:xfrm>
              <a:off x="3547872" y="3291840"/>
              <a:ext cx="0" cy="4005072"/>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 name="Straight Connector 3"/>
            <p:cNvCxnSpPr/>
            <p:nvPr/>
          </p:nvCxnSpPr>
          <p:spPr>
            <a:xfrm>
              <a:off x="6766560" y="3291840"/>
              <a:ext cx="0" cy="4005072"/>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5" name="object 6"/>
          <p:cNvSpPr txBox="1">
            <a:spLocks/>
          </p:cNvSpPr>
          <p:nvPr/>
        </p:nvSpPr>
        <p:spPr>
          <a:xfrm>
            <a:off x="533400" y="320040"/>
            <a:ext cx="9296400" cy="751488"/>
          </a:xfrm>
          <a:prstGeom prst="rect">
            <a:avLst/>
          </a:prstGeom>
        </p:spPr>
        <p:txBody>
          <a:bodyPr vert="horz" wrap="square" lIns="0" tIns="12700" rIns="0" bIns="0" rtlCol="0">
            <a:spAutoFit/>
          </a:bodyPr>
          <a:lstStyle>
            <a:lvl1pPr>
              <a:defRPr>
                <a:latin typeface="+mj-lt"/>
                <a:ea typeface="+mj-ea"/>
                <a:cs typeface="+mj-cs"/>
              </a:defRPr>
            </a:lvl1pPr>
          </a:lstStyle>
          <a:p>
            <a:r>
              <a:rPr lang="en-CA" sz="3000" b="1" dirty="0">
                <a:solidFill>
                  <a:srgbClr val="001691"/>
                </a:solidFill>
                <a:latin typeface="Montserrat" panose="00000500000000000000" pitchFamily="50" charset="0"/>
              </a:rPr>
              <a:t>MAGAYA </a:t>
            </a:r>
            <a:r>
              <a:rPr lang="en-CA" sz="3000" b="1" dirty="0">
                <a:solidFill>
                  <a:srgbClr val="09A1FF"/>
                </a:solidFill>
                <a:latin typeface="Montserrat" panose="00000500000000000000" pitchFamily="50" charset="0"/>
              </a:rPr>
              <a:t>SUPPLY CHAIN</a:t>
            </a:r>
            <a:br>
              <a:rPr lang="en-CA" sz="2800" b="1" dirty="0">
                <a:solidFill>
                  <a:srgbClr val="001691"/>
                </a:solidFill>
                <a:latin typeface="Montserrat" panose="00000500000000000000" pitchFamily="50" charset="0"/>
              </a:rPr>
            </a:br>
            <a:r>
              <a:rPr lang="en-CA" dirty="0">
                <a:solidFill>
                  <a:srgbClr val="383B48"/>
                </a:solidFill>
                <a:latin typeface="Montserrat" panose="00000500000000000000" pitchFamily="50" charset="0"/>
              </a:rPr>
              <a:t>Warehousing Operations</a:t>
            </a:r>
            <a:endParaRPr lang="en-US" kern="0" dirty="0">
              <a:solidFill>
                <a:srgbClr val="383B48"/>
              </a:solidFill>
              <a:latin typeface="Montserrat" panose="00000500000000000000" pitchFamily="50" charset="0"/>
            </a:endParaRPr>
          </a:p>
        </p:txBody>
      </p:sp>
      <p:sp>
        <p:nvSpPr>
          <p:cNvPr id="6" name="object 4"/>
          <p:cNvSpPr txBox="1"/>
          <p:nvPr/>
        </p:nvSpPr>
        <p:spPr>
          <a:xfrm>
            <a:off x="533400" y="1584706"/>
            <a:ext cx="9296400" cy="459869"/>
          </a:xfrm>
          <a:prstGeom prst="rect">
            <a:avLst/>
          </a:prstGeom>
        </p:spPr>
        <p:txBody>
          <a:bodyPr vert="horz" wrap="square" lIns="0" tIns="0" rIns="0" bIns="0" rtlCol="0">
            <a:spAutoFit/>
          </a:bodyPr>
          <a:lstStyle/>
          <a:p>
            <a:pPr marR="5079">
              <a:lnSpc>
                <a:spcPct val="130000"/>
              </a:lnSpc>
            </a:pPr>
            <a:r>
              <a:rPr lang="en-US" sz="1200" spc="-20" dirty="0">
                <a:latin typeface="Open Sans" panose="020B0606030504020204" pitchFamily="34" charset="0"/>
                <a:ea typeface="Open Sans" panose="020B0606030504020204" pitchFamily="34" charset="0"/>
                <a:cs typeface="Open Sans" panose="020B0606030504020204" pitchFamily="34" charset="0"/>
              </a:rPr>
              <a:t>Optimize warehouse and distribution operations, manage </a:t>
            </a:r>
            <a:r>
              <a:rPr lang="en-US" sz="1200" spc="-20" dirty="0">
                <a:solidFill>
                  <a:srgbClr val="383B48"/>
                </a:solidFill>
                <a:latin typeface="Open Sans" panose="020B0606030504020204" pitchFamily="34" charset="0"/>
                <a:ea typeface="Open Sans" panose="020B0606030504020204" pitchFamily="34" charset="0"/>
                <a:cs typeface="Open Sans" panose="020B0606030504020204" pitchFamily="34" charset="0"/>
              </a:rPr>
              <a:t>sales orders, </a:t>
            </a:r>
            <a:r>
              <a:rPr lang="en-US" sz="1200" spc="-20" dirty="0">
                <a:latin typeface="Open Sans" panose="020B0606030504020204" pitchFamily="34" charset="0"/>
                <a:ea typeface="Open Sans" panose="020B0606030504020204" pitchFamily="34" charset="0"/>
                <a:cs typeface="Open Sans" panose="020B0606030504020204" pitchFamily="34" charset="0"/>
              </a:rPr>
              <a:t>track inventory, and oversee the aspects of the supply chain that happen before and after the warehouse.</a:t>
            </a:r>
          </a:p>
        </p:txBody>
      </p:sp>
      <p:sp>
        <p:nvSpPr>
          <p:cNvPr id="7" name="object 6"/>
          <p:cNvSpPr txBox="1">
            <a:spLocks/>
          </p:cNvSpPr>
          <p:nvPr/>
        </p:nvSpPr>
        <p:spPr>
          <a:xfrm>
            <a:off x="533400" y="2211130"/>
            <a:ext cx="9296400" cy="869469"/>
          </a:xfrm>
          <a:prstGeom prst="rect">
            <a:avLst/>
          </a:prstGeom>
        </p:spPr>
        <p:txBody>
          <a:bodyPr vert="horz" wrap="square" lIns="0" tIns="0" rIns="0" bIns="0" rtlCol="0">
            <a:spAutoFit/>
          </a:bodyPr>
          <a:lstStyle>
            <a:lvl1pPr>
              <a:defRPr>
                <a:latin typeface="+mj-lt"/>
                <a:ea typeface="+mj-ea"/>
                <a:cs typeface="+mj-cs"/>
              </a:defRPr>
            </a:lvl1pPr>
          </a:lstStyle>
          <a:p>
            <a:pPr>
              <a:spcAft>
                <a:spcPts val="300"/>
              </a:spcAft>
            </a:pPr>
            <a:r>
              <a:rPr lang="en-CA" sz="1600" b="1" dirty="0">
                <a:solidFill>
                  <a:srgbClr val="09A1FF"/>
                </a:solidFill>
                <a:latin typeface="Montserrat" panose="00000500000000000000" pitchFamily="50" charset="0"/>
              </a:rPr>
              <a:t>YOUR BENEFITS</a:t>
            </a:r>
          </a:p>
          <a:p>
            <a:pPr marL="171450" indent="-171450">
              <a:spcAft>
                <a:spcPts val="300"/>
              </a:spcAft>
              <a:buClr>
                <a:srgbClr val="09A1FF"/>
              </a:buClr>
              <a:buFont typeface="Arial" panose="020B0604020202020204" pitchFamily="34" charset="0"/>
              <a:buChar char="•"/>
            </a:pPr>
            <a:r>
              <a:rPr lang="en-US" sz="1100" spc="-5" dirty="0">
                <a:latin typeface="Open Sans" panose="020B0606030504020204" pitchFamily="34" charset="0"/>
                <a:cs typeface="Open Sans" panose="020B0606030504020204" pitchFamily="34" charset="0"/>
              </a:rPr>
              <a:t>Enable seamless workflows between warehousing and shipping, allowing cargo to be loaded directly to outbound shipments</a:t>
            </a:r>
          </a:p>
          <a:p>
            <a:pPr marL="171450" indent="-171450">
              <a:spcAft>
                <a:spcPts val="300"/>
              </a:spcAft>
              <a:buClr>
                <a:srgbClr val="09A1FF"/>
              </a:buClr>
              <a:buFont typeface="Arial" panose="020B0604020202020204" pitchFamily="34" charset="0"/>
              <a:buChar char="•"/>
            </a:pPr>
            <a:r>
              <a:rPr lang="en-US" sz="1100" spc="-5" dirty="0">
                <a:solidFill>
                  <a:srgbClr val="383B48"/>
                </a:solidFill>
                <a:latin typeface="Open Sans" panose="020B0606030504020204" pitchFamily="34" charset="0"/>
                <a:cs typeface="Open Sans" panose="020B0606030504020204" pitchFamily="34" charset="0"/>
              </a:rPr>
              <a:t>Optimize your warehouse productivity, enabling you to run a profitable warehouse without the expense of a third-party WMS solution</a:t>
            </a:r>
          </a:p>
          <a:p>
            <a:pPr marL="171450" indent="-171450">
              <a:spcAft>
                <a:spcPts val="300"/>
              </a:spcAft>
              <a:buClr>
                <a:srgbClr val="09A1FF"/>
              </a:buClr>
              <a:buFont typeface="Arial" panose="020B0604020202020204" pitchFamily="34" charset="0"/>
              <a:buChar char="•"/>
            </a:pPr>
            <a:r>
              <a:rPr lang="en-US" sz="1100" spc="-5" dirty="0">
                <a:latin typeface="Open Sans" panose="020B0606030504020204" pitchFamily="34" charset="0"/>
                <a:cs typeface="Open Sans" panose="020B0606030504020204" pitchFamily="34" charset="0"/>
              </a:rPr>
              <a:t>Easily send tracking numbers and inventory updates to the online sales channel the moment you ship the order</a:t>
            </a:r>
          </a:p>
        </p:txBody>
      </p:sp>
      <p:sp>
        <p:nvSpPr>
          <p:cNvPr id="8" name="object 9"/>
          <p:cNvSpPr txBox="1"/>
          <p:nvPr/>
        </p:nvSpPr>
        <p:spPr>
          <a:xfrm>
            <a:off x="533400" y="3489959"/>
            <a:ext cx="2895600" cy="3462486"/>
          </a:xfrm>
          <a:prstGeom prst="rect">
            <a:avLst/>
          </a:prstGeom>
        </p:spPr>
        <p:txBody>
          <a:bodyPr vert="horz" wrap="square" lIns="0" tIns="0" rIns="0" bIns="0" rtlCol="0">
            <a:spAutoFit/>
          </a:bodyPr>
          <a:lstStyle/>
          <a:p>
            <a:pPr>
              <a:spcAft>
                <a:spcPts val="600"/>
              </a:spcAft>
            </a:pPr>
            <a:r>
              <a:rPr lang="en-US" sz="1000" b="1" dirty="0">
                <a:solidFill>
                  <a:srgbClr val="001691"/>
                </a:solidFill>
                <a:latin typeface="Montserrat" panose="00000500000000000000" pitchFamily="50" charset="0"/>
                <a:cs typeface="Open Sans" panose="020B0606030504020204" pitchFamily="34" charset="0"/>
              </a:rPr>
              <a:t>WAREHOUSE RECEIPTS</a:t>
            </a:r>
          </a:p>
          <a:p>
            <a:pPr>
              <a:spcAft>
                <a:spcPts val="600"/>
              </a:spcAft>
            </a:pPr>
            <a:r>
              <a:rPr lang="en-US" sz="1000" dirty="0">
                <a:solidFill>
                  <a:srgbClr val="000000"/>
                </a:solidFill>
                <a:latin typeface="Open Sans" panose="020B0606030504020204" pitchFamily="34" charset="0"/>
                <a:cs typeface="Open Sans" panose="020B0606030504020204" pitchFamily="34" charset="0"/>
              </a:rPr>
              <a:t>Process on-hand cargo directly from quotes, bookings, pickup orders or inbound shipments.</a:t>
            </a:r>
          </a:p>
          <a:p>
            <a:r>
              <a:rPr lang="en-US" sz="1000" dirty="0">
                <a:solidFill>
                  <a:srgbClr val="000000"/>
                </a:solidFill>
                <a:latin typeface="Open Sans" panose="020B0606030504020204" pitchFamily="34" charset="0"/>
                <a:cs typeface="Open Sans" panose="020B0606030504020204" pitchFamily="34" charset="0"/>
              </a:rPr>
              <a:t>Leverage seamless workflows between warehousing and shipping which enables cargo to be loaded directly onto outbound shipment.</a:t>
            </a:r>
          </a:p>
          <a:p>
            <a:endParaRPr lang="en-US" sz="1000" dirty="0">
              <a:solidFill>
                <a:srgbClr val="000000"/>
              </a:solidFill>
              <a:latin typeface="Open Sans" panose="020B0606030504020204" pitchFamily="34" charset="0"/>
              <a:cs typeface="Open Sans" panose="020B0606030504020204" pitchFamily="34" charset="0"/>
            </a:endParaRPr>
          </a:p>
          <a:p>
            <a:pPr>
              <a:spcAft>
                <a:spcPts val="600"/>
              </a:spcAft>
            </a:pPr>
            <a:r>
              <a:rPr lang="en-US" sz="1000" b="1" dirty="0">
                <a:solidFill>
                  <a:srgbClr val="001691"/>
                </a:solidFill>
                <a:latin typeface="Montserrat" panose="00000500000000000000" pitchFamily="50" charset="0"/>
                <a:cs typeface="Open Sans" panose="020B0606030504020204" pitchFamily="34" charset="0"/>
              </a:rPr>
              <a:t>SALES ORDER MANAGEMENT</a:t>
            </a:r>
          </a:p>
          <a:p>
            <a:pPr>
              <a:spcAft>
                <a:spcPts val="600"/>
              </a:spcAft>
            </a:pPr>
            <a:r>
              <a:rPr lang="en-US" sz="1000" dirty="0">
                <a:solidFill>
                  <a:srgbClr val="000000"/>
                </a:solidFill>
                <a:latin typeface="Open Sans" panose="020B0606030504020204" pitchFamily="34" charset="0"/>
                <a:cs typeface="Open Sans" panose="020B0606030504020204" pitchFamily="34" charset="0"/>
              </a:rPr>
              <a:t>Create Sales Orders from Commerce Quotes.</a:t>
            </a:r>
          </a:p>
          <a:p>
            <a:pPr>
              <a:spcAft>
                <a:spcPts val="600"/>
              </a:spcAft>
            </a:pPr>
            <a:r>
              <a:rPr lang="en-US" sz="1000" dirty="0">
                <a:solidFill>
                  <a:srgbClr val="000000"/>
                </a:solidFill>
                <a:latin typeface="Open Sans" panose="020B0606030504020204" pitchFamily="34" charset="0"/>
                <a:cs typeface="Open Sans" panose="020B0606030504020204" pitchFamily="34" charset="0"/>
              </a:rPr>
              <a:t>Manage and create automated allocation rules.</a:t>
            </a:r>
          </a:p>
          <a:p>
            <a:r>
              <a:rPr lang="en-US" sz="1000" dirty="0">
                <a:solidFill>
                  <a:srgbClr val="000000"/>
                </a:solidFill>
                <a:latin typeface="Open Sans" panose="020B0606030504020204" pitchFamily="34" charset="0"/>
                <a:cs typeface="Open Sans" panose="020B0606030504020204" pitchFamily="34" charset="0"/>
              </a:rPr>
              <a:t>Create pricing rules and minimum price protection.</a:t>
            </a:r>
          </a:p>
          <a:p>
            <a:endParaRPr lang="en-US" sz="1000" dirty="0">
              <a:solidFill>
                <a:srgbClr val="000000"/>
              </a:solidFill>
              <a:latin typeface="Open Sans" panose="020B0606030504020204" pitchFamily="34" charset="0"/>
              <a:cs typeface="Open Sans" panose="020B0606030504020204" pitchFamily="34" charset="0"/>
            </a:endParaRPr>
          </a:p>
          <a:p>
            <a:pPr>
              <a:spcAft>
                <a:spcPts val="600"/>
              </a:spcAft>
            </a:pPr>
            <a:r>
              <a:rPr lang="en-US" sz="1000" b="1" dirty="0">
                <a:solidFill>
                  <a:srgbClr val="001691"/>
                </a:solidFill>
                <a:latin typeface="Montserrat" panose="00000500000000000000" pitchFamily="50" charset="0"/>
                <a:cs typeface="Open Sans" panose="020B0606030504020204" pitchFamily="34" charset="0"/>
              </a:rPr>
              <a:t>WAREHOUSE OPERATIONS</a:t>
            </a:r>
          </a:p>
          <a:p>
            <a:pPr>
              <a:spcAft>
                <a:spcPts val="600"/>
              </a:spcAft>
            </a:pPr>
            <a:r>
              <a:rPr lang="en-US" sz="1000" dirty="0">
                <a:solidFill>
                  <a:srgbClr val="000000"/>
                </a:solidFill>
                <a:latin typeface="Open Sans" panose="020B0606030504020204" pitchFamily="34" charset="0"/>
                <a:cs typeface="Open Sans" panose="020B0606030504020204" pitchFamily="34" charset="0"/>
              </a:rPr>
              <a:t>Access arrival and location of cargo, SKUs, serial numbers, lot numbers, and multiple stores.</a:t>
            </a:r>
          </a:p>
          <a:p>
            <a:pPr>
              <a:spcAft>
                <a:spcPts val="600"/>
              </a:spcAft>
            </a:pPr>
            <a:r>
              <a:rPr lang="en-US" sz="1000" dirty="0">
                <a:solidFill>
                  <a:srgbClr val="000000"/>
                </a:solidFill>
                <a:latin typeface="Open Sans" panose="020B0606030504020204" pitchFamily="34" charset="0"/>
                <a:cs typeface="Open Sans" panose="020B0606030504020204" pitchFamily="34" charset="0"/>
              </a:rPr>
              <a:t>Manage your workday more efficiently with insights into real-time inventory, orders, and more.</a:t>
            </a:r>
          </a:p>
        </p:txBody>
      </p:sp>
      <p:sp>
        <p:nvSpPr>
          <p:cNvPr id="9" name="object 9"/>
          <p:cNvSpPr txBox="1"/>
          <p:nvPr/>
        </p:nvSpPr>
        <p:spPr>
          <a:xfrm>
            <a:off x="3675888" y="3489959"/>
            <a:ext cx="3029712" cy="3231654"/>
          </a:xfrm>
          <a:prstGeom prst="rect">
            <a:avLst/>
          </a:prstGeom>
        </p:spPr>
        <p:txBody>
          <a:bodyPr vert="horz" wrap="square" lIns="0" tIns="0" rIns="0" bIns="0" rtlCol="0">
            <a:spAutoFit/>
          </a:bodyPr>
          <a:lstStyle/>
          <a:p>
            <a:pPr>
              <a:spcAft>
                <a:spcPts val="600"/>
              </a:spcAft>
            </a:pPr>
            <a:r>
              <a:rPr lang="en-US" sz="1000" b="1" dirty="0">
                <a:solidFill>
                  <a:srgbClr val="001691"/>
                </a:solidFill>
                <a:latin typeface="Montserrat" panose="00000500000000000000" pitchFamily="50" charset="0"/>
                <a:cs typeface="Open Sans" panose="020B0606030504020204" pitchFamily="34" charset="0"/>
              </a:rPr>
              <a:t>SMART WAREHOUSE</a:t>
            </a:r>
          </a:p>
          <a:p>
            <a:pPr>
              <a:spcAft>
                <a:spcPts val="600"/>
              </a:spcAft>
            </a:pPr>
            <a:r>
              <a:rPr lang="en-US" sz="1000" dirty="0">
                <a:solidFill>
                  <a:srgbClr val="000000"/>
                </a:solidFill>
                <a:latin typeface="Open Sans" panose="020B0606030504020204" pitchFamily="34" charset="0"/>
                <a:cs typeface="Open Sans" panose="020B0606030504020204" pitchFamily="34" charset="0"/>
              </a:rPr>
              <a:t>Manage inventory by part numbers, serial numbers, lot numbers, expiration dates.</a:t>
            </a:r>
          </a:p>
          <a:p>
            <a:pPr>
              <a:spcAft>
                <a:spcPts val="600"/>
              </a:spcAft>
            </a:pPr>
            <a:r>
              <a:rPr lang="en-US" sz="1000" dirty="0">
                <a:solidFill>
                  <a:srgbClr val="000000"/>
                </a:solidFill>
                <a:latin typeface="Open Sans" panose="020B0606030504020204" pitchFamily="34" charset="0"/>
                <a:cs typeface="Open Sans" panose="020B0606030504020204" pitchFamily="34" charset="0"/>
              </a:rPr>
              <a:t>Access inventory queue types supported: FIFO, LIFO, FEFO, LEFO.</a:t>
            </a:r>
          </a:p>
          <a:p>
            <a:pPr>
              <a:spcAft>
                <a:spcPts val="600"/>
              </a:spcAft>
            </a:pPr>
            <a:r>
              <a:rPr lang="en-US" sz="1000" dirty="0">
                <a:solidFill>
                  <a:srgbClr val="000000"/>
                </a:solidFill>
                <a:latin typeface="Open Sans" panose="020B0606030504020204" pitchFamily="34" charset="0"/>
                <a:cs typeface="Open Sans" panose="020B0606030504020204" pitchFamily="34" charset="0"/>
              </a:rPr>
              <a:t>Direct the operators to the right locations in the warehouse using pick and put-away sequences.</a:t>
            </a:r>
          </a:p>
          <a:p>
            <a:pPr>
              <a:spcAft>
                <a:spcPts val="600"/>
              </a:spcAft>
            </a:pPr>
            <a:r>
              <a:rPr lang="en-US" sz="1000" dirty="0">
                <a:solidFill>
                  <a:srgbClr val="000000"/>
                </a:solidFill>
                <a:latin typeface="Open Sans" panose="020B0606030504020204" pitchFamily="34" charset="0"/>
                <a:cs typeface="Open Sans" panose="020B0606030504020204" pitchFamily="34" charset="0"/>
              </a:rPr>
              <a:t>Operate automatic replenishment with ease, from storage to pick locations.</a:t>
            </a:r>
          </a:p>
          <a:p>
            <a:pPr>
              <a:spcAft>
                <a:spcPts val="600"/>
              </a:spcAft>
            </a:pPr>
            <a:r>
              <a:rPr lang="en-US" sz="1000" dirty="0">
                <a:solidFill>
                  <a:srgbClr val="000000"/>
                </a:solidFill>
                <a:latin typeface="Open Sans" panose="020B0606030504020204" pitchFamily="34" charset="0"/>
                <a:cs typeface="Open Sans" panose="020B0606030504020204" pitchFamily="34" charset="0"/>
              </a:rPr>
              <a:t>Manage multiple warehouses in one database.</a:t>
            </a:r>
          </a:p>
          <a:p>
            <a:pPr>
              <a:spcAft>
                <a:spcPts val="600"/>
              </a:spcAft>
            </a:pPr>
            <a:r>
              <a:rPr lang="en-US" sz="1000" dirty="0">
                <a:solidFill>
                  <a:srgbClr val="000000"/>
                </a:solidFill>
                <a:latin typeface="Open Sans" panose="020B0606030504020204" pitchFamily="34" charset="0"/>
                <a:cs typeface="Open Sans" panose="020B0606030504020204" pitchFamily="34" charset="0"/>
              </a:rPr>
              <a:t>Manage on-hand cargo directly from quotes, bookings, pickup orders or inbound shipments.</a:t>
            </a:r>
          </a:p>
          <a:p>
            <a:pPr>
              <a:spcAft>
                <a:spcPts val="600"/>
              </a:spcAft>
            </a:pPr>
            <a:r>
              <a:rPr lang="en-US" sz="1000" dirty="0">
                <a:solidFill>
                  <a:srgbClr val="000000"/>
                </a:solidFill>
                <a:latin typeface="Open Sans" panose="020B0606030504020204" pitchFamily="34" charset="0"/>
                <a:cs typeface="Open Sans" panose="020B0606030504020204" pitchFamily="34" charset="0"/>
              </a:rPr>
              <a:t>Keep a record of arrival and location of cargo, SKU’s, serial numbers, lot numbers, and expiration date.</a:t>
            </a:r>
          </a:p>
          <a:p>
            <a:pPr>
              <a:spcAft>
                <a:spcPts val="600"/>
              </a:spcAft>
            </a:pPr>
            <a:r>
              <a:rPr lang="en-US" sz="1000" dirty="0">
                <a:solidFill>
                  <a:srgbClr val="000000"/>
                </a:solidFill>
                <a:latin typeface="Open Sans" panose="020B0606030504020204" pitchFamily="34" charset="0"/>
                <a:cs typeface="Open Sans" panose="020B0606030504020204" pitchFamily="34" charset="0"/>
              </a:rPr>
              <a:t>Define locations for receiving, storage, quality control, holding area, replenishments, etc.</a:t>
            </a:r>
          </a:p>
        </p:txBody>
      </p:sp>
      <p:sp>
        <p:nvSpPr>
          <p:cNvPr id="13" name="object 9">
            <a:extLst>
              <a:ext uri="{FF2B5EF4-FFF2-40B4-BE49-F238E27FC236}">
                <a16:creationId xmlns:a16="http://schemas.microsoft.com/office/drawing/2014/main" id="{F3B6EA66-7AF0-CB47-BB20-5057CFFFA959}"/>
              </a:ext>
            </a:extLst>
          </p:cNvPr>
          <p:cNvSpPr txBox="1"/>
          <p:nvPr/>
        </p:nvSpPr>
        <p:spPr>
          <a:xfrm>
            <a:off x="6897208" y="3493423"/>
            <a:ext cx="2895600" cy="2539157"/>
          </a:xfrm>
          <a:prstGeom prst="rect">
            <a:avLst/>
          </a:prstGeom>
        </p:spPr>
        <p:txBody>
          <a:bodyPr vert="horz" wrap="square" lIns="0" tIns="0" rIns="0" bIns="0" rtlCol="0">
            <a:spAutoFit/>
          </a:bodyPr>
          <a:lstStyle/>
          <a:p>
            <a:r>
              <a:rPr lang="en-US" sz="1000" b="1" dirty="0">
                <a:solidFill>
                  <a:srgbClr val="09A1FF"/>
                </a:solidFill>
                <a:latin typeface="Montserrat" panose="00000500000000000000" pitchFamily="50" charset="0"/>
                <a:cs typeface="Open Sans" panose="020B0606030504020204" pitchFamily="34" charset="0"/>
              </a:rPr>
              <a:t>MAGAYA SUPPLY CHAIN APPS &amp; EXTENSIONS FOR WAREHOUSE MANAGEMENT</a:t>
            </a:r>
          </a:p>
          <a:p>
            <a:endParaRPr lang="en-US" sz="1000" b="1" dirty="0">
              <a:solidFill>
                <a:srgbClr val="001691"/>
              </a:solidFill>
              <a:latin typeface="Montserrat" panose="00000500000000000000" pitchFamily="50" charset="0"/>
              <a:cs typeface="Open Sans" panose="020B0606030504020204" pitchFamily="34" charset="0"/>
            </a:endParaRPr>
          </a:p>
          <a:p>
            <a:pPr>
              <a:spcAft>
                <a:spcPts val="600"/>
              </a:spcAft>
            </a:pPr>
            <a:r>
              <a:rPr lang="en-US" sz="1000" b="1" dirty="0">
                <a:solidFill>
                  <a:srgbClr val="001691"/>
                </a:solidFill>
                <a:latin typeface="Montserrat" panose="00000500000000000000" pitchFamily="50" charset="0"/>
                <a:cs typeface="Open Sans" panose="020B0606030504020204" pitchFamily="34" charset="0"/>
              </a:rPr>
              <a:t>FLOW WMS MOBILE APP</a:t>
            </a:r>
          </a:p>
          <a:p>
            <a:pPr>
              <a:spcAft>
                <a:spcPts val="600"/>
              </a:spcAft>
            </a:pPr>
            <a:r>
              <a:rPr lang="en-US" sz="1000" dirty="0">
                <a:solidFill>
                  <a:srgbClr val="000000"/>
                </a:solidFill>
                <a:latin typeface="Open Sans" panose="020B0606030504020204" pitchFamily="34" charset="0"/>
                <a:cs typeface="Open Sans" panose="020B0606030504020204" pitchFamily="34" charset="0"/>
              </a:rPr>
              <a:t>Take complete control of your inventory, tasks, receiving and shipping process in real time with the Flow WMS app.</a:t>
            </a:r>
          </a:p>
          <a:p>
            <a:r>
              <a:rPr lang="en-US" sz="1000" dirty="0">
                <a:solidFill>
                  <a:srgbClr val="000000"/>
                </a:solidFill>
                <a:latin typeface="Open Sans" panose="020B0606030504020204" pitchFamily="34" charset="0"/>
                <a:cs typeface="Open Sans" panose="020B0606030504020204" pitchFamily="34" charset="0"/>
              </a:rPr>
              <a:t>Integrates with Dimensioner to truly optimize the pick and pack process.</a:t>
            </a:r>
          </a:p>
          <a:p>
            <a:endParaRPr lang="en-US" sz="1000" b="1" dirty="0">
              <a:solidFill>
                <a:srgbClr val="001691"/>
              </a:solidFill>
              <a:latin typeface="Montserrat" panose="00000500000000000000" pitchFamily="50" charset="0"/>
              <a:cs typeface="Open Sans" panose="020B0606030504020204" pitchFamily="34" charset="0"/>
            </a:endParaRPr>
          </a:p>
          <a:p>
            <a:pPr>
              <a:spcAft>
                <a:spcPts val="600"/>
              </a:spcAft>
            </a:pPr>
            <a:r>
              <a:rPr lang="en-US" sz="1000" b="1" dirty="0">
                <a:solidFill>
                  <a:srgbClr val="001691"/>
                </a:solidFill>
                <a:latin typeface="Montserrat" panose="00000500000000000000" pitchFamily="50" charset="0"/>
                <a:cs typeface="Open Sans" panose="020B0606030504020204" pitchFamily="34" charset="0"/>
              </a:rPr>
              <a:t>PALLET AND PAREL DIMENSIONER</a:t>
            </a:r>
          </a:p>
          <a:p>
            <a:r>
              <a:rPr lang="en-US" sz="1000" dirty="0">
                <a:solidFill>
                  <a:srgbClr val="383B48"/>
                </a:solidFill>
                <a:latin typeface="Open Sans" panose="020B0606030504020204" pitchFamily="34" charset="0"/>
                <a:cs typeface="Open Sans" panose="020B0606030504020204" pitchFamily="34" charset="0"/>
              </a:rPr>
              <a:t>Take fast and efficient measurements of pallets or parcels, regardless of shape, size or material with sophisticated software algorithms.</a:t>
            </a:r>
          </a:p>
        </p:txBody>
      </p:sp>
    </p:spTree>
    <p:extLst>
      <p:ext uri="{BB962C8B-B14F-4D97-AF65-F5344CB8AC3E}">
        <p14:creationId xmlns:p14="http://schemas.microsoft.com/office/powerpoint/2010/main" val="20262453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3547872" y="3991832"/>
            <a:ext cx="3218688" cy="2377440"/>
            <a:chOff x="3547872" y="3291840"/>
            <a:chExt cx="3218688" cy="4005072"/>
          </a:xfrm>
        </p:grpSpPr>
        <p:cxnSp>
          <p:nvCxnSpPr>
            <p:cNvPr id="3" name="Straight Connector 2"/>
            <p:cNvCxnSpPr/>
            <p:nvPr/>
          </p:nvCxnSpPr>
          <p:spPr>
            <a:xfrm>
              <a:off x="3547872" y="3291840"/>
              <a:ext cx="0" cy="4005072"/>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 name="Straight Connector 3"/>
            <p:cNvCxnSpPr/>
            <p:nvPr/>
          </p:nvCxnSpPr>
          <p:spPr>
            <a:xfrm>
              <a:off x="6766560" y="3291840"/>
              <a:ext cx="0" cy="4005072"/>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6" name="object 4"/>
          <p:cNvSpPr txBox="1"/>
          <p:nvPr/>
        </p:nvSpPr>
        <p:spPr>
          <a:xfrm>
            <a:off x="533400" y="1573241"/>
            <a:ext cx="9296400" cy="459869"/>
          </a:xfrm>
          <a:prstGeom prst="rect">
            <a:avLst/>
          </a:prstGeom>
        </p:spPr>
        <p:txBody>
          <a:bodyPr vert="horz" wrap="square" lIns="0" tIns="0" rIns="0" bIns="0" rtlCol="0">
            <a:spAutoFit/>
          </a:bodyPr>
          <a:lstStyle/>
          <a:p>
            <a:pPr marR="5079">
              <a:lnSpc>
                <a:spcPct val="130000"/>
              </a:lnSpc>
            </a:pPr>
            <a:r>
              <a:rPr lang="en-US" sz="1200" spc="-20" dirty="0">
                <a:latin typeface="Open Sans" panose="020B0606030504020204" pitchFamily="34" charset="0"/>
                <a:ea typeface="Open Sans" panose="020B0606030504020204" pitchFamily="34" charset="0"/>
                <a:cs typeface="Open Sans" panose="020B0606030504020204" pitchFamily="34" charset="0"/>
              </a:rPr>
              <a:t>Leverage the branding of your business with our flexible options, including document templates and more. Our ecosystem of extensions and apps, coupled with our built-in features, are designed to make your business more productive.</a:t>
            </a:r>
          </a:p>
        </p:txBody>
      </p:sp>
      <p:sp>
        <p:nvSpPr>
          <p:cNvPr id="7" name="object 6"/>
          <p:cNvSpPr txBox="1">
            <a:spLocks/>
          </p:cNvSpPr>
          <p:nvPr/>
        </p:nvSpPr>
        <p:spPr>
          <a:xfrm>
            <a:off x="533400" y="2209800"/>
            <a:ext cx="9296400" cy="984885"/>
          </a:xfrm>
          <a:prstGeom prst="rect">
            <a:avLst/>
          </a:prstGeom>
        </p:spPr>
        <p:txBody>
          <a:bodyPr vert="horz" wrap="square" lIns="0" tIns="0" rIns="0" bIns="0" rtlCol="0">
            <a:spAutoFit/>
          </a:bodyPr>
          <a:lstStyle>
            <a:lvl1pPr>
              <a:defRPr>
                <a:latin typeface="+mj-lt"/>
                <a:ea typeface="+mj-ea"/>
                <a:cs typeface="+mj-cs"/>
              </a:defRPr>
            </a:lvl1pPr>
          </a:lstStyle>
          <a:p>
            <a:pPr>
              <a:spcAft>
                <a:spcPts val="600"/>
              </a:spcAft>
            </a:pPr>
            <a:r>
              <a:rPr lang="en-CA" sz="1600" b="1" dirty="0">
                <a:solidFill>
                  <a:srgbClr val="09A1FF"/>
                </a:solidFill>
                <a:latin typeface="Montserrat" panose="00000500000000000000" pitchFamily="50" charset="0"/>
              </a:rPr>
              <a:t>YOUR BENEFITS</a:t>
            </a:r>
          </a:p>
          <a:p>
            <a:pPr marL="171450" indent="-171450">
              <a:spcAft>
                <a:spcPts val="600"/>
              </a:spcAft>
              <a:buClr>
                <a:srgbClr val="09A1FF"/>
              </a:buClr>
              <a:buFont typeface="Arial" panose="020B0604020202020204" pitchFamily="34" charset="0"/>
              <a:buChar char="•"/>
            </a:pPr>
            <a:r>
              <a:rPr lang="en-US" sz="1100" spc="-5" dirty="0">
                <a:latin typeface="Open Sans" panose="020B0606030504020204" pitchFamily="34" charset="0"/>
                <a:ea typeface="Open Sans" panose="020B0606030504020204" pitchFamily="34" charset="0"/>
                <a:cs typeface="Open Sans" panose="020B0606030504020204" pitchFamily="34" charset="0"/>
              </a:rPr>
              <a:t>Personalize your documents by using our adaptable templates</a:t>
            </a:r>
          </a:p>
          <a:p>
            <a:pPr marL="171450" indent="-171450">
              <a:spcAft>
                <a:spcPts val="600"/>
              </a:spcAft>
              <a:buClr>
                <a:srgbClr val="09A1FF"/>
              </a:buClr>
              <a:buFont typeface="Arial" panose="020B0604020202020204" pitchFamily="34" charset="0"/>
              <a:buChar char="•"/>
            </a:pPr>
            <a:r>
              <a:rPr lang="en-US" sz="1100" spc="-5" dirty="0">
                <a:latin typeface="Open Sans" panose="020B0606030504020204" pitchFamily="34" charset="0"/>
                <a:ea typeface="Open Sans" panose="020B0606030504020204" pitchFamily="34" charset="0"/>
                <a:cs typeface="Open Sans" panose="020B0606030504020204" pitchFamily="34" charset="0"/>
              </a:rPr>
              <a:t>Leverage complex logic</a:t>
            </a:r>
          </a:p>
          <a:p>
            <a:pPr marL="171450" indent="-171450">
              <a:spcAft>
                <a:spcPts val="600"/>
              </a:spcAft>
              <a:buClr>
                <a:srgbClr val="09A1FF"/>
              </a:buClr>
              <a:buFont typeface="Arial" panose="020B0604020202020204" pitchFamily="34" charset="0"/>
              <a:buChar char="•"/>
            </a:pPr>
            <a:r>
              <a:rPr lang="en-US" sz="1100" dirty="0">
                <a:effectLst/>
                <a:latin typeface="Open Sans" panose="020B0606030504020204" pitchFamily="34" charset="0"/>
                <a:ea typeface="Open Sans" panose="020B0606030504020204" pitchFamily="34" charset="0"/>
                <a:cs typeface="Open Sans" panose="020B0606030504020204" pitchFamily="34" charset="0"/>
              </a:rPr>
              <a:t>Choose from a variety of connectivity options, including XML and EDI</a:t>
            </a:r>
          </a:p>
        </p:txBody>
      </p:sp>
      <p:sp>
        <p:nvSpPr>
          <p:cNvPr id="8" name="object 9"/>
          <p:cNvSpPr txBox="1"/>
          <p:nvPr/>
        </p:nvSpPr>
        <p:spPr>
          <a:xfrm>
            <a:off x="544286" y="4010991"/>
            <a:ext cx="2895600" cy="2618409"/>
          </a:xfrm>
          <a:prstGeom prst="rect">
            <a:avLst/>
          </a:prstGeom>
        </p:spPr>
        <p:txBody>
          <a:bodyPr vert="horz" wrap="square" lIns="0" tIns="0" rIns="0" bIns="0" rtlCol="0">
            <a:spAutoFit/>
          </a:bodyPr>
          <a:lstStyle/>
          <a:p>
            <a:pPr>
              <a:lnSpc>
                <a:spcPct val="120000"/>
              </a:lnSpc>
              <a:spcAft>
                <a:spcPts val="600"/>
              </a:spcAft>
            </a:pPr>
            <a:r>
              <a:rPr lang="en-US" sz="1000" b="1" dirty="0">
                <a:solidFill>
                  <a:srgbClr val="001691"/>
                </a:solidFill>
                <a:latin typeface="Montserrat" panose="00000500000000000000" pitchFamily="50" charset="0"/>
                <a:cs typeface="Open Sans" panose="020B0606030504020204" pitchFamily="34" charset="0"/>
              </a:rPr>
              <a:t>JOBS</a:t>
            </a:r>
          </a:p>
          <a:p>
            <a:pPr>
              <a:lnSpc>
                <a:spcPct val="120000"/>
              </a:lnSpc>
            </a:pPr>
            <a:r>
              <a:rPr lang="en-US" sz="1000" dirty="0">
                <a:solidFill>
                  <a:srgbClr val="000000"/>
                </a:solidFill>
                <a:latin typeface="Open Sans" panose="020B0606030504020204" pitchFamily="34" charset="0"/>
                <a:cs typeface="Open Sans" panose="020B0606030504020204" pitchFamily="34" charset="0"/>
              </a:rPr>
              <a:t>Combine many transactions of different types into one project with its respective accounting and profitability tracking. Ideal for project cargo in shipping.</a:t>
            </a:r>
          </a:p>
          <a:p>
            <a:pPr>
              <a:lnSpc>
                <a:spcPct val="120000"/>
              </a:lnSpc>
            </a:pPr>
            <a:endParaRPr lang="en-US" sz="1000" dirty="0">
              <a:solidFill>
                <a:srgbClr val="000000"/>
              </a:solidFill>
              <a:latin typeface="Open Sans" panose="020B0606030504020204" pitchFamily="34" charset="0"/>
              <a:cs typeface="Open Sans" panose="020B0606030504020204" pitchFamily="34" charset="0"/>
            </a:endParaRPr>
          </a:p>
          <a:p>
            <a:pPr>
              <a:lnSpc>
                <a:spcPct val="120000"/>
              </a:lnSpc>
              <a:spcAft>
                <a:spcPts val="600"/>
              </a:spcAft>
            </a:pPr>
            <a:r>
              <a:rPr lang="en-US" sz="1000" b="1" dirty="0">
                <a:solidFill>
                  <a:srgbClr val="001691"/>
                </a:solidFill>
                <a:latin typeface="Montserrat" panose="00000500000000000000" pitchFamily="50" charset="0"/>
                <a:cs typeface="Open Sans" panose="020B0606030504020204" pitchFamily="34" charset="0"/>
              </a:rPr>
              <a:t>TASKS</a:t>
            </a:r>
          </a:p>
          <a:p>
            <a:pPr>
              <a:lnSpc>
                <a:spcPct val="120000"/>
              </a:lnSpc>
              <a:spcAft>
                <a:spcPts val="600"/>
              </a:spcAft>
            </a:pPr>
            <a:r>
              <a:rPr lang="en-US" sz="1000" dirty="0">
                <a:latin typeface="Open Sans" panose="020B0606030504020204" pitchFamily="34" charset="0"/>
                <a:cs typeface="Open Sans" panose="020B0606030504020204" pitchFamily="34" charset="0"/>
              </a:rPr>
              <a:t>Create reminders by email or on-screen popups.</a:t>
            </a:r>
          </a:p>
          <a:p>
            <a:pPr>
              <a:lnSpc>
                <a:spcPct val="120000"/>
              </a:lnSpc>
              <a:spcAft>
                <a:spcPts val="600"/>
              </a:spcAft>
            </a:pPr>
            <a:r>
              <a:rPr lang="en-US" sz="1000" dirty="0">
                <a:latin typeface="Open Sans" panose="020B0606030504020204" pitchFamily="34" charset="0"/>
                <a:cs typeface="Open Sans" panose="020B0606030504020204" pitchFamily="34" charset="0"/>
              </a:rPr>
              <a:t>Assign tasks to any user in the system.</a:t>
            </a:r>
          </a:p>
          <a:p>
            <a:pPr>
              <a:lnSpc>
                <a:spcPct val="120000"/>
              </a:lnSpc>
              <a:spcAft>
                <a:spcPts val="600"/>
              </a:spcAft>
            </a:pPr>
            <a:r>
              <a:rPr lang="en-US" sz="1000" dirty="0">
                <a:latin typeface="Open Sans" panose="020B0606030504020204" pitchFamily="34" charset="0"/>
                <a:cs typeface="Open Sans" panose="020B0606030504020204" pitchFamily="34" charset="0"/>
              </a:rPr>
              <a:t>Visibility into employee time to complete tasks.</a:t>
            </a:r>
          </a:p>
          <a:p>
            <a:pPr>
              <a:lnSpc>
                <a:spcPct val="90000"/>
              </a:lnSpc>
              <a:spcAft>
                <a:spcPts val="600"/>
              </a:spcAft>
            </a:pPr>
            <a:endParaRPr lang="en-US" sz="1000" b="1" dirty="0">
              <a:solidFill>
                <a:srgbClr val="001691"/>
              </a:solidFill>
              <a:latin typeface="Montserrat" panose="00000500000000000000" pitchFamily="50" charset="0"/>
              <a:cs typeface="Open Sans" panose="020B0606030504020204" pitchFamily="34" charset="0"/>
            </a:endParaRPr>
          </a:p>
          <a:p>
            <a:pPr>
              <a:lnSpc>
                <a:spcPct val="120000"/>
              </a:lnSpc>
              <a:spcAft>
                <a:spcPts val="600"/>
              </a:spcAft>
            </a:pPr>
            <a:endParaRPr lang="en-US" sz="1000" dirty="0">
              <a:latin typeface="Open Sans" panose="020B0606030504020204" pitchFamily="34" charset="0"/>
              <a:cs typeface="Open Sans" panose="020B0606030504020204" pitchFamily="34" charset="0"/>
            </a:endParaRPr>
          </a:p>
        </p:txBody>
      </p:sp>
      <p:sp>
        <p:nvSpPr>
          <p:cNvPr id="9" name="object 9"/>
          <p:cNvSpPr txBox="1"/>
          <p:nvPr/>
        </p:nvSpPr>
        <p:spPr>
          <a:xfrm>
            <a:off x="3741638" y="4010991"/>
            <a:ext cx="2898648" cy="2167260"/>
          </a:xfrm>
          <a:prstGeom prst="rect">
            <a:avLst/>
          </a:prstGeom>
        </p:spPr>
        <p:txBody>
          <a:bodyPr vert="horz" wrap="square" lIns="0" tIns="0" rIns="0" bIns="0" rtlCol="0">
            <a:spAutoFit/>
          </a:bodyPr>
          <a:lstStyle/>
          <a:p>
            <a:pPr>
              <a:lnSpc>
                <a:spcPct val="120000"/>
              </a:lnSpc>
              <a:spcAft>
                <a:spcPts val="600"/>
              </a:spcAft>
            </a:pPr>
            <a:r>
              <a:rPr lang="en-US" sz="1000" b="1" dirty="0">
                <a:solidFill>
                  <a:srgbClr val="001691"/>
                </a:solidFill>
                <a:latin typeface="Montserrat" panose="00000500000000000000" pitchFamily="50" charset="0"/>
                <a:cs typeface="Open Sans" panose="020B0606030504020204" pitchFamily="34" charset="0"/>
              </a:rPr>
              <a:t>MAGAYA NETWORK</a:t>
            </a:r>
          </a:p>
          <a:p>
            <a:pPr>
              <a:lnSpc>
                <a:spcPct val="120000"/>
              </a:lnSpc>
              <a:spcAft>
                <a:spcPts val="600"/>
              </a:spcAft>
            </a:pPr>
            <a:r>
              <a:rPr lang="en-US" sz="1000" dirty="0">
                <a:solidFill>
                  <a:srgbClr val="000000"/>
                </a:solidFill>
                <a:latin typeface="Open Sans" panose="020B0606030504020204" pitchFamily="34" charset="0"/>
                <a:cs typeface="Open Sans" panose="020B0606030504020204" pitchFamily="34" charset="0"/>
              </a:rPr>
              <a:t>Send and receive documentation, transactions, and other data about shipments, through the Magaya Network.</a:t>
            </a:r>
          </a:p>
          <a:p>
            <a:pPr>
              <a:lnSpc>
                <a:spcPct val="120000"/>
              </a:lnSpc>
              <a:spcAft>
                <a:spcPts val="600"/>
              </a:spcAft>
            </a:pPr>
            <a:r>
              <a:rPr lang="en-US" sz="1000" dirty="0">
                <a:solidFill>
                  <a:srgbClr val="000000"/>
                </a:solidFill>
                <a:latin typeface="Open Sans" panose="020B0606030504020204" pitchFamily="34" charset="0"/>
                <a:cs typeface="Open Sans" panose="020B0606030504020204" pitchFamily="34" charset="0"/>
              </a:rPr>
              <a:t>View real-time, up-to-date information about shipments and more.</a:t>
            </a:r>
          </a:p>
          <a:p>
            <a:pPr>
              <a:lnSpc>
                <a:spcPct val="120000"/>
              </a:lnSpc>
              <a:spcAft>
                <a:spcPts val="600"/>
              </a:spcAft>
            </a:pPr>
            <a:r>
              <a:rPr lang="en-US" sz="1000" dirty="0">
                <a:solidFill>
                  <a:srgbClr val="000000"/>
                </a:solidFill>
                <a:latin typeface="Open Sans" panose="020B0606030504020204" pitchFamily="34" charset="0"/>
                <a:cs typeface="Open Sans" panose="020B0606030504020204" pitchFamily="34" charset="0"/>
              </a:rPr>
              <a:t>Create a profile of your company to advertise your services on the Network.</a:t>
            </a:r>
          </a:p>
          <a:p>
            <a:pPr>
              <a:lnSpc>
                <a:spcPct val="120000"/>
              </a:lnSpc>
              <a:spcAft>
                <a:spcPts val="600"/>
              </a:spcAft>
            </a:pPr>
            <a:r>
              <a:rPr lang="en-US" sz="1000" dirty="0">
                <a:solidFill>
                  <a:srgbClr val="000000"/>
                </a:solidFill>
                <a:latin typeface="Open Sans" panose="020B0606030504020204" pitchFamily="34" charset="0"/>
                <a:cs typeface="Open Sans" panose="020B0606030504020204" pitchFamily="34" charset="0"/>
              </a:rPr>
              <a:t>Find and connect with 2300+ agents and logistics  companies across 100 countries.</a:t>
            </a:r>
          </a:p>
        </p:txBody>
      </p:sp>
      <p:sp>
        <p:nvSpPr>
          <p:cNvPr id="10" name="object 9"/>
          <p:cNvSpPr txBox="1"/>
          <p:nvPr/>
        </p:nvSpPr>
        <p:spPr>
          <a:xfrm>
            <a:off x="6931152" y="4010991"/>
            <a:ext cx="2898648" cy="1720984"/>
          </a:xfrm>
          <a:prstGeom prst="rect">
            <a:avLst/>
          </a:prstGeom>
        </p:spPr>
        <p:txBody>
          <a:bodyPr vert="horz" wrap="square" lIns="0" tIns="0" rIns="0" bIns="0" rtlCol="0">
            <a:spAutoFit/>
          </a:bodyPr>
          <a:lstStyle/>
          <a:p>
            <a:pPr>
              <a:lnSpc>
                <a:spcPct val="120000"/>
              </a:lnSpc>
              <a:spcAft>
                <a:spcPts val="600"/>
              </a:spcAft>
            </a:pPr>
            <a:r>
              <a:rPr lang="en-US" sz="1000" b="1" dirty="0">
                <a:solidFill>
                  <a:srgbClr val="001691"/>
                </a:solidFill>
                <a:latin typeface="Montserrat" panose="00000500000000000000" pitchFamily="50" charset="0"/>
                <a:cs typeface="Open Sans" panose="020B0606030504020204" pitchFamily="34" charset="0"/>
              </a:rPr>
              <a:t>DOCUMENT CONFIGURATION</a:t>
            </a:r>
          </a:p>
          <a:p>
            <a:pPr>
              <a:lnSpc>
                <a:spcPct val="120000"/>
              </a:lnSpc>
              <a:spcAft>
                <a:spcPts val="600"/>
              </a:spcAft>
            </a:pPr>
            <a:r>
              <a:rPr lang="en-US" sz="1000" dirty="0">
                <a:solidFill>
                  <a:srgbClr val="000000"/>
                </a:solidFill>
                <a:latin typeface="Open Sans" panose="020B0606030504020204" pitchFamily="34" charset="0"/>
                <a:ea typeface="Open Sans" panose="020B0606030504020204" pitchFamily="34" charset="0"/>
                <a:cs typeface="Open Sans" panose="020B0606030504020204" pitchFamily="34" charset="0"/>
              </a:rPr>
              <a:t>Access and utilize hundreds of document templates for operations and accounting transaction.</a:t>
            </a:r>
          </a:p>
          <a:p>
            <a:pPr>
              <a:lnSpc>
                <a:spcPct val="120000"/>
              </a:lnSpc>
              <a:spcAft>
                <a:spcPts val="600"/>
              </a:spcAft>
            </a:pPr>
            <a:r>
              <a:rPr lang="en-US" sz="1000" dirty="0">
                <a:solidFill>
                  <a:srgbClr val="000000"/>
                </a:solidFill>
                <a:latin typeface="Open Sans" panose="020B0606030504020204" pitchFamily="34" charset="0"/>
                <a:ea typeface="Open Sans" panose="020B0606030504020204" pitchFamily="34" charset="0"/>
                <a:cs typeface="Open Sans" panose="020B0606030504020204" pitchFamily="34" charset="0"/>
              </a:rPr>
              <a:t>Create and design multipage templates including your terms and conditions.</a:t>
            </a:r>
          </a:p>
          <a:p>
            <a:pPr>
              <a:lnSpc>
                <a:spcPct val="120000"/>
              </a:lnSpc>
              <a:spcAft>
                <a:spcPts val="600"/>
              </a:spcAft>
            </a:pPr>
            <a:r>
              <a:rPr lang="en-US" sz="1000" dirty="0">
                <a:solidFill>
                  <a:srgbClr val="000000"/>
                </a:solidFill>
                <a:latin typeface="Open Sans" panose="020B0606030504020204" pitchFamily="34" charset="0"/>
                <a:ea typeface="Open Sans" panose="020B0606030504020204" pitchFamily="34" charset="0"/>
                <a:cs typeface="Open Sans" panose="020B0606030504020204" pitchFamily="34" charset="0"/>
              </a:rPr>
              <a:t>Fully configure documents and even use JavaScript for more complex logic.</a:t>
            </a:r>
          </a:p>
        </p:txBody>
      </p:sp>
      <p:sp>
        <p:nvSpPr>
          <p:cNvPr id="11" name="object 6"/>
          <p:cNvSpPr txBox="1">
            <a:spLocks/>
          </p:cNvSpPr>
          <p:nvPr/>
        </p:nvSpPr>
        <p:spPr>
          <a:xfrm>
            <a:off x="533400" y="320040"/>
            <a:ext cx="9296400" cy="751488"/>
          </a:xfrm>
          <a:prstGeom prst="rect">
            <a:avLst/>
          </a:prstGeom>
        </p:spPr>
        <p:txBody>
          <a:bodyPr vert="horz" wrap="square" lIns="0" tIns="12700" rIns="0" bIns="0" rtlCol="0">
            <a:spAutoFit/>
          </a:bodyPr>
          <a:lstStyle>
            <a:lvl1pPr>
              <a:defRPr>
                <a:latin typeface="+mj-lt"/>
                <a:ea typeface="+mj-ea"/>
                <a:cs typeface="+mj-cs"/>
              </a:defRPr>
            </a:lvl1pPr>
          </a:lstStyle>
          <a:p>
            <a:r>
              <a:rPr lang="en-CA" sz="3000" b="1" dirty="0">
                <a:solidFill>
                  <a:srgbClr val="001691"/>
                </a:solidFill>
                <a:latin typeface="Montserrat" panose="00000500000000000000" pitchFamily="50" charset="0"/>
              </a:rPr>
              <a:t>MAGAYA </a:t>
            </a:r>
            <a:r>
              <a:rPr lang="en-CA" sz="3000" b="1" dirty="0">
                <a:solidFill>
                  <a:srgbClr val="09A1FF"/>
                </a:solidFill>
                <a:latin typeface="Montserrat" panose="00000500000000000000" pitchFamily="50" charset="0"/>
              </a:rPr>
              <a:t>SUPPLY CHAIN</a:t>
            </a:r>
            <a:br>
              <a:rPr lang="en-CA" sz="2800" b="1" dirty="0">
                <a:solidFill>
                  <a:srgbClr val="001691"/>
                </a:solidFill>
                <a:latin typeface="Montserrat" panose="00000500000000000000" pitchFamily="50" charset="0"/>
              </a:rPr>
            </a:br>
            <a:r>
              <a:rPr lang="en-CA" dirty="0">
                <a:solidFill>
                  <a:srgbClr val="383B48"/>
                </a:solidFill>
                <a:latin typeface="Montserrat" panose="00000500000000000000" pitchFamily="50" charset="0"/>
              </a:rPr>
              <a:t>Productivity, Integration &amp; Configuration</a:t>
            </a:r>
            <a:endParaRPr lang="en-US" kern="0" dirty="0">
              <a:solidFill>
                <a:srgbClr val="383B48"/>
              </a:solidFill>
              <a:latin typeface="Montserrat" panose="00000500000000000000" pitchFamily="50" charset="0"/>
            </a:endParaRPr>
          </a:p>
        </p:txBody>
      </p:sp>
    </p:spTree>
    <p:extLst>
      <p:ext uri="{BB962C8B-B14F-4D97-AF65-F5344CB8AC3E}">
        <p14:creationId xmlns:p14="http://schemas.microsoft.com/office/powerpoint/2010/main" val="23943906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 y="4757698"/>
            <a:ext cx="10363200" cy="2039363"/>
          </a:xfrm>
          <a:prstGeom prst="rect">
            <a:avLst/>
          </a:prstGeom>
          <a:solidFill>
            <a:srgbClr val="F6F7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1528" dirty="0"/>
          </a:p>
        </p:txBody>
      </p:sp>
      <p:sp>
        <p:nvSpPr>
          <p:cNvPr id="9" name="TextBox 8">
            <a:extLst>
              <a:ext uri="{FF2B5EF4-FFF2-40B4-BE49-F238E27FC236}">
                <a16:creationId xmlns:a16="http://schemas.microsoft.com/office/drawing/2014/main" id="{777EDB95-EC81-804A-8FB1-AC0449FC7B1A}"/>
              </a:ext>
            </a:extLst>
          </p:cNvPr>
          <p:cNvSpPr txBox="1"/>
          <p:nvPr/>
        </p:nvSpPr>
        <p:spPr>
          <a:xfrm>
            <a:off x="490248" y="2576332"/>
            <a:ext cx="5219120" cy="1338956"/>
          </a:xfrm>
          <a:prstGeom prst="rect">
            <a:avLst/>
          </a:prstGeom>
          <a:noFill/>
        </p:spPr>
        <p:txBody>
          <a:bodyPr wrap="square" rtlCol="0">
            <a:spAutoFit/>
          </a:bodyPr>
          <a:lstStyle/>
          <a:p>
            <a:pPr marL="242573" indent="-242573">
              <a:lnSpc>
                <a:spcPct val="120000"/>
              </a:lnSpc>
              <a:spcAft>
                <a:spcPts val="1019"/>
              </a:spcAft>
              <a:buClr>
                <a:srgbClr val="383B48"/>
              </a:buClr>
              <a:buFont typeface="Wingdings" panose="05000000000000000000" pitchFamily="2" charset="2"/>
              <a:buChar char="§"/>
            </a:pPr>
            <a:r>
              <a:rPr lang="en-US" sz="1188" dirty="0">
                <a:solidFill>
                  <a:srgbClr val="383B48"/>
                </a:solidFill>
                <a:latin typeface="Open Sans" panose="020B0606030504020204" pitchFamily="34" charset="0"/>
                <a:ea typeface="Open Sans" panose="020B0606030504020204" pitchFamily="34" charset="0"/>
                <a:cs typeface="Open Sans" panose="020B0606030504020204" pitchFamily="34" charset="0"/>
              </a:rPr>
              <a:t>Automates a slow, manual process</a:t>
            </a:r>
          </a:p>
          <a:p>
            <a:pPr marL="242573" indent="-242573">
              <a:lnSpc>
                <a:spcPct val="120000"/>
              </a:lnSpc>
              <a:spcAft>
                <a:spcPts val="1019"/>
              </a:spcAft>
              <a:buClr>
                <a:srgbClr val="383B48"/>
              </a:buClr>
              <a:buFont typeface="Wingdings" panose="05000000000000000000" pitchFamily="2" charset="2"/>
              <a:buChar char="§"/>
            </a:pPr>
            <a:r>
              <a:rPr lang="en-US" sz="1188" dirty="0">
                <a:solidFill>
                  <a:srgbClr val="383B48"/>
                </a:solidFill>
                <a:latin typeface="Open Sans" panose="020B0606030504020204" pitchFamily="34" charset="0"/>
                <a:ea typeface="Open Sans" panose="020B0606030504020204" pitchFamily="34" charset="0"/>
                <a:cs typeface="Open Sans" panose="020B0606030504020204" pitchFamily="34" charset="0"/>
              </a:rPr>
              <a:t>Captures accurate cargo dimensions with ease, in under 5 seconds</a:t>
            </a:r>
          </a:p>
          <a:p>
            <a:pPr marL="242573" indent="-242573">
              <a:lnSpc>
                <a:spcPct val="120000"/>
              </a:lnSpc>
              <a:spcAft>
                <a:spcPts val="1019"/>
              </a:spcAft>
              <a:buClr>
                <a:srgbClr val="383B48"/>
              </a:buClr>
              <a:buFont typeface="Wingdings" panose="05000000000000000000" pitchFamily="2" charset="2"/>
              <a:buChar char="§"/>
            </a:pPr>
            <a:r>
              <a:rPr lang="en-US" sz="1188" dirty="0">
                <a:solidFill>
                  <a:srgbClr val="383B48"/>
                </a:solidFill>
                <a:latin typeface="Open Sans" panose="020B0606030504020204" pitchFamily="34" charset="0"/>
                <a:ea typeface="Open Sans" panose="020B0606030504020204" pitchFamily="34" charset="0"/>
                <a:cs typeface="Open Sans" panose="020B0606030504020204" pitchFamily="34" charset="0"/>
              </a:rPr>
              <a:t>Eliminates upfront costs of traditional measuring tools</a:t>
            </a:r>
          </a:p>
          <a:p>
            <a:pPr marL="242573" indent="-242573">
              <a:lnSpc>
                <a:spcPct val="120000"/>
              </a:lnSpc>
              <a:spcAft>
                <a:spcPts val="1019"/>
              </a:spcAft>
              <a:buClr>
                <a:srgbClr val="383B48"/>
              </a:buClr>
              <a:buFont typeface="Wingdings" panose="05000000000000000000" pitchFamily="2" charset="2"/>
              <a:buChar char="§"/>
            </a:pPr>
            <a:r>
              <a:rPr lang="en-US" sz="1188" dirty="0">
                <a:solidFill>
                  <a:srgbClr val="383B48"/>
                </a:solidFill>
                <a:latin typeface="Open Sans" panose="020B0606030504020204" pitchFamily="34" charset="0"/>
                <a:ea typeface="Open Sans" panose="020B0606030504020204" pitchFamily="34" charset="0"/>
                <a:cs typeface="Open Sans" panose="020B0606030504020204" pitchFamily="34" charset="0"/>
              </a:rPr>
              <a:t>Available for pallet, parcel, and high-volume in-motion dimensioning</a:t>
            </a:r>
          </a:p>
        </p:txBody>
      </p:sp>
      <p:sp>
        <p:nvSpPr>
          <p:cNvPr id="10" name="Rectangle 9">
            <a:extLst>
              <a:ext uri="{FF2B5EF4-FFF2-40B4-BE49-F238E27FC236}">
                <a16:creationId xmlns:a16="http://schemas.microsoft.com/office/drawing/2014/main" id="{60CA98CF-7024-0E4C-B9D0-B934DCC8FE4C}"/>
              </a:ext>
            </a:extLst>
          </p:cNvPr>
          <p:cNvSpPr/>
          <p:nvPr/>
        </p:nvSpPr>
        <p:spPr>
          <a:xfrm>
            <a:off x="1" y="1715391"/>
            <a:ext cx="5883000" cy="588751"/>
          </a:xfrm>
          <a:prstGeom prst="rect">
            <a:avLst/>
          </a:prstGeom>
        </p:spPr>
        <p:txBody>
          <a:bodyPr wrap="square" anchor="ctr" anchorCtr="0">
            <a:spAutoFit/>
          </a:bodyPr>
          <a:lstStyle/>
          <a:p>
            <a:pPr algn="ctr"/>
            <a:r>
              <a:rPr lang="en-US" sz="3226" b="1" dirty="0">
                <a:solidFill>
                  <a:srgbClr val="001691"/>
                </a:solidFill>
                <a:latin typeface="Montserrat" panose="00000500000000000000" pitchFamily="2" charset="0"/>
                <a:ea typeface="Helvetica Neue UltraLight" panose="02000206000000020004" pitchFamily="2" charset="0"/>
                <a:cs typeface="Helvetica Neue" panose="02000503000000020004" pitchFamily="2" charset="0"/>
              </a:rPr>
              <a:t>DIMENSIONER </a:t>
            </a:r>
            <a:r>
              <a:rPr lang="en-US" sz="2037" dirty="0">
                <a:solidFill>
                  <a:srgbClr val="09A1FF"/>
                </a:solidFill>
                <a:latin typeface="Montserrat SemiBold" panose="00000700000000000000" pitchFamily="50" charset="0"/>
                <a:ea typeface="Helvetica Neue UltraLight" panose="02000206000000020004" pitchFamily="2" charset="0"/>
                <a:cs typeface="Helvetica Neue" panose="02000503000000020004" pitchFamily="2" charset="0"/>
              </a:rPr>
              <a:t>BY MAGAYA</a:t>
            </a:r>
          </a:p>
        </p:txBody>
      </p:sp>
      <p:grpSp>
        <p:nvGrpSpPr>
          <p:cNvPr id="11" name="Group 10"/>
          <p:cNvGrpSpPr/>
          <p:nvPr/>
        </p:nvGrpSpPr>
        <p:grpSpPr>
          <a:xfrm>
            <a:off x="398327" y="5143595"/>
            <a:ext cx="4446984" cy="1123796"/>
            <a:chOff x="469230" y="4910214"/>
            <a:chExt cx="5238558" cy="1323835"/>
          </a:xfrm>
        </p:grpSpPr>
        <p:sp>
          <p:nvSpPr>
            <p:cNvPr id="12" name="Rectangle 11">
              <a:extLst>
                <a:ext uri="{FF2B5EF4-FFF2-40B4-BE49-F238E27FC236}">
                  <a16:creationId xmlns:a16="http://schemas.microsoft.com/office/drawing/2014/main" id="{28CBB835-7187-6049-B058-473BC0DB0FEC}"/>
                </a:ext>
              </a:extLst>
            </p:cNvPr>
            <p:cNvSpPr/>
            <p:nvPr/>
          </p:nvSpPr>
          <p:spPr>
            <a:xfrm>
              <a:off x="795123" y="4937202"/>
              <a:ext cx="1648899" cy="908972"/>
            </a:xfrm>
            <a:prstGeom prst="rect">
              <a:avLst/>
            </a:prstGeom>
          </p:spPr>
          <p:txBody>
            <a:bodyPr wrap="none">
              <a:spAutoFit/>
            </a:bodyPr>
            <a:lstStyle/>
            <a:p>
              <a:r>
                <a:rPr lang="en-US" sz="4414" b="1" dirty="0">
                  <a:solidFill>
                    <a:srgbClr val="6B7489"/>
                  </a:solidFill>
                  <a:latin typeface="Montserrat" panose="00000500000000000000" pitchFamily="2" charset="0"/>
                  <a:ea typeface="Helvetica Neue UltraLight" panose="02000206000000020004" pitchFamily="2" charset="0"/>
                  <a:cs typeface="Helvetica Neue" panose="02000503000000020004" pitchFamily="2" charset="0"/>
                </a:rPr>
                <a:t>20%</a:t>
              </a:r>
            </a:p>
          </p:txBody>
        </p:sp>
        <p:sp>
          <p:nvSpPr>
            <p:cNvPr id="13" name="Rectangle 12">
              <a:extLst>
                <a:ext uri="{FF2B5EF4-FFF2-40B4-BE49-F238E27FC236}">
                  <a16:creationId xmlns:a16="http://schemas.microsoft.com/office/drawing/2014/main" id="{2D0991B2-D73C-FF48-9DE1-F9E56485A0B0}"/>
                </a:ext>
              </a:extLst>
            </p:cNvPr>
            <p:cNvSpPr/>
            <p:nvPr/>
          </p:nvSpPr>
          <p:spPr>
            <a:xfrm>
              <a:off x="469230" y="5710830"/>
              <a:ext cx="2346480" cy="478280"/>
            </a:xfrm>
            <a:prstGeom prst="rect">
              <a:avLst/>
            </a:prstGeom>
          </p:spPr>
          <p:txBody>
            <a:bodyPr wrap="square">
              <a:spAutoFit/>
            </a:bodyPr>
            <a:lstStyle/>
            <a:p>
              <a:pPr algn="ctr"/>
              <a:r>
                <a:rPr lang="en-US" sz="1019" b="1" dirty="0">
                  <a:solidFill>
                    <a:srgbClr val="6B7489"/>
                  </a:solidFill>
                  <a:latin typeface="Montserrat SemiBold" panose="00000700000000000000" pitchFamily="50" charset="0"/>
                  <a:ea typeface="Open Sans" panose="020B0606030504020204" pitchFamily="34" charset="0"/>
                  <a:cs typeface="Open Sans" panose="020B0606030504020204" pitchFamily="34" charset="0"/>
                </a:rPr>
                <a:t>INCREASE IN REVENUE</a:t>
              </a:r>
            </a:p>
            <a:p>
              <a:pPr algn="ctr"/>
              <a:r>
                <a:rPr lang="en-US" sz="1019" b="1" dirty="0">
                  <a:solidFill>
                    <a:srgbClr val="6B7489"/>
                  </a:solidFill>
                  <a:latin typeface="Montserrat SemiBold" panose="00000700000000000000" pitchFamily="50" charset="0"/>
                  <a:ea typeface="Open Sans" panose="020B0606030504020204" pitchFamily="34" charset="0"/>
                  <a:cs typeface="Open Sans" panose="020B0606030504020204" pitchFamily="34" charset="0"/>
                </a:rPr>
                <a:t>EVERY MONTH</a:t>
              </a:r>
            </a:p>
          </p:txBody>
        </p:sp>
        <p:sp>
          <p:nvSpPr>
            <p:cNvPr id="14" name="Rectangle 13">
              <a:extLst>
                <a:ext uri="{FF2B5EF4-FFF2-40B4-BE49-F238E27FC236}">
                  <a16:creationId xmlns:a16="http://schemas.microsoft.com/office/drawing/2014/main" id="{4AA510DF-320F-0043-B5E8-0489E1095E3D}"/>
                </a:ext>
              </a:extLst>
            </p:cNvPr>
            <p:cNvSpPr/>
            <p:nvPr/>
          </p:nvSpPr>
          <p:spPr>
            <a:xfrm>
              <a:off x="3710435" y="4910214"/>
              <a:ext cx="1554483" cy="908972"/>
            </a:xfrm>
            <a:prstGeom prst="rect">
              <a:avLst/>
            </a:prstGeom>
          </p:spPr>
          <p:txBody>
            <a:bodyPr wrap="none">
              <a:spAutoFit/>
            </a:bodyPr>
            <a:lstStyle/>
            <a:p>
              <a:r>
                <a:rPr lang="en-US" sz="4414" b="1" dirty="0">
                  <a:solidFill>
                    <a:srgbClr val="6B7489"/>
                  </a:solidFill>
                  <a:latin typeface="Montserrat" panose="00000500000000000000" pitchFamily="2" charset="0"/>
                  <a:ea typeface="Helvetica Neue UltraLight" panose="02000206000000020004" pitchFamily="2" charset="0"/>
                  <a:cs typeface="Helvetica Neue" panose="02000503000000020004" pitchFamily="2" charset="0"/>
                </a:rPr>
                <a:t>$40</a:t>
              </a:r>
            </a:p>
          </p:txBody>
        </p:sp>
        <p:sp>
          <p:nvSpPr>
            <p:cNvPr id="15" name="Rectangle 14">
              <a:extLst>
                <a:ext uri="{FF2B5EF4-FFF2-40B4-BE49-F238E27FC236}">
                  <a16:creationId xmlns:a16="http://schemas.microsoft.com/office/drawing/2014/main" id="{FAB586BB-5FFA-4241-913D-FB09D03DFA26}"/>
                </a:ext>
              </a:extLst>
            </p:cNvPr>
            <p:cNvSpPr/>
            <p:nvPr/>
          </p:nvSpPr>
          <p:spPr>
            <a:xfrm>
              <a:off x="3152900" y="5710830"/>
              <a:ext cx="2554888" cy="478280"/>
            </a:xfrm>
            <a:prstGeom prst="rect">
              <a:avLst/>
            </a:prstGeom>
          </p:spPr>
          <p:txBody>
            <a:bodyPr wrap="square">
              <a:spAutoFit/>
            </a:bodyPr>
            <a:lstStyle/>
            <a:p>
              <a:pPr algn="ctr"/>
              <a:r>
                <a:rPr lang="en-US" sz="1019" b="1" dirty="0">
                  <a:solidFill>
                    <a:srgbClr val="6B7489"/>
                  </a:solidFill>
                  <a:latin typeface="Montserrat SemiBold" panose="00000700000000000000" pitchFamily="50" charset="0"/>
                  <a:ea typeface="Open Sans" panose="020B0606030504020204" pitchFamily="34" charset="0"/>
                  <a:cs typeface="Open Sans" panose="020B0606030504020204" pitchFamily="34" charset="0"/>
                </a:rPr>
                <a:t>ON AVERAGE OF REVENUE </a:t>
              </a:r>
            </a:p>
            <a:p>
              <a:pPr algn="ctr"/>
              <a:r>
                <a:rPr lang="en-US" sz="1019" b="1" dirty="0">
                  <a:solidFill>
                    <a:srgbClr val="6B7489"/>
                  </a:solidFill>
                  <a:latin typeface="Montserrat SemiBold" panose="00000700000000000000" pitchFamily="50" charset="0"/>
                  <a:ea typeface="Open Sans" panose="020B0606030504020204" pitchFamily="34" charset="0"/>
                  <a:cs typeface="Open Sans" panose="020B0606030504020204" pitchFamily="34" charset="0"/>
                </a:rPr>
                <a:t>RECOUPED PER PALLET</a:t>
              </a:r>
            </a:p>
          </p:txBody>
        </p:sp>
        <p:cxnSp>
          <p:nvCxnSpPr>
            <p:cNvPr id="16" name="Straight Connector 15"/>
            <p:cNvCxnSpPr/>
            <p:nvPr/>
          </p:nvCxnSpPr>
          <p:spPr>
            <a:xfrm>
              <a:off x="2960483" y="5006566"/>
              <a:ext cx="0" cy="1227483"/>
            </a:xfrm>
            <a:prstGeom prst="line">
              <a:avLst/>
            </a:prstGeom>
            <a:ln>
              <a:solidFill>
                <a:srgbClr val="6B7489"/>
              </a:solidFill>
            </a:ln>
          </p:spPr>
          <p:style>
            <a:lnRef idx="1">
              <a:schemeClr val="accent1"/>
            </a:lnRef>
            <a:fillRef idx="0">
              <a:schemeClr val="accent1"/>
            </a:fillRef>
            <a:effectRef idx="0">
              <a:schemeClr val="accent1"/>
            </a:effectRef>
            <a:fontRef idx="minor">
              <a:schemeClr val="tx1"/>
            </a:fontRef>
          </p:style>
        </p:cxnSp>
      </p:grpSp>
      <p:pic>
        <p:nvPicPr>
          <p:cNvPr id="3" name="Picture 2">
            <a:extLst>
              <a:ext uri="{FF2B5EF4-FFF2-40B4-BE49-F238E27FC236}">
                <a16:creationId xmlns:a16="http://schemas.microsoft.com/office/drawing/2014/main" id="{658A8618-31DD-5EAD-B4D4-0FCC010E2C40}"/>
              </a:ext>
            </a:extLst>
          </p:cNvPr>
          <p:cNvPicPr>
            <a:picLocks noChangeAspect="1"/>
          </p:cNvPicPr>
          <p:nvPr/>
        </p:nvPicPr>
        <p:blipFill>
          <a:blip r:embed="rId2"/>
          <a:stretch>
            <a:fillRect/>
          </a:stretch>
        </p:blipFill>
        <p:spPr>
          <a:xfrm>
            <a:off x="5709368" y="1252753"/>
            <a:ext cx="4477260" cy="4524626"/>
          </a:xfrm>
          <a:prstGeom prst="rect">
            <a:avLst/>
          </a:prstGeom>
        </p:spPr>
      </p:pic>
    </p:spTree>
    <p:extLst>
      <p:ext uri="{BB962C8B-B14F-4D97-AF65-F5344CB8AC3E}">
        <p14:creationId xmlns:p14="http://schemas.microsoft.com/office/powerpoint/2010/main" val="27865027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6"/>
          <p:cNvSpPr txBox="1">
            <a:spLocks/>
          </p:cNvSpPr>
          <p:nvPr/>
        </p:nvSpPr>
        <p:spPr>
          <a:xfrm>
            <a:off x="533400" y="649224"/>
            <a:ext cx="6172200" cy="923330"/>
          </a:xfrm>
          <a:prstGeom prst="rect">
            <a:avLst/>
          </a:prstGeom>
        </p:spPr>
        <p:txBody>
          <a:bodyPr vert="horz" wrap="square" lIns="0" tIns="0" rIns="0" bIns="0" rtlCol="0">
            <a:spAutoFit/>
          </a:bodyPr>
          <a:lstStyle>
            <a:lvl1pPr>
              <a:defRPr>
                <a:latin typeface="+mj-lt"/>
                <a:ea typeface="+mj-ea"/>
                <a:cs typeface="+mj-cs"/>
              </a:defRPr>
            </a:lvl1pPr>
          </a:lstStyle>
          <a:p>
            <a:r>
              <a:rPr lang="en-CA" sz="3000" b="1" dirty="0">
                <a:solidFill>
                  <a:srgbClr val="001691"/>
                </a:solidFill>
                <a:latin typeface="Montserrat" panose="00000500000000000000" pitchFamily="50" charset="0"/>
              </a:rPr>
              <a:t>FLOW WMS</a:t>
            </a:r>
          </a:p>
          <a:p>
            <a:r>
              <a:rPr lang="en-CA" sz="3000" b="1" dirty="0">
                <a:solidFill>
                  <a:srgbClr val="09A1FF"/>
                </a:solidFill>
                <a:latin typeface="Montserrat" panose="00000500000000000000" pitchFamily="50" charset="0"/>
              </a:rPr>
              <a:t>BY MAGAYA</a:t>
            </a:r>
            <a:endParaRPr lang="en-CA" sz="3000" dirty="0">
              <a:solidFill>
                <a:srgbClr val="09A1FF"/>
              </a:solidFill>
              <a:latin typeface="Montserrat" panose="00000500000000000000" pitchFamily="50" charset="0"/>
            </a:endParaRPr>
          </a:p>
        </p:txBody>
      </p:sp>
      <p:sp>
        <p:nvSpPr>
          <p:cNvPr id="3" name="object 4"/>
          <p:cNvSpPr txBox="1"/>
          <p:nvPr/>
        </p:nvSpPr>
        <p:spPr>
          <a:xfrm>
            <a:off x="533400" y="1709928"/>
            <a:ext cx="6400800" cy="738664"/>
          </a:xfrm>
          <a:prstGeom prst="rect">
            <a:avLst/>
          </a:prstGeom>
        </p:spPr>
        <p:txBody>
          <a:bodyPr vert="horz" wrap="square" lIns="0" tIns="0" rIns="0" bIns="0" rtlCol="0">
            <a:spAutoFit/>
          </a:bodyPr>
          <a:lstStyle/>
          <a:p>
            <a:pPr marR="5079">
              <a:spcAft>
                <a:spcPts val="600"/>
              </a:spcAft>
            </a:pPr>
            <a:r>
              <a:rPr lang="en-US" sz="1200" spc="-20" dirty="0">
                <a:latin typeface="Open Sans" panose="020B0606030504020204" pitchFamily="34" charset="0"/>
                <a:ea typeface="Open Sans" panose="020B0606030504020204" pitchFamily="34" charset="0"/>
                <a:cs typeface="Open Sans" panose="020B0606030504020204" pitchFamily="34" charset="0"/>
              </a:rPr>
              <a:t>Designed for Android™ and iOS™, Flow WMS gives you the freedom of a modern mobile WMS with the real-time visibility and functionality you need for efficient and fast receiving and warehouse operations. With complete control of your warehouse tasks, Flow WMS goes beyond basic warehouse inventory control giving you true productivity in the warehouse. </a:t>
            </a:r>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781800" y="624824"/>
            <a:ext cx="3445981" cy="1979371"/>
          </a:xfrm>
          <a:prstGeom prst="rect">
            <a:avLst/>
          </a:prstGeom>
        </p:spPr>
      </p:pic>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901272" y="1219200"/>
            <a:ext cx="764215" cy="1454491"/>
          </a:xfrm>
          <a:prstGeom prst="rect">
            <a:avLst/>
          </a:prstGeom>
        </p:spPr>
      </p:pic>
      <p:sp>
        <p:nvSpPr>
          <p:cNvPr id="8" name="object 6"/>
          <p:cNvSpPr txBox="1">
            <a:spLocks/>
          </p:cNvSpPr>
          <p:nvPr/>
        </p:nvSpPr>
        <p:spPr>
          <a:xfrm>
            <a:off x="533400" y="2667000"/>
            <a:ext cx="4495800" cy="4478149"/>
          </a:xfrm>
          <a:prstGeom prst="rect">
            <a:avLst/>
          </a:prstGeom>
        </p:spPr>
        <p:txBody>
          <a:bodyPr vert="horz" wrap="square" lIns="0" tIns="0" rIns="0" bIns="0" rtlCol="0">
            <a:spAutoFit/>
          </a:bodyPr>
          <a:lstStyle>
            <a:lvl1pPr>
              <a:defRPr>
                <a:latin typeface="+mj-lt"/>
                <a:ea typeface="+mj-ea"/>
                <a:cs typeface="+mj-cs"/>
              </a:defRPr>
            </a:lvl1pPr>
          </a:lstStyle>
          <a:p>
            <a:r>
              <a:rPr lang="en-CA" sz="1600" b="1" dirty="0">
                <a:solidFill>
                  <a:srgbClr val="09A1FF"/>
                </a:solidFill>
                <a:latin typeface="Montserrat" panose="00000500000000000000" pitchFamily="50" charset="0"/>
              </a:rPr>
              <a:t>BENEFITS</a:t>
            </a:r>
          </a:p>
          <a:p>
            <a:br>
              <a:rPr lang="en-US" sz="1100" b="1" dirty="0">
                <a:solidFill>
                  <a:srgbClr val="001691"/>
                </a:solidFill>
                <a:latin typeface="Montserrat" panose="00000500000000000000" pitchFamily="50" charset="0"/>
                <a:cs typeface="Open Sans" panose="020B0606030504020204" pitchFamily="34" charset="0"/>
              </a:rPr>
            </a:br>
            <a:r>
              <a:rPr lang="en-US" sz="1100" b="1" dirty="0">
                <a:solidFill>
                  <a:srgbClr val="001691"/>
                </a:solidFill>
                <a:latin typeface="Montserrat" panose="00000500000000000000" pitchFamily="50" charset="0"/>
                <a:cs typeface="Open Sans" panose="020B0606030504020204" pitchFamily="34" charset="0"/>
              </a:rPr>
              <a:t>INTEGRATED</a:t>
            </a:r>
          </a:p>
          <a:p>
            <a:r>
              <a:rPr lang="en-US" sz="1100" dirty="0">
                <a:solidFill>
                  <a:srgbClr val="000000"/>
                </a:solidFill>
                <a:latin typeface="Open Sans" panose="020B0606030504020204" pitchFamily="34" charset="0"/>
                <a:cs typeface="Open Sans" panose="020B0606030504020204" pitchFamily="34" charset="0"/>
              </a:rPr>
              <a:t>Flow WMS is designed to work in perfect harmony with Magaya Supply Chain and Magaya Dimensioner, giving you the perfect toolset for your most efficient warehouse ever.</a:t>
            </a:r>
          </a:p>
          <a:p>
            <a:endParaRPr lang="en-US" sz="1100" dirty="0">
              <a:solidFill>
                <a:srgbClr val="000000"/>
              </a:solidFill>
              <a:latin typeface="Open Sans" panose="020B0606030504020204" pitchFamily="34" charset="0"/>
              <a:cs typeface="Open Sans" panose="020B0606030504020204" pitchFamily="34" charset="0"/>
            </a:endParaRPr>
          </a:p>
          <a:p>
            <a:r>
              <a:rPr lang="en-US" sz="1100" b="1" dirty="0">
                <a:solidFill>
                  <a:srgbClr val="001691"/>
                </a:solidFill>
                <a:latin typeface="Montserrat" panose="00000500000000000000" pitchFamily="50" charset="0"/>
                <a:cs typeface="Open Sans" panose="020B0606030504020204" pitchFamily="34" charset="0"/>
              </a:rPr>
              <a:t>REAL-TIME</a:t>
            </a:r>
          </a:p>
          <a:p>
            <a:r>
              <a:rPr lang="en-US" sz="1100" dirty="0">
                <a:solidFill>
                  <a:srgbClr val="000000"/>
                </a:solidFill>
                <a:latin typeface="Open Sans" panose="020B0606030504020204" pitchFamily="34" charset="0"/>
                <a:cs typeface="Open Sans" panose="020B0606030504020204" pitchFamily="34" charset="0"/>
              </a:rPr>
              <a:t>Scan barcodes and take photos with the Flow WMS app and attach them in real-time to the related transaction in your Magaya system.</a:t>
            </a:r>
          </a:p>
          <a:p>
            <a:endParaRPr lang="en-US" sz="1100" dirty="0">
              <a:solidFill>
                <a:srgbClr val="000000"/>
              </a:solidFill>
              <a:latin typeface="Open Sans" panose="020B0606030504020204" pitchFamily="34" charset="0"/>
              <a:cs typeface="Open Sans" panose="020B0606030504020204" pitchFamily="34" charset="0"/>
            </a:endParaRPr>
          </a:p>
          <a:p>
            <a:r>
              <a:rPr lang="en-US" sz="1100" b="1" dirty="0">
                <a:solidFill>
                  <a:srgbClr val="001691"/>
                </a:solidFill>
                <a:latin typeface="Montserrat" panose="00000500000000000000" pitchFamily="50" charset="0"/>
                <a:cs typeface="Open Sans" panose="020B0606030504020204" pitchFamily="34" charset="0"/>
              </a:rPr>
              <a:t>INTUITIVE</a:t>
            </a:r>
          </a:p>
          <a:p>
            <a:r>
              <a:rPr lang="en-US" sz="1100" dirty="0">
                <a:solidFill>
                  <a:srgbClr val="000000"/>
                </a:solidFill>
                <a:latin typeface="Open Sans" panose="020B0606030504020204" pitchFamily="34" charset="0"/>
                <a:cs typeface="Open Sans" panose="020B0606030504020204" pitchFamily="34" charset="0"/>
              </a:rPr>
              <a:t>Leave clunky old mobile WMS tools in the past, where they belong! Flow WMS has a modern, intuitive interface your users will love, encouraging fast adoption and frequent use.</a:t>
            </a:r>
          </a:p>
          <a:p>
            <a:endParaRPr lang="en-US" sz="1100" dirty="0">
              <a:solidFill>
                <a:srgbClr val="000000"/>
              </a:solidFill>
              <a:latin typeface="Open Sans" panose="020B0606030504020204" pitchFamily="34" charset="0"/>
              <a:cs typeface="Open Sans" panose="020B0606030504020204" pitchFamily="34" charset="0"/>
            </a:endParaRPr>
          </a:p>
          <a:p>
            <a:r>
              <a:rPr lang="en-US" sz="1100" b="1" dirty="0">
                <a:solidFill>
                  <a:srgbClr val="001691"/>
                </a:solidFill>
                <a:latin typeface="Montserrat" panose="00000500000000000000" pitchFamily="50" charset="0"/>
                <a:cs typeface="Open Sans" panose="020B0606030504020204" pitchFamily="34" charset="0"/>
              </a:rPr>
              <a:t>WORKS WITHOUT WI-FI </a:t>
            </a:r>
          </a:p>
          <a:p>
            <a:r>
              <a:rPr lang="en-US" sz="1100" dirty="0">
                <a:solidFill>
                  <a:srgbClr val="000000"/>
                </a:solidFill>
                <a:latin typeface="Open Sans" panose="020B0606030504020204" pitchFamily="34" charset="0"/>
                <a:cs typeface="Open Sans" panose="020B0606030504020204" pitchFamily="34" charset="0"/>
              </a:rPr>
              <a:t>Warehouses are notorious for having wi-fi dead zones. Flow WMS keeps you up and running with mobile data - even in the event the wi-fi connection drops.</a:t>
            </a:r>
          </a:p>
          <a:p>
            <a:endParaRPr lang="en-US" sz="1100" dirty="0">
              <a:solidFill>
                <a:srgbClr val="000000"/>
              </a:solidFill>
              <a:latin typeface="Open Sans" panose="020B0606030504020204" pitchFamily="34" charset="0"/>
              <a:cs typeface="Open Sans" panose="020B0606030504020204" pitchFamily="34" charset="0"/>
            </a:endParaRPr>
          </a:p>
          <a:p>
            <a:r>
              <a:rPr lang="en-US" sz="1100" b="1" dirty="0">
                <a:solidFill>
                  <a:srgbClr val="001691"/>
                </a:solidFill>
                <a:latin typeface="Montserrat" panose="00000500000000000000" pitchFamily="50" charset="0"/>
                <a:cs typeface="Open Sans" panose="020B0606030504020204" pitchFamily="34" charset="0"/>
              </a:rPr>
              <a:t>PHOTO CAPTURE</a:t>
            </a:r>
          </a:p>
          <a:p>
            <a:r>
              <a:rPr lang="en-US" sz="1100" dirty="0">
                <a:solidFill>
                  <a:srgbClr val="000000"/>
                </a:solidFill>
                <a:latin typeface="Open Sans" panose="020B0606030504020204" pitchFamily="34" charset="0"/>
                <a:cs typeface="Open Sans" panose="020B0606030504020204" pitchFamily="34" charset="0"/>
              </a:rPr>
              <a:t>Document your inventory with photos from the device’s built-in camera. Capture high-quality photos and scan barcodes, then upload them in real-time to the related item or commodity in your Magaya system.</a:t>
            </a:r>
          </a:p>
        </p:txBody>
      </p:sp>
      <p:sp>
        <p:nvSpPr>
          <p:cNvPr id="9" name="object 6"/>
          <p:cNvSpPr txBox="1">
            <a:spLocks/>
          </p:cNvSpPr>
          <p:nvPr/>
        </p:nvSpPr>
        <p:spPr>
          <a:xfrm>
            <a:off x="5334000" y="2667000"/>
            <a:ext cx="4648200" cy="4985980"/>
          </a:xfrm>
          <a:prstGeom prst="rect">
            <a:avLst/>
          </a:prstGeom>
        </p:spPr>
        <p:txBody>
          <a:bodyPr vert="horz" wrap="square" lIns="0" tIns="0" rIns="0" bIns="0" rtlCol="0">
            <a:spAutoFit/>
          </a:bodyPr>
          <a:lstStyle>
            <a:lvl1pPr>
              <a:defRPr>
                <a:latin typeface="+mj-lt"/>
                <a:ea typeface="+mj-ea"/>
                <a:cs typeface="+mj-cs"/>
              </a:defRPr>
            </a:lvl1pPr>
          </a:lstStyle>
          <a:p>
            <a:r>
              <a:rPr lang="en-CA" sz="1600" b="1" dirty="0">
                <a:solidFill>
                  <a:srgbClr val="09A1FF"/>
                </a:solidFill>
                <a:latin typeface="Montserrat" panose="00000500000000000000" pitchFamily="50" charset="0"/>
              </a:rPr>
              <a:t>KEY FEATURES</a:t>
            </a:r>
          </a:p>
          <a:p>
            <a:br>
              <a:rPr lang="en-US" sz="1100" b="1" dirty="0">
                <a:solidFill>
                  <a:srgbClr val="001691"/>
                </a:solidFill>
                <a:latin typeface="Montserrat" panose="00000500000000000000" pitchFamily="50" charset="0"/>
                <a:cs typeface="Open Sans" panose="020B0606030504020204" pitchFamily="34" charset="0"/>
              </a:rPr>
            </a:br>
            <a:r>
              <a:rPr lang="en-US" sz="1100" b="1" dirty="0">
                <a:solidFill>
                  <a:srgbClr val="001691"/>
                </a:solidFill>
                <a:latin typeface="Montserrat" panose="00000500000000000000" pitchFamily="50" charset="0"/>
                <a:cs typeface="Open Sans" panose="020B0606030504020204" pitchFamily="34" charset="0"/>
              </a:rPr>
              <a:t>RECEIVING</a:t>
            </a:r>
          </a:p>
          <a:p>
            <a:pPr marL="171450" indent="-171450">
              <a:buFont typeface="Arial" panose="020B0604020202020204" pitchFamily="34" charset="0"/>
              <a:buChar char="•"/>
            </a:pPr>
            <a:r>
              <a:rPr lang="en-US" sz="1100" dirty="0">
                <a:solidFill>
                  <a:srgbClr val="000000"/>
                </a:solidFill>
                <a:latin typeface="Open Sans" panose="020B0606030504020204" pitchFamily="34" charset="0"/>
                <a:cs typeface="Open Sans" panose="020B0606030504020204" pitchFamily="34" charset="0"/>
              </a:rPr>
              <a:t>Blind or by reference</a:t>
            </a:r>
          </a:p>
          <a:p>
            <a:pPr marL="171450" indent="-171450">
              <a:buFont typeface="Arial" panose="020B0604020202020204" pitchFamily="34" charset="0"/>
              <a:buChar char="•"/>
            </a:pPr>
            <a:r>
              <a:rPr lang="en-US" sz="1100" dirty="0">
                <a:solidFill>
                  <a:srgbClr val="000000"/>
                </a:solidFill>
                <a:latin typeface="Open Sans" panose="020B0606030504020204" pitchFamily="34" charset="0"/>
                <a:cs typeface="Open Sans" panose="020B0606030504020204" pitchFamily="34" charset="0"/>
              </a:rPr>
              <a:t>Quick receiving or full details</a:t>
            </a:r>
          </a:p>
          <a:p>
            <a:pPr marL="171450" indent="-171450">
              <a:buFont typeface="Arial" panose="020B0604020202020204" pitchFamily="34" charset="0"/>
              <a:buChar char="•"/>
            </a:pPr>
            <a:r>
              <a:rPr lang="en-US" sz="1100" dirty="0">
                <a:solidFill>
                  <a:srgbClr val="000000"/>
                </a:solidFill>
                <a:latin typeface="Open Sans" panose="020B0606030504020204" pitchFamily="34" charset="0"/>
                <a:cs typeface="Open Sans" panose="020B0606030504020204" pitchFamily="34" charset="0"/>
              </a:rPr>
              <a:t>Scan or manually enter items</a:t>
            </a:r>
          </a:p>
          <a:p>
            <a:pPr marL="171450" indent="-171450">
              <a:buFont typeface="Arial" panose="020B0604020202020204" pitchFamily="34" charset="0"/>
              <a:buChar char="•"/>
            </a:pPr>
            <a:r>
              <a:rPr lang="en-US" sz="1100" dirty="0">
                <a:solidFill>
                  <a:srgbClr val="000000"/>
                </a:solidFill>
                <a:latin typeface="Open Sans" panose="020B0606030504020204" pitchFamily="34" charset="0"/>
                <a:cs typeface="Open Sans" panose="020B0606030504020204" pitchFamily="34" charset="0"/>
              </a:rPr>
              <a:t>Capture photos, print labels, repack</a:t>
            </a:r>
          </a:p>
          <a:p>
            <a:pPr marL="171450" indent="-171450">
              <a:buFont typeface="Arial" panose="020B0604020202020204" pitchFamily="34" charset="0"/>
              <a:buChar char="•"/>
            </a:pPr>
            <a:r>
              <a:rPr lang="en-US" sz="1100" dirty="0">
                <a:solidFill>
                  <a:srgbClr val="000000"/>
                </a:solidFill>
                <a:latin typeface="Open Sans" panose="020B0606030504020204" pitchFamily="34" charset="0"/>
                <a:cs typeface="Open Sans" panose="020B0606030504020204" pitchFamily="34" charset="0"/>
              </a:rPr>
              <a:t>Obtain weights and measures from Dimensioner by Magaya</a:t>
            </a:r>
          </a:p>
          <a:p>
            <a:endParaRPr lang="en-US" sz="1100" b="1" dirty="0">
              <a:solidFill>
                <a:srgbClr val="001691"/>
              </a:solidFill>
              <a:latin typeface="Montserrat" panose="00000500000000000000" pitchFamily="50" charset="0"/>
              <a:cs typeface="Open Sans" panose="020B0606030504020204" pitchFamily="34" charset="0"/>
            </a:endParaRPr>
          </a:p>
          <a:p>
            <a:r>
              <a:rPr lang="en-US" sz="1100" b="1" dirty="0">
                <a:solidFill>
                  <a:srgbClr val="001691"/>
                </a:solidFill>
                <a:latin typeface="Montserrat" panose="00000500000000000000" pitchFamily="50" charset="0"/>
                <a:cs typeface="Open Sans" panose="020B0606030504020204" pitchFamily="34" charset="0"/>
              </a:rPr>
              <a:t>LOOKUP</a:t>
            </a:r>
          </a:p>
          <a:p>
            <a:pPr marL="171450" indent="-171450">
              <a:buFont typeface="Arial" panose="020B0604020202020204" pitchFamily="34" charset="0"/>
              <a:buChar char="•"/>
            </a:pPr>
            <a:r>
              <a:rPr lang="en-US" sz="1100" dirty="0">
                <a:solidFill>
                  <a:srgbClr val="000000"/>
                </a:solidFill>
                <a:latin typeface="Open Sans" panose="020B0606030504020204" pitchFamily="34" charset="0"/>
                <a:cs typeface="Open Sans" panose="020B0606030504020204" pitchFamily="34" charset="0"/>
              </a:rPr>
              <a:t>Find and edit items by tracking number or location</a:t>
            </a:r>
          </a:p>
          <a:p>
            <a:pPr marL="171450" indent="-171450">
              <a:buFont typeface="Arial" panose="020B0604020202020204" pitchFamily="34" charset="0"/>
              <a:buChar char="•"/>
            </a:pPr>
            <a:r>
              <a:rPr lang="en-US" sz="1100" dirty="0">
                <a:solidFill>
                  <a:srgbClr val="000000"/>
                </a:solidFill>
                <a:latin typeface="Open Sans" panose="020B0606030504020204" pitchFamily="34" charset="0"/>
                <a:cs typeface="Open Sans" panose="020B0606030504020204" pitchFamily="34" charset="0"/>
              </a:rPr>
              <a:t>Take additional photos as needed</a:t>
            </a:r>
          </a:p>
          <a:p>
            <a:pPr marL="171450" indent="-171450">
              <a:buFont typeface="Arial" panose="020B0604020202020204" pitchFamily="34" charset="0"/>
              <a:buChar char="•"/>
            </a:pPr>
            <a:r>
              <a:rPr lang="en-US" sz="1100" dirty="0">
                <a:solidFill>
                  <a:srgbClr val="000000"/>
                </a:solidFill>
                <a:latin typeface="Open Sans" panose="020B0606030504020204" pitchFamily="34" charset="0"/>
                <a:cs typeface="Open Sans" panose="020B0606030504020204" pitchFamily="34" charset="0"/>
              </a:rPr>
              <a:t>Assign new locations</a:t>
            </a:r>
          </a:p>
          <a:p>
            <a:pPr marL="171450" indent="-171450">
              <a:buFont typeface="Arial" panose="020B0604020202020204" pitchFamily="34" charset="0"/>
              <a:buChar char="•"/>
            </a:pPr>
            <a:r>
              <a:rPr lang="en-US" sz="1100" dirty="0">
                <a:solidFill>
                  <a:srgbClr val="000000"/>
                </a:solidFill>
                <a:latin typeface="Open Sans" panose="020B0606030504020204" pitchFamily="34" charset="0"/>
                <a:cs typeface="Open Sans" panose="020B0606030504020204" pitchFamily="34" charset="0"/>
              </a:rPr>
              <a:t>Reprint labels</a:t>
            </a:r>
          </a:p>
          <a:p>
            <a:pPr marL="171450" indent="-171450">
              <a:buFont typeface="Arial" panose="020B0604020202020204" pitchFamily="34" charset="0"/>
              <a:buChar char="•"/>
            </a:pPr>
            <a:r>
              <a:rPr lang="en-US" sz="1100" dirty="0">
                <a:solidFill>
                  <a:srgbClr val="000000"/>
                </a:solidFill>
                <a:latin typeface="Open Sans" panose="020B0606030504020204" pitchFamily="34" charset="0"/>
                <a:cs typeface="Open Sans" panose="020B0606030504020204" pitchFamily="34" charset="0"/>
              </a:rPr>
              <a:t>Obtain weights and measures from Dimensioner by Magaya</a:t>
            </a:r>
          </a:p>
          <a:p>
            <a:pPr marL="171450" indent="-171450">
              <a:buFont typeface="Arial" panose="020B0604020202020204" pitchFamily="34" charset="0"/>
              <a:buChar char="•"/>
            </a:pPr>
            <a:r>
              <a:rPr lang="en-US" sz="1100" dirty="0">
                <a:solidFill>
                  <a:srgbClr val="000000"/>
                </a:solidFill>
                <a:latin typeface="Open Sans" panose="020B0606030504020204" pitchFamily="34" charset="0"/>
                <a:cs typeface="Open Sans" panose="020B0606030504020204" pitchFamily="34" charset="0"/>
              </a:rPr>
              <a:t>View and edit item data</a:t>
            </a:r>
          </a:p>
          <a:p>
            <a:pPr marL="171450" indent="-171450">
              <a:buFont typeface="Arial" panose="020B0604020202020204" pitchFamily="34" charset="0"/>
              <a:buChar char="•"/>
            </a:pPr>
            <a:endParaRPr lang="en-US" sz="1100" dirty="0">
              <a:solidFill>
                <a:srgbClr val="000000"/>
              </a:solidFill>
              <a:latin typeface="Open Sans" panose="020B0606030504020204" pitchFamily="34" charset="0"/>
              <a:cs typeface="Open Sans" panose="020B0606030504020204" pitchFamily="34" charset="0"/>
            </a:endParaRPr>
          </a:p>
          <a:p>
            <a:r>
              <a:rPr lang="en-US" sz="1100" b="1" dirty="0">
                <a:solidFill>
                  <a:srgbClr val="001691"/>
                </a:solidFill>
                <a:latin typeface="Montserrat" panose="00000500000000000000" pitchFamily="50" charset="0"/>
                <a:cs typeface="Open Sans" panose="020B0606030504020204" pitchFamily="34" charset="0"/>
              </a:rPr>
              <a:t>SPECIFICATIONS</a:t>
            </a:r>
          </a:p>
          <a:p>
            <a:pPr marL="171450" indent="-171450">
              <a:buFont typeface="Arial" panose="020B0604020202020204" pitchFamily="34" charset="0"/>
              <a:buChar char="•"/>
            </a:pPr>
            <a:r>
              <a:rPr lang="en-US" sz="1100" dirty="0">
                <a:solidFill>
                  <a:srgbClr val="000000"/>
                </a:solidFill>
                <a:latin typeface="Open Sans" panose="020B0606030504020204" pitchFamily="34" charset="0"/>
                <a:cs typeface="Open Sans" panose="020B0606030504020204" pitchFamily="34" charset="0"/>
              </a:rPr>
              <a:t>In-progress operations saved on the device</a:t>
            </a:r>
          </a:p>
          <a:p>
            <a:pPr marL="171450" indent="-171450">
              <a:buFont typeface="Arial" panose="020B0604020202020204" pitchFamily="34" charset="0"/>
              <a:buChar char="•"/>
            </a:pPr>
            <a:r>
              <a:rPr lang="en-US" sz="1100" dirty="0">
                <a:solidFill>
                  <a:srgbClr val="000000"/>
                </a:solidFill>
                <a:latin typeface="Open Sans" panose="020B0606030504020204" pitchFamily="34" charset="0"/>
                <a:cs typeface="Open Sans" panose="020B0606030504020204" pitchFamily="34" charset="0"/>
              </a:rPr>
              <a:t>Progress can be saved before submitting</a:t>
            </a:r>
          </a:p>
          <a:p>
            <a:pPr marL="171450" indent="-171450">
              <a:buFont typeface="Arial" panose="020B0604020202020204" pitchFamily="34" charset="0"/>
              <a:buChar char="•"/>
            </a:pPr>
            <a:r>
              <a:rPr lang="en-US" sz="1100" dirty="0">
                <a:solidFill>
                  <a:srgbClr val="000000"/>
                </a:solidFill>
                <a:latin typeface="Open Sans" panose="020B0606030504020204" pitchFamily="34" charset="0"/>
                <a:cs typeface="Open Sans" panose="020B0606030504020204" pitchFamily="34" charset="0"/>
              </a:rPr>
              <a:t>Works over wi-fi or mobile data</a:t>
            </a:r>
          </a:p>
          <a:p>
            <a:pPr marL="171450" indent="-171450">
              <a:buFont typeface="Arial" panose="020B0604020202020204" pitchFamily="34" charset="0"/>
              <a:buChar char="•"/>
            </a:pPr>
            <a:r>
              <a:rPr lang="en-US" sz="1100" dirty="0">
                <a:solidFill>
                  <a:srgbClr val="000000"/>
                </a:solidFill>
                <a:latin typeface="Open Sans" panose="020B0606030504020204" pitchFamily="34" charset="0"/>
                <a:cs typeface="Open Sans" panose="020B0606030504020204" pitchFamily="34" charset="0"/>
              </a:rPr>
              <a:t>Compatible with Android (6 and newer) and iPhone (11 and newer)</a:t>
            </a:r>
          </a:p>
          <a:p>
            <a:pPr marL="171450" indent="-171450">
              <a:buFont typeface="Arial" panose="020B0604020202020204" pitchFamily="34" charset="0"/>
              <a:buChar char="•"/>
            </a:pPr>
            <a:endParaRPr lang="en-US" sz="1100" dirty="0">
              <a:solidFill>
                <a:srgbClr val="000000"/>
              </a:solidFill>
              <a:latin typeface="Open Sans" panose="020B0606030504020204" pitchFamily="34" charset="0"/>
              <a:cs typeface="Open Sans" panose="020B0606030504020204" pitchFamily="34" charset="0"/>
            </a:endParaRPr>
          </a:p>
          <a:p>
            <a:r>
              <a:rPr lang="en-US" sz="1100" b="1" dirty="0">
                <a:solidFill>
                  <a:srgbClr val="001691"/>
                </a:solidFill>
                <a:latin typeface="Montserrat" panose="00000500000000000000" pitchFamily="50" charset="0"/>
                <a:cs typeface="Open Sans" panose="020B0606030504020204" pitchFamily="34" charset="0"/>
              </a:rPr>
              <a:t>PICKING &amp; LOADING</a:t>
            </a:r>
          </a:p>
          <a:p>
            <a:pPr marL="171450" indent="-171450">
              <a:buFont typeface="Arial" panose="020B0604020202020204" pitchFamily="34" charset="0"/>
              <a:buChar char="•"/>
            </a:pPr>
            <a:r>
              <a:rPr lang="en-US" sz="1100" dirty="0">
                <a:solidFill>
                  <a:srgbClr val="000000"/>
                </a:solidFill>
                <a:latin typeface="Open Sans" panose="020B0606030504020204" pitchFamily="34" charset="0"/>
                <a:cs typeface="Open Sans" panose="020B0606030504020204" pitchFamily="34" charset="0"/>
              </a:rPr>
              <a:t>Take pictures and edit item information during pick and load</a:t>
            </a:r>
          </a:p>
          <a:p>
            <a:pPr marL="171450" indent="-171450">
              <a:buFont typeface="Arial" panose="020B0604020202020204" pitchFamily="34" charset="0"/>
              <a:buChar char="•"/>
            </a:pPr>
            <a:r>
              <a:rPr lang="en-US" sz="1100" dirty="0">
                <a:solidFill>
                  <a:srgbClr val="000000"/>
                </a:solidFill>
                <a:latin typeface="Open Sans" panose="020B0606030504020204" pitchFamily="34" charset="0"/>
                <a:cs typeface="Open Sans" panose="020B0606030504020204" pitchFamily="34" charset="0"/>
              </a:rPr>
              <a:t>Repack at any time and select package type</a:t>
            </a:r>
          </a:p>
          <a:p>
            <a:pPr marL="171450" indent="-171450">
              <a:buFont typeface="Arial" panose="020B0604020202020204" pitchFamily="34" charset="0"/>
              <a:buChar char="•"/>
            </a:pPr>
            <a:r>
              <a:rPr lang="en-US" sz="1100" dirty="0">
                <a:solidFill>
                  <a:srgbClr val="000000"/>
                </a:solidFill>
                <a:latin typeface="Open Sans" panose="020B0606030504020204" pitchFamily="34" charset="0"/>
                <a:cs typeface="Open Sans" panose="020B0606030504020204" pitchFamily="34" charset="0"/>
              </a:rPr>
              <a:t>Delegate or reassign tasks to other users</a:t>
            </a:r>
          </a:p>
          <a:p>
            <a:pPr marL="171450" indent="-171450">
              <a:buFont typeface="Arial" panose="020B0604020202020204" pitchFamily="34" charset="0"/>
              <a:buChar char="•"/>
            </a:pPr>
            <a:r>
              <a:rPr lang="en-US" sz="1100" dirty="0">
                <a:solidFill>
                  <a:srgbClr val="000000"/>
                </a:solidFill>
                <a:latin typeface="Open Sans" panose="020B0606030504020204" pitchFamily="34" charset="0"/>
                <a:cs typeface="Open Sans" panose="020B0606030504020204" pitchFamily="34" charset="0"/>
              </a:rPr>
              <a:t>Load items directly into a shipping container</a:t>
            </a:r>
          </a:p>
        </p:txBody>
      </p:sp>
      <p:cxnSp>
        <p:nvCxnSpPr>
          <p:cNvPr id="13" name="Straight Connector 12"/>
          <p:cNvCxnSpPr/>
          <p:nvPr/>
        </p:nvCxnSpPr>
        <p:spPr>
          <a:xfrm>
            <a:off x="5181600" y="2590800"/>
            <a:ext cx="0" cy="487680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 name="object 6">
            <a:extLst>
              <a:ext uri="{FF2B5EF4-FFF2-40B4-BE49-F238E27FC236}">
                <a16:creationId xmlns:a16="http://schemas.microsoft.com/office/drawing/2014/main" id="{FF524A7F-8AEF-6993-08D8-311701D650F1}"/>
              </a:ext>
            </a:extLst>
          </p:cNvPr>
          <p:cNvSpPr txBox="1">
            <a:spLocks/>
          </p:cNvSpPr>
          <p:nvPr/>
        </p:nvSpPr>
        <p:spPr>
          <a:xfrm>
            <a:off x="533400" y="91440"/>
            <a:ext cx="9296400" cy="228268"/>
          </a:xfrm>
          <a:prstGeom prst="rect">
            <a:avLst/>
          </a:prstGeom>
        </p:spPr>
        <p:txBody>
          <a:bodyPr vert="horz" wrap="square" lIns="0" tIns="12700" rIns="0" bIns="0" rtlCol="0">
            <a:spAutoFit/>
          </a:bodyPr>
          <a:lstStyle>
            <a:lvl1pPr>
              <a:defRPr>
                <a:latin typeface="+mj-lt"/>
                <a:ea typeface="+mj-ea"/>
                <a:cs typeface="+mj-cs"/>
              </a:defRPr>
            </a:lvl1pPr>
          </a:lstStyle>
          <a:p>
            <a:pPr algn="r"/>
            <a:r>
              <a:rPr lang="en-CA" sz="1400" b="1" dirty="0">
                <a:solidFill>
                  <a:srgbClr val="6B7489"/>
                </a:solidFill>
                <a:latin typeface="Montserrat" panose="00000500000000000000" pitchFamily="50" charset="0"/>
              </a:rPr>
              <a:t>MAGAYA SUPPLY CHAIN </a:t>
            </a:r>
            <a:r>
              <a:rPr lang="en-CA" sz="1400" b="1" dirty="0">
                <a:solidFill>
                  <a:srgbClr val="001691"/>
                </a:solidFill>
                <a:latin typeface="Montserrat" panose="00000500000000000000" pitchFamily="50" charset="0"/>
              </a:rPr>
              <a:t>APPS &amp; EXTENSIONS</a:t>
            </a:r>
            <a:endParaRPr lang="en-US" sz="1400" kern="0" dirty="0">
              <a:solidFill>
                <a:srgbClr val="001691"/>
              </a:solidFill>
              <a:latin typeface="Montserrat" panose="00000500000000000000" pitchFamily="50" charset="0"/>
            </a:endParaRPr>
          </a:p>
        </p:txBody>
      </p:sp>
    </p:spTree>
    <p:extLst>
      <p:ext uri="{BB962C8B-B14F-4D97-AF65-F5344CB8AC3E}">
        <p14:creationId xmlns:p14="http://schemas.microsoft.com/office/powerpoint/2010/main" val="17654528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6"/>
          <p:cNvSpPr txBox="1">
            <a:spLocks/>
          </p:cNvSpPr>
          <p:nvPr/>
        </p:nvSpPr>
        <p:spPr>
          <a:xfrm>
            <a:off x="533400" y="649224"/>
            <a:ext cx="4800600" cy="923330"/>
          </a:xfrm>
          <a:prstGeom prst="rect">
            <a:avLst/>
          </a:prstGeom>
        </p:spPr>
        <p:txBody>
          <a:bodyPr vert="horz" wrap="square" lIns="0" tIns="0" rIns="0" bIns="0" rtlCol="0">
            <a:spAutoFit/>
          </a:bodyPr>
          <a:lstStyle>
            <a:lvl1pPr>
              <a:defRPr>
                <a:latin typeface="+mj-lt"/>
                <a:ea typeface="+mj-ea"/>
                <a:cs typeface="+mj-cs"/>
              </a:defRPr>
            </a:lvl1pPr>
          </a:lstStyle>
          <a:p>
            <a:r>
              <a:rPr lang="en-CA" sz="3000" b="1" dirty="0">
                <a:solidFill>
                  <a:srgbClr val="001691"/>
                </a:solidFill>
                <a:latin typeface="Montserrat" panose="00000500000000000000" pitchFamily="50" charset="0"/>
              </a:rPr>
              <a:t>BINDER</a:t>
            </a:r>
          </a:p>
          <a:p>
            <a:r>
              <a:rPr lang="en-CA" sz="3000" b="1" dirty="0">
                <a:solidFill>
                  <a:srgbClr val="09A1FF"/>
                </a:solidFill>
                <a:latin typeface="Montserrat" panose="00000500000000000000" pitchFamily="50" charset="0"/>
              </a:rPr>
              <a:t>BY MAGAYA</a:t>
            </a:r>
            <a:endParaRPr lang="en-CA" sz="3000" dirty="0">
              <a:solidFill>
                <a:srgbClr val="09A1FF"/>
              </a:solidFill>
              <a:latin typeface="Montserrat" panose="00000500000000000000" pitchFamily="50" charset="0"/>
            </a:endParaRPr>
          </a:p>
        </p:txBody>
      </p:sp>
      <p:sp>
        <p:nvSpPr>
          <p:cNvPr id="8" name="object 6"/>
          <p:cNvSpPr txBox="1">
            <a:spLocks/>
          </p:cNvSpPr>
          <p:nvPr/>
        </p:nvSpPr>
        <p:spPr>
          <a:xfrm>
            <a:off x="533400" y="3150290"/>
            <a:ext cx="4495800" cy="4393510"/>
          </a:xfrm>
          <a:prstGeom prst="rect">
            <a:avLst/>
          </a:prstGeom>
        </p:spPr>
        <p:txBody>
          <a:bodyPr vert="horz" wrap="square" lIns="0" tIns="0" rIns="0" bIns="0" rtlCol="0">
            <a:spAutoFit/>
          </a:bodyPr>
          <a:lstStyle>
            <a:lvl1pPr>
              <a:defRPr>
                <a:latin typeface="+mj-lt"/>
                <a:ea typeface="+mj-ea"/>
                <a:cs typeface="+mj-cs"/>
              </a:defRPr>
            </a:lvl1pPr>
          </a:lstStyle>
          <a:p>
            <a:pPr>
              <a:spcAft>
                <a:spcPts val="300"/>
              </a:spcAft>
            </a:pPr>
            <a:r>
              <a:rPr lang="en-CA" sz="1600" b="1" dirty="0">
                <a:solidFill>
                  <a:srgbClr val="09A1FF"/>
                </a:solidFill>
                <a:latin typeface="Montserrat" panose="00000500000000000000" pitchFamily="50" charset="0"/>
              </a:rPr>
              <a:t>BENEFITS</a:t>
            </a:r>
          </a:p>
          <a:p>
            <a:pPr>
              <a:spcAft>
                <a:spcPts val="300"/>
              </a:spcAft>
            </a:pPr>
            <a:br>
              <a:rPr lang="en-US" sz="1100" b="1" dirty="0">
                <a:solidFill>
                  <a:srgbClr val="001691"/>
                </a:solidFill>
                <a:latin typeface="Montserrat" panose="00000500000000000000" pitchFamily="50" charset="0"/>
                <a:cs typeface="Open Sans" panose="020B0606030504020204" pitchFamily="34" charset="0"/>
              </a:rPr>
            </a:br>
            <a:r>
              <a:rPr lang="en-US" sz="1100" b="1" dirty="0">
                <a:solidFill>
                  <a:srgbClr val="001691"/>
                </a:solidFill>
                <a:latin typeface="Montserrat" panose="00000500000000000000" pitchFamily="50" charset="0"/>
                <a:cs typeface="Open Sans" panose="020B0606030504020204" pitchFamily="34" charset="0"/>
              </a:rPr>
              <a:t>ADAPTS TO YOUR WORKFLOW</a:t>
            </a:r>
          </a:p>
          <a:p>
            <a:pPr>
              <a:spcAft>
                <a:spcPts val="300"/>
              </a:spcAft>
            </a:pPr>
            <a:r>
              <a:rPr lang="en-US" sz="1100" dirty="0">
                <a:solidFill>
                  <a:srgbClr val="383B48"/>
                </a:solidFill>
                <a:latin typeface="Open Sans" panose="020B0606030504020204" pitchFamily="34" charset="0"/>
                <a:cs typeface="Open Sans" panose="020B0606030504020204" pitchFamily="34" charset="0"/>
              </a:rPr>
              <a:t>Add images to your Magaya Supply Chain transactions directly from the Binder app. </a:t>
            </a:r>
            <a:r>
              <a:rPr lang="en-US" sz="1100" spc="-20" dirty="0">
                <a:solidFill>
                  <a:srgbClr val="383B48"/>
                </a:solidFill>
                <a:latin typeface="Open Sans" panose="020B0606030504020204" pitchFamily="34" charset="0"/>
                <a:ea typeface="Open Sans" panose="020B0606030504020204" pitchFamily="34" charset="0"/>
                <a:cs typeface="Open Sans" panose="020B0606030504020204" pitchFamily="34" charset="0"/>
              </a:rPr>
              <a:t>Binder also lets you easily find the transaction or item in Magaya Supply Chain by manually searching or scanning a barcode.</a:t>
            </a:r>
          </a:p>
          <a:p>
            <a:pPr>
              <a:spcAft>
                <a:spcPts val="300"/>
              </a:spcAft>
            </a:pPr>
            <a:r>
              <a:rPr lang="en-US" sz="1000" spc="-20" dirty="0">
                <a:solidFill>
                  <a:srgbClr val="383B48"/>
                </a:solidFill>
                <a:latin typeface="Open Sans" panose="020B0606030504020204" pitchFamily="34" charset="0"/>
                <a:ea typeface="Open Sans" panose="020B0606030504020204" pitchFamily="34" charset="0"/>
                <a:cs typeface="Open Sans" panose="020B0606030504020204" pitchFamily="34" charset="0"/>
              </a:rPr>
              <a:t> </a:t>
            </a:r>
            <a:endParaRPr lang="en-US" sz="1000" dirty="0">
              <a:solidFill>
                <a:srgbClr val="383B48"/>
              </a:solidFill>
              <a:latin typeface="Open Sans" panose="020B0606030504020204" pitchFamily="34" charset="0"/>
              <a:cs typeface="Open Sans" panose="020B0606030504020204" pitchFamily="34" charset="0"/>
            </a:endParaRPr>
          </a:p>
          <a:p>
            <a:pPr>
              <a:spcAft>
                <a:spcPts val="300"/>
              </a:spcAft>
            </a:pPr>
            <a:r>
              <a:rPr lang="en-US" sz="1100" b="1" dirty="0">
                <a:solidFill>
                  <a:srgbClr val="001691"/>
                </a:solidFill>
                <a:latin typeface="Montserrat" panose="00000500000000000000" pitchFamily="50" charset="0"/>
                <a:cs typeface="Open Sans" panose="020B0606030504020204" pitchFamily="34" charset="0"/>
              </a:rPr>
              <a:t>DELIVERS A BETTER CUSTOMER EXPERIENCE</a:t>
            </a:r>
          </a:p>
          <a:p>
            <a:pPr>
              <a:spcAft>
                <a:spcPts val="300"/>
              </a:spcAft>
            </a:pPr>
            <a:r>
              <a:rPr lang="en-US" sz="1100" dirty="0">
                <a:solidFill>
                  <a:srgbClr val="000000"/>
                </a:solidFill>
                <a:latin typeface="Open Sans" panose="020B0606030504020204" pitchFamily="34" charset="0"/>
                <a:cs typeface="Open Sans" panose="020B0606030504020204" pitchFamily="34" charset="0"/>
              </a:rPr>
              <a:t>Take pictures of items or documents and send them directly to the right transaction in Magaya, providing the visibility customers want. Pictures are visible to the customer in real-time via the Magaya Digital Freight Portal and LiveTrack Mobile App by Magaya.</a:t>
            </a:r>
          </a:p>
          <a:p>
            <a:pPr>
              <a:spcAft>
                <a:spcPts val="300"/>
              </a:spcAft>
            </a:pPr>
            <a:endParaRPr lang="en-US" sz="1000" dirty="0">
              <a:solidFill>
                <a:srgbClr val="000000"/>
              </a:solidFill>
              <a:latin typeface="Open Sans" panose="020B0606030504020204" pitchFamily="34" charset="0"/>
              <a:cs typeface="Open Sans" panose="020B0606030504020204" pitchFamily="34" charset="0"/>
            </a:endParaRPr>
          </a:p>
          <a:p>
            <a:pPr>
              <a:spcAft>
                <a:spcPts val="300"/>
              </a:spcAft>
            </a:pPr>
            <a:r>
              <a:rPr lang="en-US" sz="1100" b="1" dirty="0">
                <a:solidFill>
                  <a:srgbClr val="001691"/>
                </a:solidFill>
                <a:latin typeface="Montserrat" panose="00000500000000000000" pitchFamily="50" charset="0"/>
                <a:cs typeface="Open Sans" panose="020B0606030504020204" pitchFamily="34" charset="0"/>
              </a:rPr>
              <a:t>SAVES TIME AND MONEY</a:t>
            </a:r>
          </a:p>
          <a:p>
            <a:pPr>
              <a:spcAft>
                <a:spcPts val="300"/>
              </a:spcAft>
            </a:pPr>
            <a:r>
              <a:rPr lang="en-US" sz="1100" dirty="0">
                <a:solidFill>
                  <a:srgbClr val="000000"/>
                </a:solidFill>
                <a:latin typeface="Open Sans" panose="020B0606030504020204" pitchFamily="34" charset="0"/>
                <a:cs typeface="Open Sans" panose="020B0606030504020204" pitchFamily="34" charset="0"/>
              </a:rPr>
              <a:t>Save several minutes per item compared to using cameras, cables, memory cards. Plugging camera cables or memory cards is a huge time waster, and sensitive equipment is not made to withstand the warehouse environment. </a:t>
            </a:r>
          </a:p>
          <a:p>
            <a:pPr>
              <a:spcAft>
                <a:spcPts val="300"/>
              </a:spcAft>
            </a:pPr>
            <a:endParaRPr lang="en-US" sz="1000" dirty="0">
              <a:solidFill>
                <a:srgbClr val="000000"/>
              </a:solidFill>
              <a:latin typeface="Open Sans" panose="020B0606030504020204" pitchFamily="34" charset="0"/>
              <a:cs typeface="Open Sans" panose="020B0606030504020204" pitchFamily="34" charset="0"/>
            </a:endParaRPr>
          </a:p>
          <a:p>
            <a:pPr>
              <a:spcAft>
                <a:spcPts val="300"/>
              </a:spcAft>
            </a:pPr>
            <a:r>
              <a:rPr lang="en-US" sz="1100" b="1" dirty="0">
                <a:solidFill>
                  <a:srgbClr val="001691"/>
                </a:solidFill>
                <a:latin typeface="Montserrat" panose="00000500000000000000" pitchFamily="50" charset="0"/>
                <a:cs typeface="Open Sans" panose="020B0606030504020204" pitchFamily="34" charset="0"/>
              </a:rPr>
              <a:t>EASY TO USE</a:t>
            </a:r>
          </a:p>
          <a:p>
            <a:pPr>
              <a:spcAft>
                <a:spcPts val="300"/>
              </a:spcAft>
            </a:pPr>
            <a:r>
              <a:rPr lang="en-US" sz="1100" dirty="0">
                <a:solidFill>
                  <a:srgbClr val="000000"/>
                </a:solidFill>
                <a:latin typeface="Open Sans" panose="020B0606030504020204" pitchFamily="34" charset="0"/>
                <a:cs typeface="Open Sans" panose="020B0606030504020204" pitchFamily="34" charset="0"/>
              </a:rPr>
              <a:t>Download the free app to an iOS or Android device and begin uploading photos to the system. There is no setup needed to get started with Binder! </a:t>
            </a:r>
          </a:p>
        </p:txBody>
      </p:sp>
      <p:cxnSp>
        <p:nvCxnSpPr>
          <p:cNvPr id="13" name="Straight Connector 12"/>
          <p:cNvCxnSpPr/>
          <p:nvPr/>
        </p:nvCxnSpPr>
        <p:spPr>
          <a:xfrm>
            <a:off x="5181600" y="3150290"/>
            <a:ext cx="0" cy="431731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0" name="object 7"/>
          <p:cNvSpPr txBox="1"/>
          <p:nvPr/>
        </p:nvSpPr>
        <p:spPr>
          <a:xfrm>
            <a:off x="5355771" y="5334000"/>
            <a:ext cx="4495800" cy="1648913"/>
          </a:xfrm>
          <a:prstGeom prst="rect">
            <a:avLst/>
          </a:prstGeom>
        </p:spPr>
        <p:txBody>
          <a:bodyPr vert="horz" wrap="square" lIns="0" tIns="0" rIns="0" bIns="0" rtlCol="0">
            <a:spAutoFit/>
          </a:bodyPr>
          <a:lstStyle/>
          <a:p>
            <a:pPr marL="12700" marR="5080">
              <a:lnSpc>
                <a:spcPct val="120000"/>
              </a:lnSpc>
            </a:pPr>
            <a:r>
              <a:rPr lang="en-US" sz="1000" i="1" spc="5" dirty="0">
                <a:latin typeface="Open Sans" panose="020B0606030504020204" pitchFamily="34" charset="0"/>
                <a:ea typeface="Open Sans" panose="020B0606030504020204" pitchFamily="34" charset="0"/>
                <a:cs typeface="Open Sans" panose="020B0606030504020204" pitchFamily="34" charset="0"/>
              </a:rPr>
              <a:t>“Binder by Magaya has helped us immensely in terms of automating the process of vehicle arrival. We can scan a warehouse receipt and attach all the photos with the Binder app directly into our Magaya system. Before we would have to go through a long process of taking pictures and trying to attach the pictures to the respective transactions. What used to take about 20 minutes now only a couple of minutes with Binder.” </a:t>
            </a:r>
          </a:p>
          <a:p>
            <a:pPr marL="12700" marR="5080">
              <a:lnSpc>
                <a:spcPct val="120000"/>
              </a:lnSpc>
            </a:pPr>
            <a:r>
              <a:rPr lang="en-US" sz="1000" i="1" spc="-5" dirty="0">
                <a:solidFill>
                  <a:srgbClr val="09A1FF"/>
                </a:solidFill>
                <a:latin typeface="Open Sans" panose="020B0606030504020204" pitchFamily="34" charset="0"/>
                <a:ea typeface="Open Sans" panose="020B0606030504020204" pitchFamily="34" charset="0"/>
                <a:cs typeface="Open Sans" panose="020B0606030504020204" pitchFamily="34" charset="0"/>
              </a:rPr>
              <a:t>▬</a:t>
            </a:r>
          </a:p>
          <a:p>
            <a:pPr marL="12700" marR="5080">
              <a:lnSpc>
                <a:spcPct val="120000"/>
              </a:lnSpc>
            </a:pPr>
            <a:r>
              <a:rPr lang="en-US" sz="1000" dirty="0">
                <a:latin typeface="Open Sans" panose="020B0606030504020204" pitchFamily="34" charset="0"/>
                <a:ea typeface="Open Sans" panose="020B0606030504020204" pitchFamily="34" charset="0"/>
                <a:cs typeface="Open Sans" panose="020B0606030504020204" pitchFamily="34" charset="0"/>
              </a:rPr>
              <a:t>Dmitriy Shibarshin</a:t>
            </a:r>
          </a:p>
          <a:p>
            <a:pPr marL="12700" marR="5080">
              <a:lnSpc>
                <a:spcPct val="120000"/>
              </a:lnSpc>
            </a:pPr>
            <a:r>
              <a:rPr lang="en-US" sz="1000" dirty="0">
                <a:latin typeface="Open Sans" panose="020B0606030504020204" pitchFamily="34" charset="0"/>
                <a:ea typeface="Open Sans" panose="020B0606030504020204" pitchFamily="34" charset="0"/>
                <a:cs typeface="Open Sans" panose="020B0606030504020204" pitchFamily="34" charset="0"/>
              </a:rPr>
              <a:t>Marketing Director | West Coast Shipping</a:t>
            </a: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153400" y="533400"/>
            <a:ext cx="1520179" cy="2895196"/>
          </a:xfrm>
          <a:prstGeom prst="rect">
            <a:avLst/>
          </a:prstGeom>
        </p:spPr>
      </p:pic>
      <p:sp>
        <p:nvSpPr>
          <p:cNvPr id="5" name="object 6">
            <a:extLst>
              <a:ext uri="{FF2B5EF4-FFF2-40B4-BE49-F238E27FC236}">
                <a16:creationId xmlns:a16="http://schemas.microsoft.com/office/drawing/2014/main" id="{42B94AF7-C330-E133-BF62-2FD31D7B3B16}"/>
              </a:ext>
            </a:extLst>
          </p:cNvPr>
          <p:cNvSpPr txBox="1">
            <a:spLocks/>
          </p:cNvSpPr>
          <p:nvPr/>
        </p:nvSpPr>
        <p:spPr>
          <a:xfrm>
            <a:off x="5334000" y="3150290"/>
            <a:ext cx="3962399" cy="1938992"/>
          </a:xfrm>
          <a:prstGeom prst="rect">
            <a:avLst/>
          </a:prstGeom>
        </p:spPr>
        <p:txBody>
          <a:bodyPr vert="horz" wrap="square" lIns="0" tIns="0" rIns="0" bIns="0" rtlCol="0">
            <a:spAutoFit/>
          </a:bodyPr>
          <a:lstStyle>
            <a:lvl1pPr>
              <a:defRPr>
                <a:latin typeface="+mj-lt"/>
                <a:ea typeface="+mj-ea"/>
                <a:cs typeface="+mj-cs"/>
              </a:defRPr>
            </a:lvl1pPr>
          </a:lstStyle>
          <a:p>
            <a:r>
              <a:rPr lang="en-CA" sz="1600" b="1" dirty="0">
                <a:solidFill>
                  <a:srgbClr val="09A1FF"/>
                </a:solidFill>
                <a:latin typeface="Montserrat" panose="00000500000000000000" pitchFamily="50" charset="0"/>
              </a:rPr>
              <a:t>KEY FEATURES</a:t>
            </a:r>
          </a:p>
          <a:p>
            <a:endParaRPr lang="en-US" sz="1100" dirty="0">
              <a:solidFill>
                <a:srgbClr val="000000"/>
              </a:solidFill>
              <a:latin typeface="Open Sans" panose="020B0606030504020204" pitchFamily="34" charset="0"/>
              <a:cs typeface="Open Sans" panose="020B0606030504020204" pitchFamily="34" charset="0"/>
            </a:endParaRPr>
          </a:p>
          <a:p>
            <a:pPr marL="171450" indent="-171450">
              <a:buFont typeface="Arial" panose="020B0604020202020204" pitchFamily="34" charset="0"/>
              <a:buChar char="•"/>
            </a:pPr>
            <a:r>
              <a:rPr lang="en-US" sz="1100" dirty="0">
                <a:solidFill>
                  <a:srgbClr val="000000"/>
                </a:solidFill>
                <a:latin typeface="Open Sans" panose="020B0606030504020204" pitchFamily="34" charset="0"/>
                <a:cs typeface="Open Sans" panose="020B0606030504020204" pitchFamily="34" charset="0"/>
              </a:rPr>
              <a:t>Easy to use on your existing Android or iOS mobile devices.</a:t>
            </a:r>
          </a:p>
          <a:p>
            <a:pPr marL="171450" indent="-171450">
              <a:buFont typeface="Arial" panose="020B0604020202020204" pitchFamily="34" charset="0"/>
              <a:buChar char="•"/>
            </a:pPr>
            <a:r>
              <a:rPr lang="en-US" sz="1100" dirty="0">
                <a:solidFill>
                  <a:srgbClr val="000000"/>
                </a:solidFill>
                <a:latin typeface="Open Sans" panose="020B0606030504020204" pitchFamily="34" charset="0"/>
                <a:cs typeface="Open Sans" panose="020B0606030504020204" pitchFamily="34" charset="0"/>
              </a:rPr>
              <a:t>Take photos or add existing ones that are saved in your phone’s gallery.</a:t>
            </a:r>
          </a:p>
          <a:p>
            <a:pPr marL="171450" indent="-171450">
              <a:buFont typeface="Arial" panose="020B0604020202020204" pitchFamily="34" charset="0"/>
              <a:buChar char="•"/>
            </a:pPr>
            <a:r>
              <a:rPr lang="en-US" sz="1100" dirty="0">
                <a:solidFill>
                  <a:srgbClr val="000000"/>
                </a:solidFill>
                <a:latin typeface="Open Sans" panose="020B0606030504020204" pitchFamily="34" charset="0"/>
                <a:cs typeface="Open Sans" panose="020B0606030504020204" pitchFamily="34" charset="0"/>
              </a:rPr>
              <a:t>Use cellular data or Wi-Fi to upload photos.</a:t>
            </a:r>
          </a:p>
          <a:p>
            <a:pPr marL="171450" indent="-171450">
              <a:buFont typeface="Arial" panose="020B0604020202020204" pitchFamily="34" charset="0"/>
              <a:buChar char="•"/>
            </a:pPr>
            <a:r>
              <a:rPr lang="en-US" sz="1100" dirty="0">
                <a:solidFill>
                  <a:srgbClr val="000000"/>
                </a:solidFill>
                <a:latin typeface="Open Sans" panose="020B0606030504020204" pitchFamily="34" charset="0"/>
                <a:cs typeface="Open Sans" panose="020B0606030504020204" pitchFamily="34" charset="0"/>
              </a:rPr>
              <a:t>Add a Photo to an existing Magaya Transaction.</a:t>
            </a:r>
          </a:p>
          <a:p>
            <a:pPr marL="171450" indent="-171450">
              <a:buFont typeface="Arial" panose="020B0604020202020204" pitchFamily="34" charset="0"/>
              <a:buChar char="•"/>
            </a:pPr>
            <a:r>
              <a:rPr lang="en-US" sz="1100" dirty="0">
                <a:solidFill>
                  <a:srgbClr val="000000"/>
                </a:solidFill>
                <a:latin typeface="Open Sans" panose="020B0606030504020204" pitchFamily="34" charset="0"/>
                <a:cs typeface="Open Sans" panose="020B0606030504020204" pitchFamily="34" charset="0"/>
              </a:rPr>
              <a:t>Add photos to items that you load into a shipment “on-the-fly” Even if the item is not in your Commodity List yet.</a:t>
            </a:r>
          </a:p>
          <a:p>
            <a:endParaRPr lang="en-US" sz="1100" dirty="0">
              <a:solidFill>
                <a:srgbClr val="000000"/>
              </a:solidFill>
              <a:latin typeface="Open Sans" panose="020B0606030504020204" pitchFamily="34" charset="0"/>
              <a:cs typeface="Open Sans" panose="020B0606030504020204" pitchFamily="34" charset="0"/>
            </a:endParaRPr>
          </a:p>
        </p:txBody>
      </p:sp>
      <p:sp>
        <p:nvSpPr>
          <p:cNvPr id="15" name="TextBox 14">
            <a:extLst>
              <a:ext uri="{FF2B5EF4-FFF2-40B4-BE49-F238E27FC236}">
                <a16:creationId xmlns:a16="http://schemas.microsoft.com/office/drawing/2014/main" id="{53492A31-33E9-B933-6763-B94B08FC07D5}"/>
              </a:ext>
            </a:extLst>
          </p:cNvPr>
          <p:cNvSpPr txBox="1"/>
          <p:nvPr/>
        </p:nvSpPr>
        <p:spPr>
          <a:xfrm>
            <a:off x="533400" y="1709928"/>
            <a:ext cx="6858000" cy="886397"/>
          </a:xfrm>
          <a:prstGeom prst="rect">
            <a:avLst/>
          </a:prstGeom>
          <a:noFill/>
        </p:spPr>
        <p:txBody>
          <a:bodyPr wrap="square" lIns="0" tIns="0" rIns="0" bIns="0">
            <a:spAutoFit/>
          </a:bodyPr>
          <a:lstStyle/>
          <a:p>
            <a:pPr>
              <a:lnSpc>
                <a:spcPct val="120000"/>
              </a:lnSpc>
            </a:pPr>
            <a:r>
              <a:rPr lang="en-US" sz="1200" dirty="0">
                <a:latin typeface="Open Sans" panose="020B0606030504020204" pitchFamily="34" charset="0"/>
                <a:ea typeface="Open Sans" panose="020B0606030504020204" pitchFamily="34" charset="0"/>
                <a:cs typeface="Open Sans" panose="020B0606030504020204" pitchFamily="34" charset="0"/>
              </a:rPr>
              <a:t>The Binder app takes photos of packages or cargo, barcode labels, documents, PDFs, checks, and more, and it then instantly attaches the photos to existing Magaya transactions or commodities in the system. It is often used in the warehouse to take photos of cargo and add them to Warehouse Receipts, Shipments, or other Magaya Supply Chain transactions. </a:t>
            </a:r>
          </a:p>
        </p:txBody>
      </p:sp>
      <p:cxnSp>
        <p:nvCxnSpPr>
          <p:cNvPr id="16" name="Straight Connector 15">
            <a:extLst>
              <a:ext uri="{FF2B5EF4-FFF2-40B4-BE49-F238E27FC236}">
                <a16:creationId xmlns:a16="http://schemas.microsoft.com/office/drawing/2014/main" id="{2CEED5BA-0488-D939-E2CE-53A5DCE726C0}"/>
              </a:ext>
            </a:extLst>
          </p:cNvPr>
          <p:cNvCxnSpPr/>
          <p:nvPr/>
        </p:nvCxnSpPr>
        <p:spPr>
          <a:xfrm>
            <a:off x="5334000" y="5105400"/>
            <a:ext cx="4495799"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object 6">
            <a:extLst>
              <a:ext uri="{FF2B5EF4-FFF2-40B4-BE49-F238E27FC236}">
                <a16:creationId xmlns:a16="http://schemas.microsoft.com/office/drawing/2014/main" id="{30AD6DEF-6856-D649-2B13-B6C0926164CE}"/>
              </a:ext>
            </a:extLst>
          </p:cNvPr>
          <p:cNvSpPr txBox="1">
            <a:spLocks/>
          </p:cNvSpPr>
          <p:nvPr/>
        </p:nvSpPr>
        <p:spPr>
          <a:xfrm>
            <a:off x="533400" y="91440"/>
            <a:ext cx="9296400" cy="228268"/>
          </a:xfrm>
          <a:prstGeom prst="rect">
            <a:avLst/>
          </a:prstGeom>
        </p:spPr>
        <p:txBody>
          <a:bodyPr vert="horz" wrap="square" lIns="0" tIns="12700" rIns="0" bIns="0" rtlCol="0">
            <a:spAutoFit/>
          </a:bodyPr>
          <a:lstStyle>
            <a:lvl1pPr>
              <a:defRPr>
                <a:latin typeface="+mj-lt"/>
                <a:ea typeface="+mj-ea"/>
                <a:cs typeface="+mj-cs"/>
              </a:defRPr>
            </a:lvl1pPr>
          </a:lstStyle>
          <a:p>
            <a:pPr algn="r"/>
            <a:r>
              <a:rPr lang="en-CA" sz="1400" b="1" dirty="0">
                <a:solidFill>
                  <a:srgbClr val="6B7489"/>
                </a:solidFill>
                <a:latin typeface="Montserrat" panose="00000500000000000000" pitchFamily="50" charset="0"/>
              </a:rPr>
              <a:t>MAGAYA SUPPLY CHAIN </a:t>
            </a:r>
            <a:r>
              <a:rPr lang="en-CA" sz="1400" b="1" dirty="0">
                <a:solidFill>
                  <a:srgbClr val="001691"/>
                </a:solidFill>
                <a:latin typeface="Montserrat" panose="00000500000000000000" pitchFamily="50" charset="0"/>
              </a:rPr>
              <a:t>APPS &amp; EXTENSIONS</a:t>
            </a:r>
            <a:endParaRPr lang="en-US" sz="1400" kern="0" dirty="0">
              <a:solidFill>
                <a:srgbClr val="001691"/>
              </a:solidFill>
              <a:latin typeface="Montserrat" panose="00000500000000000000" pitchFamily="50" charset="0"/>
            </a:endParaRPr>
          </a:p>
        </p:txBody>
      </p:sp>
    </p:spTree>
    <p:extLst>
      <p:ext uri="{BB962C8B-B14F-4D97-AF65-F5344CB8AC3E}">
        <p14:creationId xmlns:p14="http://schemas.microsoft.com/office/powerpoint/2010/main" val="39967437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6"/>
          <p:cNvSpPr txBox="1">
            <a:spLocks/>
          </p:cNvSpPr>
          <p:nvPr/>
        </p:nvSpPr>
        <p:spPr>
          <a:xfrm>
            <a:off x="533400" y="649224"/>
            <a:ext cx="6019800" cy="923330"/>
          </a:xfrm>
          <a:prstGeom prst="rect">
            <a:avLst/>
          </a:prstGeom>
        </p:spPr>
        <p:txBody>
          <a:bodyPr vert="horz" wrap="square" lIns="0" tIns="0" rIns="0" bIns="0" rtlCol="0">
            <a:spAutoFit/>
          </a:bodyPr>
          <a:lstStyle>
            <a:lvl1pPr>
              <a:defRPr>
                <a:latin typeface="+mj-lt"/>
                <a:ea typeface="+mj-ea"/>
                <a:cs typeface="+mj-cs"/>
              </a:defRPr>
            </a:lvl1pPr>
          </a:lstStyle>
          <a:p>
            <a:r>
              <a:rPr lang="en-CA" sz="3000" b="1" dirty="0">
                <a:solidFill>
                  <a:srgbClr val="001691"/>
                </a:solidFill>
                <a:latin typeface="Montserrat" panose="00000500000000000000" pitchFamily="50" charset="0"/>
              </a:rPr>
              <a:t>FINAL MILE</a:t>
            </a:r>
          </a:p>
          <a:p>
            <a:r>
              <a:rPr lang="en-CA" sz="3000" b="1" dirty="0">
                <a:solidFill>
                  <a:srgbClr val="09A1FF"/>
                </a:solidFill>
                <a:latin typeface="Montserrat" panose="00000500000000000000" pitchFamily="50" charset="0"/>
              </a:rPr>
              <a:t>BY MAGAYA</a:t>
            </a:r>
            <a:endParaRPr lang="en-CA" sz="3000" dirty="0">
              <a:solidFill>
                <a:srgbClr val="09A1FF"/>
              </a:solidFill>
              <a:latin typeface="Montserrat" panose="00000500000000000000" pitchFamily="50" charset="0"/>
            </a:endParaRPr>
          </a:p>
        </p:txBody>
      </p:sp>
      <p:sp>
        <p:nvSpPr>
          <p:cNvPr id="11" name="object 4"/>
          <p:cNvSpPr txBox="1"/>
          <p:nvPr/>
        </p:nvSpPr>
        <p:spPr>
          <a:xfrm>
            <a:off x="533400" y="1709928"/>
            <a:ext cx="5181600" cy="886397"/>
          </a:xfrm>
          <a:prstGeom prst="rect">
            <a:avLst/>
          </a:prstGeom>
        </p:spPr>
        <p:txBody>
          <a:bodyPr vert="horz" wrap="square" lIns="0" tIns="0" rIns="0" bIns="0" rtlCol="0">
            <a:spAutoFit/>
          </a:bodyPr>
          <a:lstStyle/>
          <a:p>
            <a:pPr marR="5079">
              <a:lnSpc>
                <a:spcPct val="120000"/>
              </a:lnSpc>
              <a:spcAft>
                <a:spcPts val="600"/>
              </a:spcAft>
            </a:pPr>
            <a:r>
              <a:rPr lang="en-US" sz="1200" spc="-20" dirty="0">
                <a:latin typeface="Open Sans" panose="020B0606030504020204" pitchFamily="34" charset="0"/>
                <a:ea typeface="Open Sans" panose="020B0606030504020204" pitchFamily="34" charset="0"/>
                <a:cs typeface="Open Sans" panose="020B0606030504020204" pitchFamily="34" charset="0"/>
              </a:rPr>
              <a:t>The Final Mile app gives drivers an efficient way to pick up and deliver packages and collect signatures, right from their mobile devices. You’ll keep your customers up to date on their delivery status as well as keep your team organized and your </a:t>
            </a:r>
            <a:r>
              <a:rPr lang="en-US" sz="1200" spc="-20" dirty="0" err="1">
                <a:latin typeface="Open Sans" panose="020B0606030504020204" pitchFamily="34" charset="0"/>
                <a:ea typeface="Open Sans" panose="020B0606030504020204" pitchFamily="34" charset="0"/>
                <a:cs typeface="Open Sans" panose="020B0606030504020204" pitchFamily="34" charset="0"/>
              </a:rPr>
              <a:t>Magaya</a:t>
            </a:r>
            <a:r>
              <a:rPr lang="en-US" sz="1200" spc="-20" dirty="0">
                <a:latin typeface="Open Sans" panose="020B0606030504020204" pitchFamily="34" charset="0"/>
                <a:ea typeface="Open Sans" panose="020B0606030504020204" pitchFamily="34" charset="0"/>
                <a:cs typeface="Open Sans" panose="020B0606030504020204" pitchFamily="34" charset="0"/>
              </a:rPr>
              <a:t> system synced – all from a single app.</a:t>
            </a:r>
          </a:p>
        </p:txBody>
      </p:sp>
      <p:sp>
        <p:nvSpPr>
          <p:cNvPr id="15" name="object 6"/>
          <p:cNvSpPr txBox="1">
            <a:spLocks/>
          </p:cNvSpPr>
          <p:nvPr/>
        </p:nvSpPr>
        <p:spPr>
          <a:xfrm>
            <a:off x="533400" y="2819400"/>
            <a:ext cx="4495800" cy="4319644"/>
          </a:xfrm>
          <a:prstGeom prst="rect">
            <a:avLst/>
          </a:prstGeom>
        </p:spPr>
        <p:txBody>
          <a:bodyPr vert="horz" wrap="square" lIns="0" tIns="0" rIns="0" bIns="0" rtlCol="0">
            <a:spAutoFit/>
          </a:bodyPr>
          <a:lstStyle>
            <a:lvl1pPr>
              <a:defRPr>
                <a:latin typeface="+mj-lt"/>
                <a:ea typeface="+mj-ea"/>
                <a:cs typeface="+mj-cs"/>
              </a:defRPr>
            </a:lvl1pPr>
          </a:lstStyle>
          <a:p>
            <a:pPr>
              <a:lnSpc>
                <a:spcPct val="120000"/>
              </a:lnSpc>
            </a:pPr>
            <a:r>
              <a:rPr lang="en-CA" sz="1600" b="1" dirty="0">
                <a:solidFill>
                  <a:srgbClr val="09A1FF"/>
                </a:solidFill>
                <a:latin typeface="Montserrat" panose="00000500000000000000" pitchFamily="50" charset="0"/>
              </a:rPr>
              <a:t>BENEFITS</a:t>
            </a:r>
          </a:p>
          <a:p>
            <a:pPr>
              <a:spcAft>
                <a:spcPts val="300"/>
              </a:spcAft>
            </a:pPr>
            <a:br>
              <a:rPr lang="en-US" sz="1100" b="1" dirty="0">
                <a:solidFill>
                  <a:srgbClr val="001691"/>
                </a:solidFill>
                <a:latin typeface="Montserrat" panose="00000500000000000000" pitchFamily="50" charset="0"/>
                <a:cs typeface="Open Sans" panose="020B0606030504020204" pitchFamily="34" charset="0"/>
              </a:rPr>
            </a:br>
            <a:r>
              <a:rPr lang="en-US" sz="1100" b="1" dirty="0">
                <a:solidFill>
                  <a:srgbClr val="001691"/>
                </a:solidFill>
                <a:latin typeface="Montserrat" panose="00000500000000000000" pitchFamily="50" charset="0"/>
                <a:cs typeface="Open Sans" panose="020B0606030504020204" pitchFamily="34" charset="0"/>
              </a:rPr>
              <a:t>BOOSTS VISIBILITY</a:t>
            </a:r>
          </a:p>
          <a:p>
            <a:pPr>
              <a:spcAft>
                <a:spcPts val="300"/>
              </a:spcAft>
            </a:pPr>
            <a:r>
              <a:rPr lang="en-US" sz="1100" dirty="0">
                <a:solidFill>
                  <a:srgbClr val="383B48"/>
                </a:solidFill>
                <a:latin typeface="Open Sans" panose="020B0606030504020204" pitchFamily="34" charset="0"/>
                <a:cs typeface="Open Sans" panose="020B0606030504020204" pitchFamily="34" charset="0"/>
              </a:rPr>
              <a:t>Keep customers updated with their pickup and delivery details in real-time, saving you time on customer service calls.</a:t>
            </a:r>
            <a:endParaRPr lang="en-US" sz="1100" spc="-20" dirty="0">
              <a:solidFill>
                <a:srgbClr val="383B48"/>
              </a:solidFill>
              <a:latin typeface="Open Sans" panose="020B0606030504020204" pitchFamily="34" charset="0"/>
              <a:ea typeface="Open Sans" panose="020B0606030504020204" pitchFamily="34" charset="0"/>
              <a:cs typeface="Open Sans" panose="020B0606030504020204" pitchFamily="34" charset="0"/>
            </a:endParaRPr>
          </a:p>
          <a:p>
            <a:pPr>
              <a:spcAft>
                <a:spcPts val="300"/>
              </a:spcAft>
            </a:pPr>
            <a:r>
              <a:rPr lang="en-US" sz="1000" spc="-20" dirty="0">
                <a:solidFill>
                  <a:srgbClr val="383B48"/>
                </a:solidFill>
                <a:latin typeface="Open Sans" panose="020B0606030504020204" pitchFamily="34" charset="0"/>
                <a:ea typeface="Open Sans" panose="020B0606030504020204" pitchFamily="34" charset="0"/>
                <a:cs typeface="Open Sans" panose="020B0606030504020204" pitchFamily="34" charset="0"/>
              </a:rPr>
              <a:t> </a:t>
            </a:r>
            <a:endParaRPr lang="en-US" sz="1000" dirty="0">
              <a:solidFill>
                <a:srgbClr val="383B48"/>
              </a:solidFill>
              <a:latin typeface="Open Sans" panose="020B0606030504020204" pitchFamily="34" charset="0"/>
              <a:cs typeface="Open Sans" panose="020B0606030504020204" pitchFamily="34" charset="0"/>
            </a:endParaRPr>
          </a:p>
          <a:p>
            <a:pPr>
              <a:spcAft>
                <a:spcPts val="300"/>
              </a:spcAft>
            </a:pPr>
            <a:r>
              <a:rPr lang="en-US" sz="1100" b="1" dirty="0">
                <a:solidFill>
                  <a:srgbClr val="001691"/>
                </a:solidFill>
                <a:latin typeface="Montserrat" panose="00000500000000000000" pitchFamily="50" charset="0"/>
                <a:cs typeface="Open Sans" panose="020B0606030504020204" pitchFamily="34" charset="0"/>
              </a:rPr>
              <a:t>INTEGRATED</a:t>
            </a:r>
          </a:p>
          <a:p>
            <a:pPr>
              <a:spcAft>
                <a:spcPts val="300"/>
              </a:spcAft>
            </a:pPr>
            <a:r>
              <a:rPr lang="en-US" sz="1100" dirty="0">
                <a:solidFill>
                  <a:srgbClr val="000000"/>
                </a:solidFill>
                <a:latin typeface="Open Sans" panose="020B0606030504020204" pitchFamily="34" charset="0"/>
                <a:cs typeface="Open Sans" panose="020B0606030504020204" pitchFamily="34" charset="0"/>
              </a:rPr>
              <a:t>Once picked up or delivered, all pertinent data about the delivery is synced back to your </a:t>
            </a:r>
            <a:r>
              <a:rPr lang="en-US" sz="1100" dirty="0" err="1">
                <a:solidFill>
                  <a:srgbClr val="000000"/>
                </a:solidFill>
                <a:latin typeface="Open Sans" panose="020B0606030504020204" pitchFamily="34" charset="0"/>
                <a:cs typeface="Open Sans" panose="020B0606030504020204" pitchFamily="34" charset="0"/>
              </a:rPr>
              <a:t>Magaya</a:t>
            </a:r>
            <a:r>
              <a:rPr lang="en-US" sz="1100" dirty="0">
                <a:solidFill>
                  <a:srgbClr val="000000"/>
                </a:solidFill>
                <a:latin typeface="Open Sans" panose="020B0606030504020204" pitchFamily="34" charset="0"/>
                <a:cs typeface="Open Sans" panose="020B0606030504020204" pitchFamily="34" charset="0"/>
              </a:rPr>
              <a:t> system, automatically.</a:t>
            </a:r>
          </a:p>
          <a:p>
            <a:pPr>
              <a:spcAft>
                <a:spcPts val="300"/>
              </a:spcAft>
            </a:pPr>
            <a:endParaRPr lang="en-US" sz="1100" b="1" dirty="0">
              <a:solidFill>
                <a:srgbClr val="000000"/>
              </a:solidFill>
              <a:latin typeface="Open Sans" panose="020B0606030504020204" pitchFamily="34" charset="0"/>
              <a:cs typeface="Open Sans" panose="020B0606030504020204" pitchFamily="34" charset="0"/>
            </a:endParaRPr>
          </a:p>
          <a:p>
            <a:pPr>
              <a:spcAft>
                <a:spcPts val="300"/>
              </a:spcAft>
            </a:pPr>
            <a:r>
              <a:rPr lang="en-US" sz="1100" b="1" dirty="0">
                <a:solidFill>
                  <a:srgbClr val="001691"/>
                </a:solidFill>
                <a:latin typeface="Montserrat" panose="00000500000000000000" pitchFamily="50" charset="0"/>
                <a:cs typeface="Open Sans" panose="020B0606030504020204" pitchFamily="34" charset="0"/>
              </a:rPr>
              <a:t>GO PAPERLESS</a:t>
            </a:r>
          </a:p>
          <a:p>
            <a:pPr>
              <a:spcAft>
                <a:spcPts val="300"/>
              </a:spcAft>
            </a:pPr>
            <a:r>
              <a:rPr lang="en-US" sz="1100" dirty="0">
                <a:solidFill>
                  <a:srgbClr val="000000"/>
                </a:solidFill>
                <a:latin typeface="Open Sans" panose="020B0606030504020204" pitchFamily="34" charset="0"/>
                <a:cs typeface="Open Sans" panose="020B0606030504020204" pitchFamily="34" charset="0"/>
              </a:rPr>
              <a:t>Drivers can scan packages and get signatures right on the phone screen, meaning no paperwork to find or carry around.</a:t>
            </a:r>
          </a:p>
          <a:p>
            <a:pPr>
              <a:spcAft>
                <a:spcPts val="300"/>
              </a:spcAft>
            </a:pPr>
            <a:endParaRPr lang="en-US" sz="1000" dirty="0">
              <a:solidFill>
                <a:srgbClr val="000000"/>
              </a:solidFill>
              <a:latin typeface="Open Sans" panose="020B0606030504020204" pitchFamily="34" charset="0"/>
              <a:cs typeface="Open Sans" panose="020B0606030504020204" pitchFamily="34" charset="0"/>
            </a:endParaRPr>
          </a:p>
          <a:p>
            <a:pPr>
              <a:spcAft>
                <a:spcPts val="300"/>
              </a:spcAft>
            </a:pPr>
            <a:r>
              <a:rPr lang="en-US" sz="1100" b="1" dirty="0">
                <a:solidFill>
                  <a:srgbClr val="001691"/>
                </a:solidFill>
                <a:latin typeface="Montserrat" panose="00000500000000000000" pitchFamily="50" charset="0"/>
                <a:cs typeface="Open Sans" panose="020B0606030504020204" pitchFamily="34" charset="0"/>
              </a:rPr>
              <a:t>INCREASES EFFICIENCY</a:t>
            </a:r>
          </a:p>
          <a:p>
            <a:pPr>
              <a:spcAft>
                <a:spcPts val="300"/>
              </a:spcAft>
            </a:pPr>
            <a:r>
              <a:rPr lang="en-US" sz="1100" dirty="0">
                <a:solidFill>
                  <a:srgbClr val="000000"/>
                </a:solidFill>
                <a:latin typeface="Open Sans" panose="020B0606030504020204" pitchFamily="34" charset="0"/>
                <a:cs typeface="Open Sans" panose="020B0606030504020204" pitchFamily="34" charset="0"/>
              </a:rPr>
              <a:t>Easily assign tasks to specific drivers or leave them up for grabs. Plus, multiple drivers can use the app to make pickups and deliveries at the same time.</a:t>
            </a:r>
          </a:p>
          <a:p>
            <a:pPr>
              <a:spcAft>
                <a:spcPts val="300"/>
              </a:spcAft>
            </a:pPr>
            <a:endParaRPr lang="en-US" sz="1100" dirty="0">
              <a:solidFill>
                <a:srgbClr val="000000"/>
              </a:solidFill>
              <a:latin typeface="Open Sans" panose="020B0606030504020204" pitchFamily="34" charset="0"/>
              <a:cs typeface="Open Sans" panose="020B0606030504020204" pitchFamily="34" charset="0"/>
            </a:endParaRPr>
          </a:p>
          <a:p>
            <a:pPr>
              <a:spcAft>
                <a:spcPts val="300"/>
              </a:spcAft>
            </a:pPr>
            <a:r>
              <a:rPr lang="en-US" sz="1100" b="1" dirty="0">
                <a:solidFill>
                  <a:srgbClr val="001691"/>
                </a:solidFill>
                <a:latin typeface="Montserrat" panose="00000500000000000000" pitchFamily="50" charset="0"/>
                <a:cs typeface="Open Sans" panose="020B0606030504020204" pitchFamily="34" charset="0"/>
              </a:rPr>
              <a:t>MOBILE COMPATIBILITY</a:t>
            </a:r>
          </a:p>
          <a:p>
            <a:pPr>
              <a:spcAft>
                <a:spcPts val="300"/>
              </a:spcAft>
            </a:pPr>
            <a:r>
              <a:rPr lang="en-US" sz="1100" dirty="0">
                <a:solidFill>
                  <a:srgbClr val="000000"/>
                </a:solidFill>
                <a:latin typeface="Open Sans" panose="020B0606030504020204" pitchFamily="34" charset="0"/>
                <a:cs typeface="Open Sans" panose="020B0606030504020204" pitchFamily="34" charset="0"/>
              </a:rPr>
              <a:t>The Final Mile app is free to download on the App Store for iOS or the Google Play Store for Android users. </a:t>
            </a:r>
          </a:p>
        </p:txBody>
      </p:sp>
      <p:cxnSp>
        <p:nvCxnSpPr>
          <p:cNvPr id="17" name="Straight Connector 16"/>
          <p:cNvCxnSpPr/>
          <p:nvPr/>
        </p:nvCxnSpPr>
        <p:spPr>
          <a:xfrm>
            <a:off x="5181600" y="2905418"/>
            <a:ext cx="0" cy="4233626"/>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 name="object 6">
            <a:extLst>
              <a:ext uri="{FF2B5EF4-FFF2-40B4-BE49-F238E27FC236}">
                <a16:creationId xmlns:a16="http://schemas.microsoft.com/office/drawing/2014/main" id="{3F42CFE1-6BA9-E3DD-1FC4-EF258986830A}"/>
              </a:ext>
            </a:extLst>
          </p:cNvPr>
          <p:cNvSpPr txBox="1">
            <a:spLocks/>
          </p:cNvSpPr>
          <p:nvPr/>
        </p:nvSpPr>
        <p:spPr>
          <a:xfrm>
            <a:off x="533400" y="91440"/>
            <a:ext cx="9296400" cy="228268"/>
          </a:xfrm>
          <a:prstGeom prst="rect">
            <a:avLst/>
          </a:prstGeom>
        </p:spPr>
        <p:txBody>
          <a:bodyPr vert="horz" wrap="square" lIns="0" tIns="12700" rIns="0" bIns="0" rtlCol="0">
            <a:spAutoFit/>
          </a:bodyPr>
          <a:lstStyle>
            <a:lvl1pPr>
              <a:defRPr>
                <a:latin typeface="+mj-lt"/>
                <a:ea typeface="+mj-ea"/>
                <a:cs typeface="+mj-cs"/>
              </a:defRPr>
            </a:lvl1pPr>
          </a:lstStyle>
          <a:p>
            <a:pPr algn="r"/>
            <a:r>
              <a:rPr lang="en-CA" sz="1400" b="1" dirty="0">
                <a:solidFill>
                  <a:srgbClr val="6B7489"/>
                </a:solidFill>
                <a:latin typeface="Montserrat" panose="00000500000000000000" pitchFamily="50" charset="0"/>
              </a:rPr>
              <a:t>MAGAYA SUPPLY CHAIN </a:t>
            </a:r>
            <a:r>
              <a:rPr lang="en-CA" sz="1400" b="1" dirty="0">
                <a:solidFill>
                  <a:srgbClr val="001691"/>
                </a:solidFill>
                <a:latin typeface="Montserrat" panose="00000500000000000000" pitchFamily="50" charset="0"/>
              </a:rPr>
              <a:t>APPS &amp; EXTENSIONS</a:t>
            </a:r>
            <a:endParaRPr lang="en-US" sz="1400" kern="0" dirty="0">
              <a:solidFill>
                <a:srgbClr val="001691"/>
              </a:solidFill>
              <a:latin typeface="Montserrat" panose="00000500000000000000" pitchFamily="50" charset="0"/>
            </a:endParaRPr>
          </a:p>
        </p:txBody>
      </p:sp>
      <p:sp>
        <p:nvSpPr>
          <p:cNvPr id="14" name="object 6"/>
          <p:cNvSpPr txBox="1">
            <a:spLocks/>
          </p:cNvSpPr>
          <p:nvPr/>
        </p:nvSpPr>
        <p:spPr>
          <a:xfrm>
            <a:off x="5348696" y="4250085"/>
            <a:ext cx="4495800" cy="2323713"/>
          </a:xfrm>
          <a:prstGeom prst="rect">
            <a:avLst/>
          </a:prstGeom>
        </p:spPr>
        <p:txBody>
          <a:bodyPr vert="horz" wrap="square" lIns="0" tIns="0" rIns="0" bIns="0" rtlCol="0">
            <a:spAutoFit/>
          </a:bodyPr>
          <a:lstStyle>
            <a:lvl1pPr>
              <a:defRPr>
                <a:latin typeface="+mj-lt"/>
                <a:ea typeface="+mj-ea"/>
                <a:cs typeface="+mj-cs"/>
              </a:defRPr>
            </a:lvl1pPr>
          </a:lstStyle>
          <a:p>
            <a:pPr>
              <a:spcAft>
                <a:spcPts val="600"/>
              </a:spcAft>
            </a:pPr>
            <a:r>
              <a:rPr lang="en-CA" sz="1600" b="1" dirty="0">
                <a:solidFill>
                  <a:srgbClr val="09A1FF"/>
                </a:solidFill>
                <a:latin typeface="Montserrat" panose="00000500000000000000" pitchFamily="50" charset="0"/>
              </a:rPr>
              <a:t>KEY FEATURES</a:t>
            </a:r>
            <a:br>
              <a:rPr lang="en-US" sz="1100" b="1" dirty="0">
                <a:solidFill>
                  <a:srgbClr val="001691"/>
                </a:solidFill>
                <a:latin typeface="Montserrat" panose="00000500000000000000" pitchFamily="50" charset="0"/>
                <a:cs typeface="Open Sans" panose="020B0606030504020204" pitchFamily="34" charset="0"/>
              </a:rPr>
            </a:br>
            <a:endParaRPr lang="en-US" sz="1100" dirty="0">
              <a:solidFill>
                <a:srgbClr val="383B48"/>
              </a:solidFill>
              <a:latin typeface="Open Sans" panose="020B0606030504020204" pitchFamily="34" charset="0"/>
              <a:cs typeface="Open Sans" panose="020B0606030504020204" pitchFamily="34" charset="0"/>
            </a:endParaRPr>
          </a:p>
          <a:p>
            <a:pPr marL="171450" indent="-171450">
              <a:spcAft>
                <a:spcPts val="600"/>
              </a:spcAft>
              <a:buFont typeface="Arial" panose="020B0604020202020204" pitchFamily="34" charset="0"/>
              <a:buChar char="•"/>
            </a:pPr>
            <a:r>
              <a:rPr lang="en-US" sz="1100" dirty="0">
                <a:solidFill>
                  <a:srgbClr val="383B48"/>
                </a:solidFill>
                <a:latin typeface="Open Sans" panose="020B0606030504020204" pitchFamily="34" charset="0"/>
                <a:cs typeface="Open Sans" panose="020B0606030504020204" pitchFamily="34" charset="0"/>
              </a:rPr>
              <a:t>Use a mobile device or compatible scanner to scan a package barcode</a:t>
            </a:r>
          </a:p>
          <a:p>
            <a:pPr marL="171450" indent="-171450">
              <a:spcAft>
                <a:spcPts val="600"/>
              </a:spcAft>
              <a:buFont typeface="Arial" panose="020B0604020202020204" pitchFamily="34" charset="0"/>
              <a:buChar char="•"/>
            </a:pPr>
            <a:r>
              <a:rPr lang="en-US" sz="1100" dirty="0">
                <a:solidFill>
                  <a:srgbClr val="383B48"/>
                </a:solidFill>
                <a:latin typeface="Open Sans" panose="020B0606030504020204" pitchFamily="34" charset="0"/>
                <a:cs typeface="Open Sans" panose="020B0606030504020204" pitchFamily="34" charset="0"/>
              </a:rPr>
              <a:t>Tasks in Magaya Supply Chain are sent to the app</a:t>
            </a:r>
          </a:p>
          <a:p>
            <a:pPr marL="171450" indent="-171450">
              <a:spcAft>
                <a:spcPts val="600"/>
              </a:spcAft>
              <a:buFont typeface="Arial" panose="020B0604020202020204" pitchFamily="34" charset="0"/>
              <a:buChar char="•"/>
            </a:pPr>
            <a:r>
              <a:rPr lang="en-US" sz="1100" dirty="0">
                <a:solidFill>
                  <a:srgbClr val="383B48"/>
                </a:solidFill>
                <a:latin typeface="Open Sans" panose="020B0606030504020204" pitchFamily="34" charset="0"/>
                <a:cs typeface="Open Sans" panose="020B0606030504020204" pitchFamily="34" charset="0"/>
              </a:rPr>
              <a:t>The app uses the phone’s native maps for turn-by-turn navigation and best route options while on deliveries.</a:t>
            </a:r>
          </a:p>
          <a:p>
            <a:pPr marL="171450" indent="-171450">
              <a:spcAft>
                <a:spcPts val="600"/>
              </a:spcAft>
              <a:buFont typeface="Arial" panose="020B0604020202020204" pitchFamily="34" charset="0"/>
              <a:buChar char="•"/>
            </a:pPr>
            <a:r>
              <a:rPr lang="en-US" sz="1100" dirty="0">
                <a:solidFill>
                  <a:srgbClr val="383B48"/>
                </a:solidFill>
                <a:latin typeface="Open Sans" panose="020B0606030504020204" pitchFamily="34" charset="0"/>
                <a:cs typeface="Open Sans" panose="020B0606030504020204" pitchFamily="34" charset="0"/>
              </a:rPr>
              <a:t>The photo capture feature allows drivers to take photos  of packages delivered</a:t>
            </a:r>
          </a:p>
          <a:p>
            <a:pPr marL="171450" indent="-171450">
              <a:spcAft>
                <a:spcPts val="600"/>
              </a:spcAft>
              <a:buFont typeface="Arial" panose="020B0604020202020204" pitchFamily="34" charset="0"/>
              <a:buChar char="•"/>
            </a:pPr>
            <a:r>
              <a:rPr lang="en-US" sz="1100" dirty="0">
                <a:solidFill>
                  <a:srgbClr val="383B48"/>
                </a:solidFill>
                <a:latin typeface="Open Sans" panose="020B0606030504020204" pitchFamily="34" charset="0"/>
                <a:cs typeface="Open Sans" panose="020B0606030504020204" pitchFamily="34" charset="0"/>
              </a:rPr>
              <a:t>Proof of Delivery and photos are visible in the </a:t>
            </a:r>
            <a:r>
              <a:rPr lang="en-US" sz="1100" dirty="0" err="1">
                <a:solidFill>
                  <a:srgbClr val="383B48"/>
                </a:solidFill>
                <a:latin typeface="Open Sans" panose="020B0606030504020204" pitchFamily="34" charset="0"/>
                <a:cs typeface="Open Sans" panose="020B0606030504020204" pitchFamily="34" charset="0"/>
              </a:rPr>
              <a:t>Magaya</a:t>
            </a:r>
            <a:r>
              <a:rPr lang="en-US" sz="1100" dirty="0">
                <a:solidFill>
                  <a:srgbClr val="383B48"/>
                </a:solidFill>
                <a:latin typeface="Open Sans" panose="020B0606030504020204" pitchFamily="34" charset="0"/>
                <a:cs typeface="Open Sans" panose="020B0606030504020204" pitchFamily="34" charset="0"/>
              </a:rPr>
              <a:t> Digital Freight Portal</a:t>
            </a:r>
          </a:p>
        </p:txBody>
      </p:sp>
      <p:pic>
        <p:nvPicPr>
          <p:cNvPr id="8" name="Picture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266176" y="804672"/>
            <a:ext cx="1588381" cy="3023080"/>
          </a:xfrm>
          <a:prstGeom prst="rect">
            <a:avLst/>
          </a:prstGeom>
        </p:spPr>
      </p:pic>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963472" y="804672"/>
            <a:ext cx="1590264" cy="3026664"/>
          </a:xfrm>
          <a:prstGeom prst="rect">
            <a:avLst/>
          </a:prstGeom>
        </p:spPr>
      </p:pic>
      <p:pic>
        <p:nvPicPr>
          <p:cNvPr id="6" name="Picture 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020336" y="990600"/>
            <a:ext cx="1590264" cy="3026664"/>
          </a:xfrm>
          <a:prstGeom prst="rect">
            <a:avLst/>
          </a:prstGeom>
        </p:spPr>
      </p:pic>
    </p:spTree>
    <p:extLst>
      <p:ext uri="{BB962C8B-B14F-4D97-AF65-F5344CB8AC3E}">
        <p14:creationId xmlns:p14="http://schemas.microsoft.com/office/powerpoint/2010/main" val="39390391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6"/>
          <p:cNvSpPr txBox="1">
            <a:spLocks/>
          </p:cNvSpPr>
          <p:nvPr/>
        </p:nvSpPr>
        <p:spPr>
          <a:xfrm>
            <a:off x="533400" y="3657600"/>
            <a:ext cx="4953000" cy="1101584"/>
          </a:xfrm>
          <a:prstGeom prst="rect">
            <a:avLst/>
          </a:prstGeom>
        </p:spPr>
        <p:txBody>
          <a:bodyPr vert="horz" wrap="square" lIns="0" tIns="0" rIns="0" bIns="0" rtlCol="0">
            <a:spAutoFit/>
          </a:bodyPr>
          <a:lstStyle>
            <a:lvl1pPr>
              <a:defRPr>
                <a:latin typeface="+mj-lt"/>
                <a:ea typeface="+mj-ea"/>
                <a:cs typeface="+mj-cs"/>
              </a:defRPr>
            </a:lvl1pPr>
          </a:lstStyle>
          <a:p>
            <a:pPr>
              <a:lnSpc>
                <a:spcPct val="120000"/>
              </a:lnSpc>
              <a:spcAft>
                <a:spcPts val="600"/>
              </a:spcAft>
            </a:pPr>
            <a:r>
              <a:rPr lang="en-US" sz="1200" dirty="0">
                <a:solidFill>
                  <a:schemeClr val="bg1"/>
                </a:solidFill>
                <a:latin typeface="Open Sans" panose="020B0606030504020204" pitchFamily="34" charset="0"/>
                <a:ea typeface="Open Sans" panose="020B0606030504020204" pitchFamily="34" charset="0"/>
                <a:cs typeface="Open Sans" panose="020B0606030504020204" pitchFamily="34" charset="0"/>
              </a:rPr>
              <a:t>Eduardo Bencomo</a:t>
            </a:r>
          </a:p>
          <a:p>
            <a:pPr>
              <a:lnSpc>
                <a:spcPct val="120000"/>
              </a:lnSpc>
              <a:spcAft>
                <a:spcPts val="600"/>
              </a:spcAft>
            </a:pPr>
            <a:r>
              <a:rPr lang="en-US" sz="1200" dirty="0">
                <a:solidFill>
                  <a:schemeClr val="bg1"/>
                </a:solidFill>
                <a:latin typeface="Open Sans" panose="020B0606030504020204" pitchFamily="34" charset="0"/>
                <a:ea typeface="Open Sans" panose="020B0606030504020204" pitchFamily="34" charset="0"/>
                <a:cs typeface="Open Sans" panose="020B0606030504020204" pitchFamily="34" charset="0"/>
              </a:rPr>
              <a:t>VP Strategic Accounts </a:t>
            </a:r>
          </a:p>
          <a:p>
            <a:pPr>
              <a:lnSpc>
                <a:spcPct val="120000"/>
              </a:lnSpc>
              <a:spcAft>
                <a:spcPts val="600"/>
              </a:spcAft>
            </a:pPr>
            <a:r>
              <a:rPr lang="en-US" sz="1200" dirty="0">
                <a:solidFill>
                  <a:schemeClr val="bg1"/>
                </a:solidFill>
                <a:latin typeface="Open Sans" panose="020B0606030504020204" pitchFamily="34" charset="0"/>
                <a:ea typeface="Open Sans" panose="020B0606030504020204" pitchFamily="34" charset="0"/>
                <a:cs typeface="Open Sans" panose="020B0606030504020204" pitchFamily="34" charset="0"/>
                <a:hlinkClick r:id="rId2"/>
              </a:rPr>
              <a:t>ebencomo@magaya.com</a:t>
            </a:r>
            <a:r>
              <a:rPr lang="en-US" sz="1200" dirty="0">
                <a:solidFill>
                  <a:schemeClr val="bg1"/>
                </a:solidFill>
                <a:latin typeface="Open Sans" panose="020B0606030504020204" pitchFamily="34" charset="0"/>
                <a:ea typeface="Open Sans" panose="020B0606030504020204" pitchFamily="34" charset="0"/>
                <a:cs typeface="Open Sans" panose="020B0606030504020204" pitchFamily="34" charset="0"/>
              </a:rPr>
              <a:t> </a:t>
            </a:r>
          </a:p>
          <a:p>
            <a:pPr>
              <a:lnSpc>
                <a:spcPct val="120000"/>
              </a:lnSpc>
              <a:spcAft>
                <a:spcPts val="600"/>
              </a:spcAft>
            </a:pPr>
            <a:endParaRPr lang="en-US" sz="120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368618860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73217</TotalTime>
  <Words>1845</Words>
  <Application>Microsoft Office PowerPoint</Application>
  <PresentationFormat>Custom</PresentationFormat>
  <Paragraphs>196</Paragraphs>
  <Slides>11</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11</vt:i4>
      </vt:variant>
    </vt:vector>
  </HeadingPairs>
  <TitlesOfParts>
    <vt:vector size="19" baseType="lpstr">
      <vt:lpstr>Arial</vt:lpstr>
      <vt:lpstr>Calibri</vt:lpstr>
      <vt:lpstr>Montserrat</vt:lpstr>
      <vt:lpstr>Montserrat SemiBold</vt:lpstr>
      <vt:lpstr>Montserrat-Light</vt:lpstr>
      <vt:lpstr>Open Sans</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JG</dc:title>
  <dc:creator>Judy Glynn</dc:creator>
  <cp:lastModifiedBy>Eduardo Bencomo</cp:lastModifiedBy>
  <cp:revision>603</cp:revision>
  <dcterms:created xsi:type="dcterms:W3CDTF">2020-07-22T13:02:38Z</dcterms:created>
  <dcterms:modified xsi:type="dcterms:W3CDTF">2026-06-24T13:20:21Z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2020-07-16T00:00:00Z</vt:filetime>
  </property>
  <property fmtid="{D5CDD505-2E9C-101B-9397-08002B2CF9AE}" pid="3" name="Creator">
    <vt:lpwstr>Adobe InDesign 15.0 (Macintosh)</vt:lpwstr>
  </property>
  <property fmtid="{D5CDD505-2E9C-101B-9397-08002B2CF9AE}" pid="4" name="LastSaved">
    <vt:filetime>2020-07-22T00:00:00Z</vt:filetime>
  </property>
</Properties>
</file>