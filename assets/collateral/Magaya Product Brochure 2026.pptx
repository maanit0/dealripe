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280" r:id="rId2"/>
    <p:sldId id="3136" r:id="rId3"/>
    <p:sldId id="3222" r:id="rId4"/>
    <p:sldId id="3272" r:id="rId5"/>
    <p:sldId id="3018" r:id="rId6"/>
    <p:sldId id="3115" r:id="rId7"/>
    <p:sldId id="3110" r:id="rId8"/>
    <p:sldId id="3091" r:id="rId9"/>
    <p:sldId id="3101" r:id="rId10"/>
    <p:sldId id="3103" r:id="rId11"/>
    <p:sldId id="3094" r:id="rId12"/>
    <p:sldId id="3106" r:id="rId13"/>
    <p:sldId id="3111" r:id="rId14"/>
    <p:sldId id="3100" r:id="rId15"/>
    <p:sldId id="3102" r:id="rId16"/>
    <p:sldId id="3093" r:id="rId17"/>
    <p:sldId id="3104" r:id="rId18"/>
    <p:sldId id="3108" r:id="rId19"/>
    <p:sldId id="3083" r:id="rId20"/>
    <p:sldId id="3068" r:id="rId21"/>
    <p:sldId id="3066" r:id="rId22"/>
    <p:sldId id="3072" r:id="rId23"/>
    <p:sldId id="3198" r:id="rId24"/>
    <p:sldId id="3248" r:id="rId25"/>
    <p:sldId id="3045" r:id="rId26"/>
    <p:sldId id="3055" r:id="rId27"/>
    <p:sldId id="3056" r:id="rId28"/>
    <p:sldId id="3204" r:id="rId29"/>
    <p:sldId id="3074" r:id="rId30"/>
    <p:sldId id="3112" r:id="rId31"/>
    <p:sldId id="3118" r:id="rId32"/>
    <p:sldId id="3082" r:id="rId33"/>
  </p:sldIdLst>
  <p:sldSz cx="103632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5B7F98-E1C6-4B2A-CC94-C5EB0EAED0F4}" name="Yessenia Busto" initials="YB" userId="S::ybusto@magaya.com::e8053286-6c34-44a8-a0fd-979eb43bf6a7" providerId="AD"/>
  <p188:author id="{093D83CA-EEE8-1D1B-3F72-0B9D294DFE45}" name="Judy Glynn" initials="JG" userId="S::jglynn@magaya.com::06482256-0a84-4804-8cf3-d0f838c582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3B48"/>
    <a:srgbClr val="000000"/>
    <a:srgbClr val="09A1FF"/>
    <a:srgbClr val="001691"/>
    <a:srgbClr val="6B7489"/>
    <a:srgbClr val="6B7488"/>
    <a:srgbClr val="FF00FF"/>
    <a:srgbClr val="FD4B72"/>
    <a:srgbClr val="F3F4F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autoAdjust="0"/>
    <p:restoredTop sz="96327" autoAdjust="0"/>
  </p:normalViewPr>
  <p:slideViewPr>
    <p:cSldViewPr>
      <p:cViewPr varScale="1">
        <p:scale>
          <a:sx n="97" d="100"/>
          <a:sy n="97" d="100"/>
        </p:scale>
        <p:origin x="1416" y="78"/>
      </p:cViewPr>
      <p:guideLst/>
    </p:cSldViewPr>
  </p:slideViewPr>
  <p:notesTextViewPr>
    <p:cViewPr>
      <p:scale>
        <a:sx n="3" d="2"/>
        <a:sy n="3" d="2"/>
      </p:scale>
      <p:origin x="0" y="0"/>
    </p:cViewPr>
  </p:notesTextViewPr>
  <p:sorterViewPr>
    <p:cViewPr>
      <p:scale>
        <a:sx n="100" d="100"/>
        <a:sy n="100" d="100"/>
      </p:scale>
      <p:origin x="0" y="-43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AD66CF95-799B-4345-8EA9-E1AB567FE1EE}" type="datetimeFigureOut">
              <a:rPr lang="en-US" smtClean="0"/>
              <a:t>3/11/2026</a:t>
            </a:fld>
            <a:endParaRPr lang="en-US" dirty="0"/>
          </a:p>
        </p:txBody>
      </p:sp>
      <p:sp>
        <p:nvSpPr>
          <p:cNvPr id="4" name="Slide Image Placeholder 3"/>
          <p:cNvSpPr>
            <a:spLocks noGrp="1" noRot="1" noChangeAspect="1"/>
          </p:cNvSpPr>
          <p:nvPr>
            <p:ph type="sldImg" idx="2"/>
          </p:nvPr>
        </p:nvSpPr>
        <p:spPr>
          <a:xfrm>
            <a:off x="3281363" y="971550"/>
            <a:ext cx="3495675" cy="26225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86618A1C-8D50-46D3-88F7-84D3EE65E443}" type="slidenum">
              <a:rPr lang="en-US" smtClean="0"/>
              <a:t>‹#›</a:t>
            </a:fld>
            <a:endParaRPr lang="en-US" dirty="0"/>
          </a:p>
        </p:txBody>
      </p:sp>
    </p:spTree>
    <p:extLst>
      <p:ext uri="{BB962C8B-B14F-4D97-AF65-F5344CB8AC3E}">
        <p14:creationId xmlns:p14="http://schemas.microsoft.com/office/powerpoint/2010/main" val="4052002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325842-7A63-43A9-BE22-B05EF2648BC6}" type="slidenum">
              <a:rPr lang="en-US" smtClean="0"/>
              <a:t>3</a:t>
            </a:fld>
            <a:endParaRPr lang="en-US" dirty="0"/>
          </a:p>
        </p:txBody>
      </p:sp>
    </p:spTree>
    <p:extLst>
      <p:ext uri="{BB962C8B-B14F-4D97-AF65-F5344CB8AC3E}">
        <p14:creationId xmlns:p14="http://schemas.microsoft.com/office/powerpoint/2010/main" val="2666982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325842-7A63-43A9-BE22-B05EF2648BC6}" type="slidenum">
              <a:rPr lang="en-US" smtClean="0"/>
              <a:t>4</a:t>
            </a:fld>
            <a:endParaRPr lang="en-US" dirty="0"/>
          </a:p>
        </p:txBody>
      </p:sp>
    </p:spTree>
    <p:extLst>
      <p:ext uri="{BB962C8B-B14F-4D97-AF65-F5344CB8AC3E}">
        <p14:creationId xmlns:p14="http://schemas.microsoft.com/office/powerpoint/2010/main" val="41003487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blank_content">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5"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4109520542"/>
      </p:ext>
    </p:extLst>
  </p:cSld>
  <p:clrMapOvr>
    <a:masterClrMapping/>
  </p:clrMapOvr>
  <p:extLst>
    <p:ext uri="{DCECCB84-F9BA-43D5-87BE-67443E8EF086}">
      <p15:sldGuideLst xmlns:p15="http://schemas.microsoft.com/office/powerpoint/2012/main">
        <p15:guide id="1" pos="336" userDrawn="1">
          <p15:clr>
            <a:srgbClr val="FBAE40"/>
          </p15:clr>
        </p15:guide>
        <p15:guide id="2" pos="61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0363200" cy="137160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853361117"/>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371600" cy="137160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520736714"/>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conten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2"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
        <p:nvSpPr>
          <p:cNvPr id="20" name="Rectangle 19"/>
          <p:cNvSpPr/>
          <p:nvPr userDrawn="1"/>
        </p:nvSpPr>
        <p:spPr>
          <a:xfrm>
            <a:off x="0" y="0"/>
            <a:ext cx="10363200" cy="411480"/>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44719978"/>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ver">
    <p:spTree>
      <p:nvGrpSpPr>
        <p:cNvPr id="1" name=""/>
        <p:cNvGrpSpPr/>
        <p:nvPr/>
      </p:nvGrpSpPr>
      <p:grpSpPr>
        <a:xfrm>
          <a:off x="0" y="0"/>
          <a:ext cx="0" cy="0"/>
          <a:chOff x="0" y="0"/>
          <a:chExt cx="0" cy="0"/>
        </a:xfrm>
      </p:grpSpPr>
      <p:sp>
        <p:nvSpPr>
          <p:cNvPr id="14" name="Holder 4"/>
          <p:cNvSpPr txBox="1">
            <a:spLocks/>
          </p:cNvSpPr>
          <p:nvPr userDrawn="1"/>
        </p:nvSpPr>
        <p:spPr>
          <a:xfrm>
            <a:off x="9942127" y="7466019"/>
            <a:ext cx="300952" cy="184666"/>
          </a:xfrm>
          <a:prstGeom prst="rect">
            <a:avLst/>
          </a:prstGeom>
        </p:spPr>
        <p:txBody>
          <a:bodyPr wrap="square" lIns="0" tIns="0" rIns="0" bIns="0">
            <a:spAutoFit/>
          </a:bodyPr>
          <a:lstStyle>
            <a:defPPr>
              <a:defRPr lang="en-US"/>
            </a:defPPr>
            <a:lvl1pPr marL="0" algn="l" defTabSz="914400" rtl="0" eaLnBrk="1" latinLnBrk="0" hangingPunct="1">
              <a:defRPr sz="1200" b="0" i="0" kern="1200">
                <a:solidFill>
                  <a:schemeClr val="bg1"/>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b="0" i="0" smtClean="0">
                <a:latin typeface="Open Sans" panose="020B0606030504020204" pitchFamily="34" charset="0"/>
                <a:cs typeface="Open Sans" panose="020B0606030504020204" pitchFamily="34" charset="0"/>
              </a:rPr>
              <a:pPr marL="48891">
                <a:spcBef>
                  <a:spcPts val="229"/>
                </a:spcBef>
              </a:pPr>
              <a:t>‹#›</a:t>
            </a:fld>
            <a:r>
              <a:rPr lang="en-US" b="0" i="0" spc="-80" dirty="0">
                <a:latin typeface="Open Sans" panose="020B0606030504020204" pitchFamily="34" charset="0"/>
                <a:cs typeface="Open Sans" panose="020B0606030504020204" pitchFamily="34" charset="0"/>
              </a:rPr>
              <a:t> </a:t>
            </a:r>
          </a:p>
        </p:txBody>
      </p:sp>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l="36090" t="29428" r="39098" b="2340"/>
          <a:stretch/>
        </p:blipFill>
        <p:spPr>
          <a:xfrm>
            <a:off x="5334000" y="0"/>
            <a:ext cx="5029200" cy="7772400"/>
          </a:xfrm>
          <a:prstGeom prst="rect">
            <a:avLst/>
          </a:prstGeom>
        </p:spPr>
      </p:pic>
      <p:sp>
        <p:nvSpPr>
          <p:cNvPr id="25" name="Rectangle 24"/>
          <p:cNvSpPr/>
          <p:nvPr userDrawn="1"/>
        </p:nvSpPr>
        <p:spPr>
          <a:xfrm>
            <a:off x="0" y="0"/>
            <a:ext cx="210312" cy="7772400"/>
          </a:xfrm>
          <a:prstGeom prst="rect">
            <a:avLst/>
          </a:prstGeom>
          <a:solidFill>
            <a:srgbClr val="001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9536" y="420624"/>
            <a:ext cx="1905000" cy="381000"/>
          </a:xfrm>
          <a:prstGeom prst="rect">
            <a:avLst/>
          </a:prstGeom>
        </p:spPr>
      </p:pic>
      <p:grpSp>
        <p:nvGrpSpPr>
          <p:cNvPr id="27" name="Group 26"/>
          <p:cNvGrpSpPr/>
          <p:nvPr userDrawn="1"/>
        </p:nvGrpSpPr>
        <p:grpSpPr>
          <a:xfrm>
            <a:off x="762000" y="2133600"/>
            <a:ext cx="4057521" cy="3520588"/>
            <a:chOff x="762000" y="2209800"/>
            <a:chExt cx="4057521" cy="3520588"/>
          </a:xfrm>
        </p:grpSpPr>
        <p:sp>
          <p:nvSpPr>
            <p:cNvPr id="28" name="TextBox 27"/>
            <p:cNvSpPr txBox="1"/>
            <p:nvPr/>
          </p:nvSpPr>
          <p:spPr>
            <a:xfrm>
              <a:off x="762000" y="2209800"/>
              <a:ext cx="4057521" cy="2215991"/>
            </a:xfrm>
            <a:prstGeom prst="rect">
              <a:avLst/>
            </a:prstGeom>
            <a:noFill/>
          </p:spPr>
          <p:txBody>
            <a:bodyPr wrap="square" rtlCol="0">
              <a:spAutoFit/>
            </a:bodyPr>
            <a:lstStyle/>
            <a:p>
              <a:r>
                <a:rPr lang="en-US" sz="4600" b="1" dirty="0">
                  <a:solidFill>
                    <a:srgbClr val="001691"/>
                  </a:solidFill>
                  <a:latin typeface="Montserrat" panose="00000500000000000000" pitchFamily="50" charset="0"/>
                </a:rPr>
                <a:t>THE DIGITAL</a:t>
              </a:r>
              <a:br>
                <a:rPr lang="en-US" sz="4600" b="1" dirty="0">
                  <a:solidFill>
                    <a:srgbClr val="001691"/>
                  </a:solidFill>
                  <a:latin typeface="Montserrat" panose="00000500000000000000" pitchFamily="50" charset="0"/>
                </a:rPr>
              </a:br>
              <a:r>
                <a:rPr lang="en-US" sz="4600" b="1" dirty="0">
                  <a:solidFill>
                    <a:srgbClr val="001691"/>
                  </a:solidFill>
                  <a:latin typeface="Montserrat" panose="00000500000000000000" pitchFamily="50" charset="0"/>
                </a:rPr>
                <a:t>FREIGHT</a:t>
              </a:r>
              <a:br>
                <a:rPr lang="en-US" sz="4600" b="1" dirty="0">
                  <a:solidFill>
                    <a:srgbClr val="001691"/>
                  </a:solidFill>
                  <a:latin typeface="Montserrat" panose="00000500000000000000" pitchFamily="50" charset="0"/>
                </a:rPr>
              </a:br>
              <a:r>
                <a:rPr lang="en-US" sz="4600" b="1" dirty="0">
                  <a:solidFill>
                    <a:srgbClr val="001691"/>
                  </a:solidFill>
                  <a:latin typeface="Montserrat" panose="00000500000000000000" pitchFamily="50" charset="0"/>
                </a:rPr>
                <a:t>PLATFORM</a:t>
              </a:r>
              <a:endParaRPr lang="en-CA" sz="4600" b="1" dirty="0">
                <a:solidFill>
                  <a:srgbClr val="001691"/>
                </a:solidFill>
                <a:latin typeface="Montserrat" panose="00000500000000000000" pitchFamily="50" charset="0"/>
              </a:endParaRPr>
            </a:p>
          </p:txBody>
        </p:sp>
        <p:sp>
          <p:nvSpPr>
            <p:cNvPr id="29" name="TextBox 28"/>
            <p:cNvSpPr txBox="1"/>
            <p:nvPr/>
          </p:nvSpPr>
          <p:spPr>
            <a:xfrm>
              <a:off x="780288" y="4370832"/>
              <a:ext cx="3986989" cy="523220"/>
            </a:xfrm>
            <a:prstGeom prst="rect">
              <a:avLst/>
            </a:prstGeom>
            <a:noFill/>
          </p:spPr>
          <p:txBody>
            <a:bodyPr wrap="none" rtlCol="0">
              <a:spAutoFit/>
            </a:bodyPr>
            <a:lstStyle/>
            <a:p>
              <a:r>
                <a:rPr lang="en-US" sz="2800" b="1" dirty="0">
                  <a:solidFill>
                    <a:srgbClr val="001691"/>
                  </a:solidFill>
                  <a:latin typeface="Montserrat" panose="00000500000000000000" pitchFamily="50" charset="0"/>
                </a:rPr>
                <a:t>THAT ACCELERATES</a:t>
              </a:r>
              <a:endParaRPr lang="en-CA" sz="2800" b="1" dirty="0">
                <a:solidFill>
                  <a:srgbClr val="001691"/>
                </a:solidFill>
                <a:latin typeface="Montserrat" panose="00000500000000000000" pitchFamily="50" charset="0"/>
              </a:endParaRPr>
            </a:p>
          </p:txBody>
        </p:sp>
        <p:sp>
          <p:nvSpPr>
            <p:cNvPr id="30" name="TextBox 29"/>
            <p:cNvSpPr txBox="1"/>
            <p:nvPr/>
          </p:nvSpPr>
          <p:spPr>
            <a:xfrm>
              <a:off x="762000" y="4699337"/>
              <a:ext cx="4057521" cy="1031051"/>
            </a:xfrm>
            <a:prstGeom prst="rect">
              <a:avLst/>
            </a:prstGeom>
            <a:noFill/>
          </p:spPr>
          <p:txBody>
            <a:bodyPr wrap="none" rtlCol="0">
              <a:spAutoFit/>
            </a:bodyPr>
            <a:lstStyle/>
            <a:p>
              <a:r>
                <a:rPr lang="en-US" sz="6100" b="1" spc="200" dirty="0">
                  <a:solidFill>
                    <a:srgbClr val="09A1FF"/>
                  </a:solidFill>
                  <a:latin typeface="Montserrat" panose="00000500000000000000" pitchFamily="50" charset="0"/>
                </a:rPr>
                <a:t>GROWTH</a:t>
              </a:r>
              <a:endParaRPr lang="en-CA" sz="6100" b="1" spc="200" dirty="0">
                <a:solidFill>
                  <a:srgbClr val="09A1FF"/>
                </a:solidFill>
                <a:latin typeface="Montserrat" panose="00000500000000000000" pitchFamily="50" charset="0"/>
              </a:endParaRPr>
            </a:p>
          </p:txBody>
        </p:sp>
        <p:grpSp>
          <p:nvGrpSpPr>
            <p:cNvPr id="31" name="Group 30"/>
            <p:cNvGrpSpPr/>
            <p:nvPr/>
          </p:nvGrpSpPr>
          <p:grpSpPr>
            <a:xfrm>
              <a:off x="853442" y="2953512"/>
              <a:ext cx="3760490" cy="1389888"/>
              <a:chOff x="914401" y="2953512"/>
              <a:chExt cx="4495799" cy="1389888"/>
            </a:xfrm>
          </p:grpSpPr>
          <p:cxnSp>
            <p:nvCxnSpPr>
              <p:cNvPr id="32" name="Straight Connector 31"/>
              <p:cNvCxnSpPr/>
              <p:nvPr/>
            </p:nvCxnSpPr>
            <p:spPr>
              <a:xfrm>
                <a:off x="914401" y="2953512"/>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914401" y="36576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14401" y="43434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1213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Intro">
    <p:spTree>
      <p:nvGrpSpPr>
        <p:cNvPr id="1" name=""/>
        <p:cNvGrpSpPr/>
        <p:nvPr/>
      </p:nvGrpSpPr>
      <p:grpSpPr>
        <a:xfrm>
          <a:off x="0" y="0"/>
          <a:ext cx="0" cy="0"/>
          <a:chOff x="0" y="0"/>
          <a:chExt cx="0" cy="0"/>
        </a:xfrm>
      </p:grpSpPr>
      <p:grpSp>
        <p:nvGrpSpPr>
          <p:cNvPr id="27" name="Group 26"/>
          <p:cNvGrpSpPr/>
          <p:nvPr userDrawn="1"/>
        </p:nvGrpSpPr>
        <p:grpSpPr>
          <a:xfrm>
            <a:off x="0" y="1447800"/>
            <a:ext cx="10363200" cy="5715000"/>
            <a:chOff x="0" y="1447800"/>
            <a:chExt cx="10363200" cy="571500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20410" t="18894" r="10198" b="23648"/>
            <a:stretch/>
          </p:blipFill>
          <p:spPr>
            <a:xfrm>
              <a:off x="0" y="1447800"/>
              <a:ext cx="10363200" cy="5715000"/>
            </a:xfrm>
            <a:prstGeom prst="rect">
              <a:avLst/>
            </a:prstGeom>
          </p:spPr>
        </p:pic>
        <p:sp>
          <p:nvSpPr>
            <p:cNvPr id="3" name="Rectangle 2"/>
            <p:cNvSpPr/>
            <p:nvPr userDrawn="1"/>
          </p:nvSpPr>
          <p:spPr>
            <a:xfrm>
              <a:off x="0" y="1447800"/>
              <a:ext cx="10363200" cy="5715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15400" y="7452360"/>
            <a:ext cx="929640" cy="185928"/>
          </a:xfrm>
          <a:prstGeom prst="rect">
            <a:avLst/>
          </a:prstGeom>
        </p:spPr>
      </p:pic>
      <p:sp>
        <p:nvSpPr>
          <p:cNvPr id="28" name="Holder 4"/>
          <p:cNvSpPr txBox="1">
            <a:spLocks/>
          </p:cNvSpPr>
          <p:nvPr userDrawn="1"/>
        </p:nvSpPr>
        <p:spPr>
          <a:xfrm>
            <a:off x="493776" y="7543800"/>
            <a:ext cx="300952" cy="123111"/>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83B48"/>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sz="800" b="0" i="0" smtClean="0">
                <a:solidFill>
                  <a:srgbClr val="6B7489"/>
                </a:solidFill>
                <a:latin typeface="Open Sans" panose="020B0606030504020204" pitchFamily="34" charset="0"/>
                <a:cs typeface="Open Sans" panose="020B0606030504020204" pitchFamily="34" charset="0"/>
              </a:rPr>
              <a:pPr marL="48891">
                <a:spcBef>
                  <a:spcPts val="229"/>
                </a:spcBef>
              </a:pPr>
              <a:t>‹#›</a:t>
            </a:fld>
            <a:r>
              <a:rPr lang="en-US" sz="800"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1609902553"/>
      </p:ext>
    </p:extLst>
  </p:cSld>
  <p:clrMapOvr>
    <a:masterClrMapping/>
  </p:clrMapOvr>
  <p:extLst>
    <p:ext uri="{DCECCB84-F9BA-43D5-87BE-67443E8EF086}">
      <p15:sldGuideLst xmlns:p15="http://schemas.microsoft.com/office/powerpoint/2012/main">
        <p15:guide id="1" pos="336" userDrawn="1">
          <p15:clr>
            <a:srgbClr val="FBAE40"/>
          </p15:clr>
        </p15:guide>
        <p15:guide id="2" pos="61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mapny Info">
    <p:spTree>
      <p:nvGrpSpPr>
        <p:cNvPr id="1" name=""/>
        <p:cNvGrpSpPr/>
        <p:nvPr/>
      </p:nvGrpSpPr>
      <p:grpSpPr>
        <a:xfrm>
          <a:off x="0" y="0"/>
          <a:ext cx="0" cy="0"/>
          <a:chOff x="0" y="0"/>
          <a:chExt cx="0" cy="0"/>
        </a:xfrm>
      </p:grpSpPr>
      <p:sp>
        <p:nvSpPr>
          <p:cNvPr id="2" name="Rectangle 1"/>
          <p:cNvSpPr/>
          <p:nvPr userDrawn="1"/>
        </p:nvSpPr>
        <p:spPr>
          <a:xfrm>
            <a:off x="0" y="0"/>
            <a:ext cx="10363200" cy="6781800"/>
          </a:xfrm>
          <a:prstGeom prst="rect">
            <a:avLst/>
          </a:prstGeom>
          <a:solidFill>
            <a:srgbClr val="6B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7147560"/>
            <a:ext cx="1600200" cy="320040"/>
          </a:xfrm>
          <a:prstGeom prst="rect">
            <a:avLst/>
          </a:prstGeom>
        </p:spPr>
      </p:pic>
      <p:sp>
        <p:nvSpPr>
          <p:cNvPr id="21" name="object 6"/>
          <p:cNvSpPr txBox="1">
            <a:spLocks/>
          </p:cNvSpPr>
          <p:nvPr userDrawn="1"/>
        </p:nvSpPr>
        <p:spPr>
          <a:xfrm>
            <a:off x="533400" y="838200"/>
            <a:ext cx="6934200" cy="2154436"/>
          </a:xfrm>
          <a:prstGeom prst="rect">
            <a:avLst/>
          </a:prstGeom>
        </p:spPr>
        <p:txBody>
          <a:bodyPr vert="horz" wrap="square" lIns="0" tIns="0" rIns="0" bIns="0" rtlCol="0">
            <a:spAutoFit/>
          </a:bodyPr>
          <a:lstStyle>
            <a:lvl1pPr>
              <a:defRPr>
                <a:latin typeface="+mj-lt"/>
                <a:ea typeface="+mj-ea"/>
                <a:cs typeface="+mj-cs"/>
              </a:defRPr>
            </a:lvl1pPr>
          </a:lstStyle>
          <a:p>
            <a:pPr algn="just">
              <a:lnSpc>
                <a:spcPct val="150000"/>
              </a:lnSpc>
              <a:spcAft>
                <a:spcPts val="600"/>
              </a:spcAft>
            </a:pPr>
            <a:r>
              <a:rPr lang="en-US" sz="1000" b="1" dirty="0">
                <a:solidFill>
                  <a:schemeClr val="bg1"/>
                </a:solidFill>
                <a:latin typeface="Montserrat" panose="00000500000000000000" pitchFamily="50" charset="0"/>
                <a:cs typeface="Open Sans" panose="020B0606030504020204" pitchFamily="34" charset="0"/>
              </a:rPr>
              <a:t>ABOUT MAGAYA</a:t>
            </a:r>
          </a:p>
          <a:p>
            <a:pPr algn="just">
              <a:lnSpc>
                <a:spcPct val="150000"/>
              </a:lnSpc>
              <a:spcAft>
                <a:spcPts val="600"/>
              </a:spcAft>
            </a:pPr>
            <a:r>
              <a:rPr lang="en-US" sz="1000" b="0" i="0" dirty="0">
                <a:solidFill>
                  <a:schemeClr val="bg1"/>
                </a:solidFill>
                <a:latin typeface="Open Sans" panose="020B0606030504020204" pitchFamily="34" charset="0"/>
                <a:ea typeface="Open Sans" panose="020B0606030504020204" pitchFamily="34" charset="0"/>
                <a:cs typeface="Open Sans" panose="020B0606030504020204" pitchFamily="34" charset="0"/>
              </a:rPr>
              <a:t>Magaya delivers a Digital Freight Platform that accelerates growth with flexible, interoperable, and modular cloud-based solutions designed to optimize and digitize end-to-end logistics operations and customer experience. Whether used together as an integrated digital freight platform or independently, Magaya solutions enable businesses of all sizes to streamline complex and redundant processes, enhance the customer experience, optimize productivity, reduce costs, and grow revenue. At Magaya, we are passionately devoted to ensuring our customers’ success through our innovative technology and comprehensive array of related professional services. We take great pride in our people, experts in the field of logistics automation, who are always willing to go the extra mile for our customers. There are no limits to your growth with Magaya. Visit magaya.com to learn more.</a:t>
            </a:r>
          </a:p>
        </p:txBody>
      </p:sp>
      <p:cxnSp>
        <p:nvCxnSpPr>
          <p:cNvPr id="24" name="Straight Connector 23"/>
          <p:cNvCxnSpPr/>
          <p:nvPr userDrawn="1"/>
        </p:nvCxnSpPr>
        <p:spPr>
          <a:xfrm>
            <a:off x="533400" y="3291840"/>
            <a:ext cx="6949440" cy="0"/>
          </a:xfrm>
          <a:prstGeom prst="line">
            <a:avLst/>
          </a:prstGeom>
          <a:ln w="635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580525"/>
      </p:ext>
    </p:extLst>
  </p:cSld>
  <p:clrMapOvr>
    <a:masterClrMapping/>
  </p:clrMapOvr>
  <p:extLst>
    <p:ext uri="{DCECCB84-F9BA-43D5-87BE-67443E8EF086}">
      <p15:sldGuideLst xmlns:p15="http://schemas.microsoft.com/office/powerpoint/2012/main">
        <p15:guide id="1" pos="336">
          <p15:clr>
            <a:srgbClr val="FBAE40"/>
          </p15:clr>
        </p15:guide>
        <p15:guide id="2" pos="61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lank_page">
    <p:spTree>
      <p:nvGrpSpPr>
        <p:cNvPr id="1" name=""/>
        <p:cNvGrpSpPr/>
        <p:nvPr/>
      </p:nvGrpSpPr>
      <p:grpSpPr>
        <a:xfrm>
          <a:off x="0" y="0"/>
          <a:ext cx="0" cy="0"/>
          <a:chOff x="0" y="0"/>
          <a:chExt cx="0" cy="0"/>
        </a:xfrm>
      </p:grpSpPr>
      <p:sp>
        <p:nvSpPr>
          <p:cNvPr id="14" name="Holder 4"/>
          <p:cNvSpPr txBox="1">
            <a:spLocks/>
          </p:cNvSpPr>
          <p:nvPr userDrawn="1"/>
        </p:nvSpPr>
        <p:spPr>
          <a:xfrm>
            <a:off x="9942127" y="7466019"/>
            <a:ext cx="300952" cy="184666"/>
          </a:xfrm>
          <a:prstGeom prst="rect">
            <a:avLst/>
          </a:prstGeom>
        </p:spPr>
        <p:txBody>
          <a:bodyPr wrap="square" lIns="0" tIns="0" rIns="0" bIns="0">
            <a:spAutoFit/>
          </a:bodyPr>
          <a:lstStyle>
            <a:defPPr>
              <a:defRPr lang="en-US"/>
            </a:defPPr>
            <a:lvl1pPr marL="0" algn="l" defTabSz="914400" rtl="0" eaLnBrk="1" latinLnBrk="0" hangingPunct="1">
              <a:defRPr sz="1200" b="0" i="0" kern="1200">
                <a:solidFill>
                  <a:schemeClr val="bg1"/>
                </a:solidFill>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8891">
              <a:spcBef>
                <a:spcPts val="229"/>
              </a:spcBef>
            </a:pPr>
            <a:fld id="{81D60167-4931-47E6-BA6A-407CBD079E47}" type="slidenum">
              <a:rPr lang="en-US" b="0" i="0" smtClean="0">
                <a:latin typeface="Open Sans" panose="020B0606030504020204" pitchFamily="34" charset="0"/>
                <a:cs typeface="Open Sans" panose="020B0606030504020204" pitchFamily="34" charset="0"/>
              </a:rPr>
              <a:pPr marL="48891">
                <a:spcBef>
                  <a:spcPts val="229"/>
                </a:spcBef>
              </a:pPr>
              <a:t>‹#›</a:t>
            </a:fld>
            <a:r>
              <a:rPr lang="en-US" b="0" i="0" spc="-80" dirty="0">
                <a:latin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68499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ver_2">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363200" cy="3607076"/>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3844" y="584104"/>
            <a:ext cx="1630081" cy="435254"/>
          </a:xfrm>
          <a:prstGeom prst="rect">
            <a:avLst/>
          </a:prstGeom>
        </p:spPr>
      </p:pic>
      <p:sp>
        <p:nvSpPr>
          <p:cNvPr id="10" name="Rectangle 9">
            <a:extLst>
              <a:ext uri="{FF2B5EF4-FFF2-40B4-BE49-F238E27FC236}">
                <a16:creationId xmlns:a16="http://schemas.microsoft.com/office/drawing/2014/main" id="{CDE95BE6-7F1E-4317-A176-07C0EE5766A8}"/>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23" name="Group 22"/>
          <p:cNvGrpSpPr/>
          <p:nvPr userDrawn="1"/>
        </p:nvGrpSpPr>
        <p:grpSpPr>
          <a:xfrm>
            <a:off x="10846894" y="496761"/>
            <a:ext cx="975741" cy="6372141"/>
            <a:chOff x="1294050" y="834228"/>
            <a:chExt cx="1149425" cy="5622477"/>
          </a:xfrm>
        </p:grpSpPr>
        <p:sp>
          <p:nvSpPr>
            <p:cNvPr id="24"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25"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26"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27"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28"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29"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30"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31" name="Group 30"/>
            <p:cNvGrpSpPr/>
            <p:nvPr/>
          </p:nvGrpSpPr>
          <p:grpSpPr>
            <a:xfrm>
              <a:off x="1301793" y="4463313"/>
              <a:ext cx="1135747" cy="1993392"/>
              <a:chOff x="1116961" y="4404945"/>
              <a:chExt cx="1135747" cy="1993392"/>
            </a:xfrm>
          </p:grpSpPr>
          <p:sp>
            <p:nvSpPr>
              <p:cNvPr id="32"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33"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34"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35"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36"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37"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123479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_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737C5B-3BE4-45C9-96ED-6DF2F6C3F6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69207" y="7303389"/>
            <a:ext cx="875176" cy="233684"/>
          </a:xfrm>
          <a:prstGeom prst="rect">
            <a:avLst/>
          </a:prstGeom>
        </p:spPr>
      </p:pic>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9" name="Group 48"/>
          <p:cNvGrpSpPr/>
          <p:nvPr userDrawn="1"/>
        </p:nvGrpSpPr>
        <p:grpSpPr>
          <a:xfrm>
            <a:off x="10846894" y="496761"/>
            <a:ext cx="975741" cy="6372141"/>
            <a:chOff x="1294050" y="834228"/>
            <a:chExt cx="1149425" cy="5622477"/>
          </a:xfrm>
        </p:grpSpPr>
        <p:sp>
          <p:nvSpPr>
            <p:cNvPr id="50"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1"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2"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3"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4"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5"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6"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7" name="Group 56"/>
            <p:cNvGrpSpPr/>
            <p:nvPr/>
          </p:nvGrpSpPr>
          <p:grpSpPr>
            <a:xfrm>
              <a:off x="1301793" y="4463313"/>
              <a:ext cx="1135747" cy="1993392"/>
              <a:chOff x="1116961" y="4404945"/>
              <a:chExt cx="1135747" cy="1993392"/>
            </a:xfrm>
          </p:grpSpPr>
          <p:sp>
            <p:nvSpPr>
              <p:cNvPr id="58"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9"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60"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1"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2"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3"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2895252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_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DC5A05-28E5-40BF-B7DE-3875FBC895AC}"/>
              </a:ext>
            </a:extLst>
          </p:cNvPr>
          <p:cNvSpPr/>
          <p:nvPr userDrawn="1"/>
        </p:nvSpPr>
        <p:spPr>
          <a:xfrm>
            <a:off x="0" y="0"/>
            <a:ext cx="3881146" cy="7772400"/>
          </a:xfrm>
          <a:prstGeom prst="rect">
            <a:avLst/>
          </a:prstGeom>
          <a:solidFill>
            <a:srgbClr val="F6F7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sp>
        <p:nvSpPr>
          <p:cNvPr id="5" name="Rectangle 4">
            <a:extLst>
              <a:ext uri="{FF2B5EF4-FFF2-40B4-BE49-F238E27FC236}">
                <a16:creationId xmlns:a16="http://schemas.microsoft.com/office/drawing/2014/main" id="{454BF816-A9B5-431A-AE62-EF33C9965A3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pic>
        <p:nvPicPr>
          <p:cNvPr id="6" name="Picture 5">
            <a:extLst>
              <a:ext uri="{FF2B5EF4-FFF2-40B4-BE49-F238E27FC236}">
                <a16:creationId xmlns:a16="http://schemas.microsoft.com/office/drawing/2014/main" id="{271F2754-11D4-4E25-B031-0565345A5C7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69207" y="7303389"/>
            <a:ext cx="875176" cy="233684"/>
          </a:xfrm>
          <a:prstGeom prst="rect">
            <a:avLst/>
          </a:prstGeom>
        </p:spPr>
      </p:pic>
      <p:grpSp>
        <p:nvGrpSpPr>
          <p:cNvPr id="20" name="Group 19"/>
          <p:cNvGrpSpPr/>
          <p:nvPr userDrawn="1"/>
        </p:nvGrpSpPr>
        <p:grpSpPr>
          <a:xfrm>
            <a:off x="10846894" y="496761"/>
            <a:ext cx="975741" cy="6372141"/>
            <a:chOff x="1294050" y="834228"/>
            <a:chExt cx="1149425" cy="5622477"/>
          </a:xfrm>
        </p:grpSpPr>
        <p:sp>
          <p:nvSpPr>
            <p:cNvPr id="36"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37"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38"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39"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40"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41"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42"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43" name="Group 42"/>
            <p:cNvGrpSpPr/>
            <p:nvPr/>
          </p:nvGrpSpPr>
          <p:grpSpPr>
            <a:xfrm>
              <a:off x="1301793" y="4463313"/>
              <a:ext cx="1135747" cy="1993392"/>
              <a:chOff x="1116961" y="4404945"/>
              <a:chExt cx="1135747" cy="1993392"/>
            </a:xfrm>
          </p:grpSpPr>
          <p:sp>
            <p:nvSpPr>
              <p:cNvPr id="44"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45"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46"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47"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48"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49"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187125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xtensions_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9" name="Group 48"/>
          <p:cNvGrpSpPr/>
          <p:nvPr userDrawn="1"/>
        </p:nvGrpSpPr>
        <p:grpSpPr>
          <a:xfrm>
            <a:off x="10846894" y="496761"/>
            <a:ext cx="975741" cy="6372141"/>
            <a:chOff x="1294050" y="834228"/>
            <a:chExt cx="1149425" cy="5622477"/>
          </a:xfrm>
        </p:grpSpPr>
        <p:sp>
          <p:nvSpPr>
            <p:cNvPr id="50"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1"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2"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3"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4"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5"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6"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7" name="Group 56"/>
            <p:cNvGrpSpPr/>
            <p:nvPr/>
          </p:nvGrpSpPr>
          <p:grpSpPr>
            <a:xfrm>
              <a:off x="1301793" y="4463313"/>
              <a:ext cx="1135747" cy="1993392"/>
              <a:chOff x="1116961" y="4404945"/>
              <a:chExt cx="1135747" cy="1993392"/>
            </a:xfrm>
          </p:grpSpPr>
          <p:sp>
            <p:nvSpPr>
              <p:cNvPr id="58"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9"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60"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1"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2"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3"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
        <p:nvSpPr>
          <p:cNvPr id="19" name="Rectangle 18">
            <a:extLst>
              <a:ext uri="{FF2B5EF4-FFF2-40B4-BE49-F238E27FC236}">
                <a16:creationId xmlns:a16="http://schemas.microsoft.com/office/drawing/2014/main" id="{00C32007-5EA0-4269-8443-74B2CB2D92DC}"/>
              </a:ext>
            </a:extLst>
          </p:cNvPr>
          <p:cNvSpPr/>
          <p:nvPr userDrawn="1"/>
        </p:nvSpPr>
        <p:spPr>
          <a:xfrm>
            <a:off x="0" y="0"/>
            <a:ext cx="3881146" cy="155448"/>
          </a:xfrm>
          <a:prstGeom prst="rect">
            <a:avLst/>
          </a:prstGeom>
          <a:solidFill>
            <a:srgbClr val="09A1FF"/>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spTree>
    <p:extLst>
      <p:ext uri="{BB962C8B-B14F-4D97-AF65-F5344CB8AC3E}">
        <p14:creationId xmlns:p14="http://schemas.microsoft.com/office/powerpoint/2010/main" val="1343168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nect_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9" name="Group 48"/>
          <p:cNvGrpSpPr/>
          <p:nvPr userDrawn="1"/>
        </p:nvGrpSpPr>
        <p:grpSpPr>
          <a:xfrm>
            <a:off x="10846894" y="496761"/>
            <a:ext cx="975741" cy="6372141"/>
            <a:chOff x="1294050" y="834228"/>
            <a:chExt cx="1149425" cy="5622477"/>
          </a:xfrm>
        </p:grpSpPr>
        <p:sp>
          <p:nvSpPr>
            <p:cNvPr id="50"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1"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2"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3"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4"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5"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6"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7" name="Group 56"/>
            <p:cNvGrpSpPr/>
            <p:nvPr/>
          </p:nvGrpSpPr>
          <p:grpSpPr>
            <a:xfrm>
              <a:off x="1301793" y="4463313"/>
              <a:ext cx="1135747" cy="1993392"/>
              <a:chOff x="1116961" y="4404945"/>
              <a:chExt cx="1135747" cy="1993392"/>
            </a:xfrm>
          </p:grpSpPr>
          <p:sp>
            <p:nvSpPr>
              <p:cNvPr id="58"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9"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60"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1"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2"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3"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
        <p:nvSpPr>
          <p:cNvPr id="19" name="Rectangle 18">
            <a:extLst>
              <a:ext uri="{FF2B5EF4-FFF2-40B4-BE49-F238E27FC236}">
                <a16:creationId xmlns:a16="http://schemas.microsoft.com/office/drawing/2014/main" id="{00C32007-5EA0-4269-8443-74B2CB2D92DC}"/>
              </a:ext>
            </a:extLst>
          </p:cNvPr>
          <p:cNvSpPr/>
          <p:nvPr userDrawn="1"/>
        </p:nvSpPr>
        <p:spPr>
          <a:xfrm>
            <a:off x="0" y="0"/>
            <a:ext cx="3881146" cy="155448"/>
          </a:xfrm>
          <a:prstGeom prst="rect">
            <a:avLst/>
          </a:prstGeom>
          <a:solidFill>
            <a:srgbClr val="00AEC7"/>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spTree>
    <p:extLst>
      <p:ext uri="{BB962C8B-B14F-4D97-AF65-F5344CB8AC3E}">
        <p14:creationId xmlns:p14="http://schemas.microsoft.com/office/powerpoint/2010/main" val="219502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_1 w/o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32007-5EA0-4269-8443-74B2CB2D92DC}"/>
              </a:ext>
            </a:extLst>
          </p:cNvPr>
          <p:cNvSpPr/>
          <p:nvPr userDrawn="1"/>
        </p:nvSpPr>
        <p:spPr>
          <a:xfrm>
            <a:off x="0" y="0"/>
            <a:ext cx="10363201" cy="155448"/>
          </a:xfrm>
          <a:prstGeom prst="rect">
            <a:avLst/>
          </a:prstGeom>
          <a:solidFill>
            <a:srgbClr val="00169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solidFill>
                <a:srgbClr val="001691"/>
              </a:solidFill>
            </a:endParaRPr>
          </a:p>
        </p:txBody>
      </p:sp>
      <p:grpSp>
        <p:nvGrpSpPr>
          <p:cNvPr id="48" name="Group 47"/>
          <p:cNvGrpSpPr/>
          <p:nvPr userDrawn="1"/>
        </p:nvGrpSpPr>
        <p:grpSpPr>
          <a:xfrm>
            <a:off x="10846894" y="496761"/>
            <a:ext cx="975741" cy="6372141"/>
            <a:chOff x="1294050" y="834228"/>
            <a:chExt cx="1149425" cy="5622477"/>
          </a:xfrm>
        </p:grpSpPr>
        <p:sp>
          <p:nvSpPr>
            <p:cNvPr id="49" name="Google Shape;57;p6"/>
            <p:cNvSpPr/>
            <p:nvPr/>
          </p:nvSpPr>
          <p:spPr>
            <a:xfrm>
              <a:off x="1294050" y="834228"/>
              <a:ext cx="1149425" cy="502920"/>
            </a:xfrm>
            <a:prstGeom prst="rect">
              <a:avLst/>
            </a:prstGeom>
            <a:solidFill>
              <a:srgbClr val="001691"/>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 / 22 / 145</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#001691</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Blue</a:t>
              </a:r>
              <a:endParaRPr sz="764" b="1" dirty="0">
                <a:solidFill>
                  <a:schemeClr val="lt1"/>
                </a:solidFill>
                <a:latin typeface="Open Sans"/>
                <a:ea typeface="Open Sans"/>
                <a:cs typeface="Open Sans"/>
                <a:sym typeface="Open Sans"/>
              </a:endParaRPr>
            </a:p>
          </p:txBody>
        </p:sp>
        <p:sp>
          <p:nvSpPr>
            <p:cNvPr id="50" name="Google Shape;58;p6"/>
            <p:cNvSpPr/>
            <p:nvPr/>
          </p:nvSpPr>
          <p:spPr>
            <a:xfrm>
              <a:off x="1294050" y="1867932"/>
              <a:ext cx="1149425" cy="502920"/>
            </a:xfrm>
            <a:prstGeom prst="rect">
              <a:avLst/>
            </a:prstGeom>
            <a:solidFill>
              <a:srgbClr val="01166D"/>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 / 22 / 109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#01166d</a:t>
              </a:r>
            </a:p>
            <a:p>
              <a:r>
                <a:rPr lang="en-US" sz="764" dirty="0">
                  <a:solidFill>
                    <a:schemeClr val="lt1"/>
                  </a:solidFill>
                  <a:latin typeface="Open Sans"/>
                  <a:ea typeface="Open Sans"/>
                  <a:cs typeface="Open Sans"/>
                  <a:sym typeface="Open Sans"/>
                </a:rPr>
                <a:t>Deep Blue</a:t>
              </a:r>
            </a:p>
          </p:txBody>
        </p:sp>
        <p:sp>
          <p:nvSpPr>
            <p:cNvPr id="51" name="Google Shape;59;p6"/>
            <p:cNvSpPr/>
            <p:nvPr/>
          </p:nvSpPr>
          <p:spPr>
            <a:xfrm>
              <a:off x="1294050" y="2386224"/>
              <a:ext cx="1149425" cy="502920"/>
            </a:xfrm>
            <a:prstGeom prst="rect">
              <a:avLst/>
            </a:prstGeom>
            <a:solidFill>
              <a:srgbClr val="14215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20 / 33 / 89</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#142159</a:t>
              </a:r>
            </a:p>
            <a:p>
              <a:r>
                <a:rPr lang="en-US" sz="764" dirty="0">
                  <a:solidFill>
                    <a:schemeClr val="lt1"/>
                  </a:solidFill>
                  <a:latin typeface="Open Sans"/>
                  <a:ea typeface="Open Sans"/>
                  <a:cs typeface="Open Sans"/>
                  <a:sym typeface="Open Sans"/>
                </a:rPr>
                <a:t>Dark Blue</a:t>
              </a:r>
            </a:p>
          </p:txBody>
        </p:sp>
        <p:sp>
          <p:nvSpPr>
            <p:cNvPr id="52" name="Google Shape;61;p6"/>
            <p:cNvSpPr/>
            <p:nvPr/>
          </p:nvSpPr>
          <p:spPr>
            <a:xfrm>
              <a:off x="1294050" y="3939395"/>
              <a:ext cx="1149425" cy="502920"/>
            </a:xfrm>
            <a:prstGeom prst="rect">
              <a:avLst/>
            </a:prstGeom>
            <a:solidFill>
              <a:srgbClr val="F6F7FE"/>
            </a:solidFill>
            <a:ln>
              <a:noFill/>
            </a:ln>
          </p:spPr>
          <p:txBody>
            <a:bodyPr spcFirstLastPara="1" wrap="square" lIns="73152" tIns="9144" rIns="0" bIns="9144" anchor="ctr" anchorCtr="0">
              <a:noAutofit/>
            </a:bodyPr>
            <a:lstStyle/>
            <a:p>
              <a:pPr lvl="0"/>
              <a:r>
                <a:rPr lang="en-US" sz="764" dirty="0">
                  <a:solidFill>
                    <a:schemeClr val="dk1"/>
                  </a:solidFill>
                  <a:latin typeface="Open Sans"/>
                  <a:ea typeface="Open Sans"/>
                  <a:cs typeface="Open Sans"/>
                  <a:sym typeface="Open Sans"/>
                </a:rPr>
                <a:t>246 / 247 / 254</a:t>
              </a:r>
            </a:p>
            <a:p>
              <a:pPr lvl="0"/>
              <a:r>
                <a:rPr lang="en-US" sz="764" dirty="0">
                  <a:solidFill>
                    <a:schemeClr val="dk1"/>
                  </a:solidFill>
                  <a:latin typeface="Open Sans"/>
                  <a:ea typeface="Open Sans"/>
                  <a:cs typeface="Open Sans"/>
                  <a:sym typeface="Open Sans"/>
                </a:rPr>
                <a:t>#F6F7FE</a:t>
              </a:r>
            </a:p>
            <a:p>
              <a:pPr lvl="0"/>
              <a:r>
                <a:rPr lang="en-US" sz="764" dirty="0">
                  <a:solidFill>
                    <a:schemeClr val="dk1"/>
                  </a:solidFill>
                  <a:latin typeface="Open Sans"/>
                  <a:ea typeface="Open Sans"/>
                  <a:cs typeface="Open Sans"/>
                  <a:sym typeface="Open Sans"/>
                </a:rPr>
                <a:t>Light Grey</a:t>
              </a:r>
              <a:endParaRPr sz="764" dirty="0">
                <a:solidFill>
                  <a:schemeClr val="dk1"/>
                </a:solidFill>
                <a:latin typeface="Open Sans"/>
                <a:ea typeface="Open Sans"/>
                <a:cs typeface="Open Sans"/>
                <a:sym typeface="Open Sans"/>
              </a:endParaRPr>
            </a:p>
          </p:txBody>
        </p:sp>
        <p:sp>
          <p:nvSpPr>
            <p:cNvPr id="53" name="Google Shape;62;p6"/>
            <p:cNvSpPr/>
            <p:nvPr/>
          </p:nvSpPr>
          <p:spPr>
            <a:xfrm>
              <a:off x="1294050" y="2903295"/>
              <a:ext cx="1149425" cy="502920"/>
            </a:xfrm>
            <a:prstGeom prst="rect">
              <a:avLst/>
            </a:prstGeom>
            <a:solidFill>
              <a:srgbClr val="6B7489"/>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107 / 116 / 137</a:t>
              </a:r>
              <a:endParaRPr sz="764" dirty="0"/>
            </a:p>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#6B7489</a:t>
              </a:r>
              <a:endParaRPr sz="764" dirty="0"/>
            </a:p>
            <a:p>
              <a:pPr marL="0" marR="0" lvl="0" indent="0" algn="l" rtl="0">
                <a:spcBef>
                  <a:spcPts val="0"/>
                </a:spcBef>
                <a:spcAft>
                  <a:spcPts val="0"/>
                </a:spcAft>
                <a:buNone/>
              </a:pPr>
              <a:r>
                <a:rPr lang="en-US" sz="764" b="1" dirty="0">
                  <a:solidFill>
                    <a:schemeClr val="lt1"/>
                  </a:solidFill>
                  <a:latin typeface="Open Sans"/>
                  <a:ea typeface="Open Sans"/>
                  <a:cs typeface="Open Sans"/>
                  <a:sym typeface="Open Sans"/>
                </a:rPr>
                <a:t>Magaya Grey</a:t>
              </a:r>
              <a:endParaRPr sz="764" b="1" dirty="0">
                <a:solidFill>
                  <a:schemeClr val="lt1"/>
                </a:solidFill>
                <a:latin typeface="Open Sans"/>
                <a:ea typeface="Open Sans"/>
                <a:cs typeface="Open Sans"/>
                <a:sym typeface="Open Sans"/>
              </a:endParaRPr>
            </a:p>
          </p:txBody>
        </p:sp>
        <p:sp>
          <p:nvSpPr>
            <p:cNvPr id="54" name="Google Shape;63;p6"/>
            <p:cNvSpPr/>
            <p:nvPr/>
          </p:nvSpPr>
          <p:spPr>
            <a:xfrm>
              <a:off x="1294050" y="3420367"/>
              <a:ext cx="1149425" cy="502920"/>
            </a:xfrm>
            <a:prstGeom prst="rect">
              <a:avLst/>
            </a:prstGeom>
            <a:solidFill>
              <a:srgbClr val="383B48"/>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56 / 59 / 72</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#383B48</a:t>
              </a:r>
              <a:br>
                <a:rPr lang="en-US" sz="764" dirty="0">
                  <a:solidFill>
                    <a:schemeClr val="lt1"/>
                  </a:solidFill>
                  <a:latin typeface="Open Sans"/>
                  <a:ea typeface="Open Sans"/>
                  <a:cs typeface="Open Sans"/>
                  <a:sym typeface="Open Sans"/>
                </a:rPr>
              </a:br>
              <a:r>
                <a:rPr lang="en-US" sz="764" dirty="0">
                  <a:solidFill>
                    <a:schemeClr val="lt1"/>
                  </a:solidFill>
                  <a:latin typeface="Open Sans"/>
                  <a:ea typeface="Open Sans"/>
                  <a:cs typeface="Open Sans"/>
                  <a:sym typeface="Open Sans"/>
                </a:rPr>
                <a:t>Dark Grey</a:t>
              </a:r>
              <a:endParaRPr sz="764" dirty="0">
                <a:solidFill>
                  <a:schemeClr val="lt1"/>
                </a:solidFill>
                <a:latin typeface="Open Sans"/>
                <a:ea typeface="Open Sans"/>
                <a:cs typeface="Open Sans"/>
                <a:sym typeface="Open Sans"/>
              </a:endParaRPr>
            </a:p>
          </p:txBody>
        </p:sp>
        <p:sp>
          <p:nvSpPr>
            <p:cNvPr id="55" name="Google Shape;60;p6"/>
            <p:cNvSpPr/>
            <p:nvPr/>
          </p:nvSpPr>
          <p:spPr>
            <a:xfrm>
              <a:off x="1294050" y="1344866"/>
              <a:ext cx="1149425" cy="502920"/>
            </a:xfrm>
            <a:prstGeom prst="rect">
              <a:avLst/>
            </a:prstGeom>
            <a:solidFill>
              <a:srgbClr val="09A1FF"/>
            </a:solidFill>
            <a:ln>
              <a:noFill/>
            </a:ln>
          </p:spPr>
          <p:txBody>
            <a:bodyPr spcFirstLastPara="1" wrap="square" lIns="73152" tIns="9144" rIns="0" bIns="9144" anchor="ctr" anchorCtr="0">
              <a:noAutofit/>
            </a:bodyPr>
            <a:lstStyle/>
            <a:p>
              <a:pPr marL="0" marR="0" lvl="0" indent="0" algn="l" rtl="0">
                <a:spcBef>
                  <a:spcPts val="0"/>
                </a:spcBef>
                <a:spcAft>
                  <a:spcPts val="0"/>
                </a:spcAft>
                <a:buNone/>
              </a:pPr>
              <a:r>
                <a:rPr lang="en-US" sz="764" dirty="0">
                  <a:solidFill>
                    <a:schemeClr val="lt1"/>
                  </a:solidFill>
                  <a:latin typeface="Open Sans"/>
                  <a:ea typeface="Open Sans"/>
                  <a:cs typeface="Open Sans"/>
                  <a:sym typeface="Open Sans"/>
                </a:rPr>
                <a:t>9 / 161 / 255</a:t>
              </a:r>
              <a:endParaRPr sz="764" dirty="0"/>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lt1"/>
                  </a:solidFill>
                  <a:latin typeface="Open Sans"/>
                  <a:ea typeface="Open Sans"/>
                  <a:cs typeface="Open Sans"/>
                  <a:sym typeface="Open Sans"/>
                </a:rPr>
                <a:t>#09A1FF</a:t>
              </a:r>
            </a:p>
            <a:p>
              <a:pPr marL="0" marR="0" lvl="0" indent="0" algn="l" rtl="0">
                <a:lnSpc>
                  <a:spcPct val="100000"/>
                </a:lnSpc>
                <a:spcBef>
                  <a:spcPts val="0"/>
                </a:spcBef>
                <a:spcAft>
                  <a:spcPts val="0"/>
                </a:spcAft>
                <a:buClr>
                  <a:schemeClr val="lt1"/>
                </a:buClr>
                <a:buSzPts val="850"/>
                <a:buFont typeface="Open Sans"/>
                <a:buNone/>
              </a:pPr>
              <a:r>
                <a:rPr lang="en-US" sz="764" dirty="0">
                  <a:solidFill>
                    <a:schemeClr val="bg1"/>
                  </a:solidFill>
                  <a:latin typeface="Open Sans"/>
                  <a:ea typeface="Open Sans"/>
                  <a:cs typeface="Open Sans"/>
                  <a:sym typeface="Open Sans"/>
                </a:rPr>
                <a:t>Light Magaya Blue</a:t>
              </a:r>
              <a:endParaRPr sz="764" dirty="0">
                <a:solidFill>
                  <a:schemeClr val="bg1"/>
                </a:solidFill>
                <a:latin typeface="Open Sans"/>
                <a:ea typeface="Open Sans"/>
                <a:cs typeface="Open Sans"/>
                <a:sym typeface="Open Sans"/>
              </a:endParaRPr>
            </a:p>
          </p:txBody>
        </p:sp>
        <p:grpSp>
          <p:nvGrpSpPr>
            <p:cNvPr id="56" name="Group 55"/>
            <p:cNvGrpSpPr/>
            <p:nvPr/>
          </p:nvGrpSpPr>
          <p:grpSpPr>
            <a:xfrm>
              <a:off x="1301793" y="4463313"/>
              <a:ext cx="1135747" cy="1993392"/>
              <a:chOff x="1116961" y="4404945"/>
              <a:chExt cx="1135747" cy="1993392"/>
            </a:xfrm>
          </p:grpSpPr>
          <p:sp>
            <p:nvSpPr>
              <p:cNvPr id="57" name="Google Shape;65;p6"/>
              <p:cNvSpPr/>
              <p:nvPr/>
            </p:nvSpPr>
            <p:spPr>
              <a:xfrm>
                <a:off x="1116961" y="4404945"/>
                <a:ext cx="1135747" cy="1993392"/>
              </a:xfrm>
              <a:prstGeom prst="rect">
                <a:avLst/>
              </a:prstGeom>
              <a:no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3" dirty="0">
                  <a:solidFill>
                    <a:schemeClr val="lt1"/>
                  </a:solidFill>
                  <a:latin typeface="Calibri"/>
                  <a:ea typeface="Calibri"/>
                  <a:cs typeface="Calibri"/>
                  <a:sym typeface="Calibri"/>
                </a:endParaRPr>
              </a:p>
            </p:txBody>
          </p:sp>
          <p:sp>
            <p:nvSpPr>
              <p:cNvPr id="58" name="Google Shape;66;p6"/>
              <p:cNvSpPr/>
              <p:nvPr/>
            </p:nvSpPr>
            <p:spPr>
              <a:xfrm>
                <a:off x="1116961" y="4448781"/>
                <a:ext cx="1135747" cy="428824"/>
              </a:xfrm>
              <a:prstGeom prst="rect">
                <a:avLst/>
              </a:prstGeom>
              <a:noFill/>
              <a:ln>
                <a:noFill/>
              </a:ln>
            </p:spPr>
            <p:txBody>
              <a:bodyPr spcFirstLastPara="1" wrap="square" lIns="0" tIns="18288" rIns="0" bIns="18288" anchor="t" anchorCtr="0">
                <a:noAutofit/>
              </a:bodyPr>
              <a:lstStyle/>
              <a:p>
                <a:pPr marL="0" marR="0" lvl="0" indent="0" algn="ctr" rtl="0">
                  <a:spcBef>
                    <a:spcPts val="0"/>
                  </a:spcBef>
                  <a:spcAft>
                    <a:spcPts val="0"/>
                  </a:spcAft>
                  <a:buNone/>
                </a:pPr>
                <a:r>
                  <a:rPr lang="en-US" sz="764" b="1" dirty="0">
                    <a:solidFill>
                      <a:schemeClr val="dk1"/>
                    </a:solidFill>
                    <a:latin typeface="Open Sans"/>
                    <a:ea typeface="Open Sans"/>
                    <a:cs typeface="Open Sans"/>
                    <a:sym typeface="Open Sans"/>
                  </a:rPr>
                  <a:t>Accent Colors</a:t>
                </a:r>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Marketing Use for </a:t>
                </a:r>
                <a:endParaRPr sz="594" dirty="0"/>
              </a:p>
              <a:p>
                <a:pPr marL="0" marR="0" lvl="0" indent="0" algn="ctr" rtl="0">
                  <a:spcBef>
                    <a:spcPts val="0"/>
                  </a:spcBef>
                  <a:spcAft>
                    <a:spcPts val="0"/>
                  </a:spcAft>
                  <a:buNone/>
                </a:pPr>
                <a:r>
                  <a:rPr lang="en-US" sz="594" dirty="0">
                    <a:solidFill>
                      <a:schemeClr val="dk1"/>
                    </a:solidFill>
                    <a:latin typeface="Open Sans"/>
                    <a:ea typeface="Open Sans"/>
                    <a:cs typeface="Open Sans"/>
                    <a:sym typeface="Open Sans"/>
                  </a:rPr>
                  <a:t>Special Purposes Only</a:t>
                </a:r>
                <a:endParaRPr sz="594" dirty="0">
                  <a:solidFill>
                    <a:schemeClr val="dk1"/>
                  </a:solidFill>
                  <a:latin typeface="Open Sans"/>
                  <a:ea typeface="Open Sans"/>
                  <a:cs typeface="Open Sans"/>
                  <a:sym typeface="Open Sans"/>
                </a:endParaRPr>
              </a:p>
            </p:txBody>
          </p:sp>
          <p:sp>
            <p:nvSpPr>
              <p:cNvPr id="59" name="Google Shape;69;p6"/>
              <p:cNvSpPr/>
              <p:nvPr/>
            </p:nvSpPr>
            <p:spPr>
              <a:xfrm>
                <a:off x="1256377" y="4879016"/>
                <a:ext cx="856915" cy="356671"/>
              </a:xfrm>
              <a:prstGeom prst="rect">
                <a:avLst/>
              </a:prstGeom>
              <a:solidFill>
                <a:srgbClr val="FFC914"/>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255 / 201 / 20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#FFC914</a:t>
                </a:r>
                <a:endParaRPr sz="679" dirty="0">
                  <a:solidFill>
                    <a:schemeClr val="dk1"/>
                  </a:solidFill>
                  <a:latin typeface="Open Sans"/>
                  <a:ea typeface="Open Sans"/>
                  <a:cs typeface="Open Sans"/>
                  <a:sym typeface="Open Sans"/>
                </a:endParaRPr>
              </a:p>
            </p:txBody>
          </p:sp>
          <p:sp>
            <p:nvSpPr>
              <p:cNvPr id="60" name="Google Shape;68;p6"/>
              <p:cNvSpPr/>
              <p:nvPr/>
            </p:nvSpPr>
            <p:spPr>
              <a:xfrm>
                <a:off x="1256377" y="5612976"/>
                <a:ext cx="856914" cy="348035"/>
              </a:xfrm>
              <a:prstGeom prst="rect">
                <a:avLst/>
              </a:prstGeom>
              <a:solidFill>
                <a:srgbClr val="FD4B72"/>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253 / 75 / 114</a:t>
                </a:r>
              </a:p>
              <a:p>
                <a:pPr lvl="0">
                  <a:lnSpc>
                    <a:spcPct val="110000"/>
                  </a:lnSpc>
                </a:pPr>
                <a:r>
                  <a:rPr lang="en-US" sz="679" dirty="0">
                    <a:solidFill>
                      <a:schemeClr val="bg1"/>
                    </a:solidFill>
                    <a:latin typeface="Open Sans"/>
                    <a:ea typeface="Open Sans"/>
                    <a:cs typeface="Open Sans"/>
                    <a:sym typeface="Open Sans"/>
                  </a:rPr>
                  <a:t>#FD4B72</a:t>
                </a:r>
                <a:endParaRPr sz="679" dirty="0">
                  <a:solidFill>
                    <a:schemeClr val="bg1"/>
                  </a:solidFill>
                  <a:latin typeface="Open Sans"/>
                  <a:ea typeface="Open Sans"/>
                  <a:cs typeface="Open Sans"/>
                  <a:sym typeface="Open Sans"/>
                </a:endParaRPr>
              </a:p>
            </p:txBody>
          </p:sp>
          <p:sp>
            <p:nvSpPr>
              <p:cNvPr id="61" name="Google Shape;68;p6"/>
              <p:cNvSpPr/>
              <p:nvPr/>
            </p:nvSpPr>
            <p:spPr>
              <a:xfrm>
                <a:off x="1256377" y="5247423"/>
                <a:ext cx="856914" cy="348035"/>
              </a:xfrm>
              <a:prstGeom prst="rect">
                <a:avLst/>
              </a:prstGeom>
              <a:solidFill>
                <a:srgbClr val="17D76E"/>
              </a:solidFill>
              <a:ln>
                <a:noFill/>
              </a:ln>
            </p:spPr>
            <p:txBody>
              <a:bodyPr spcFirstLastPara="1" wrap="square" lIns="45720" tIns="18288" rIns="0" bIns="18288" anchor="ctr" anchorCtr="0">
                <a:noAutofit/>
              </a:bodyPr>
              <a:lstStyle/>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23 / 215 / 110</a:t>
                </a:r>
                <a:endParaRPr sz="679" dirty="0"/>
              </a:p>
              <a:p>
                <a:pPr marL="0" marR="0" lvl="0" indent="0" algn="l" rtl="0">
                  <a:lnSpc>
                    <a:spcPct val="110000"/>
                  </a:lnSpc>
                  <a:spcBef>
                    <a:spcPts val="0"/>
                  </a:spcBef>
                  <a:spcAft>
                    <a:spcPts val="0"/>
                  </a:spcAft>
                  <a:buNone/>
                </a:pPr>
                <a:r>
                  <a:rPr lang="en-US" sz="679" dirty="0">
                    <a:solidFill>
                      <a:schemeClr val="dk1"/>
                    </a:solidFill>
                    <a:latin typeface="Open Sans"/>
                    <a:ea typeface="Open Sans"/>
                    <a:cs typeface="Open Sans"/>
                    <a:sym typeface="Open Sans"/>
                  </a:rPr>
                  <a:t>#17D76E</a:t>
                </a:r>
                <a:endParaRPr sz="679" dirty="0">
                  <a:solidFill>
                    <a:schemeClr val="dk1"/>
                  </a:solidFill>
                  <a:latin typeface="Open Sans"/>
                  <a:ea typeface="Open Sans"/>
                  <a:cs typeface="Open Sans"/>
                  <a:sym typeface="Open Sans"/>
                </a:endParaRPr>
              </a:p>
            </p:txBody>
          </p:sp>
          <p:sp>
            <p:nvSpPr>
              <p:cNvPr id="62" name="Google Shape;68;p6"/>
              <p:cNvSpPr/>
              <p:nvPr/>
            </p:nvSpPr>
            <p:spPr>
              <a:xfrm>
                <a:off x="1256377" y="5978408"/>
                <a:ext cx="856914" cy="348035"/>
              </a:xfrm>
              <a:prstGeom prst="rect">
                <a:avLst/>
              </a:prstGeom>
              <a:solidFill>
                <a:srgbClr val="0000FF"/>
              </a:solidFill>
              <a:ln>
                <a:noFill/>
              </a:ln>
            </p:spPr>
            <p:txBody>
              <a:bodyPr spcFirstLastPara="1" wrap="square" lIns="45720" tIns="18288" rIns="0" bIns="18288" anchor="ctr" anchorCtr="0">
                <a:noAutofit/>
              </a:bodyPr>
              <a:lstStyle/>
              <a:p>
                <a:pPr lvl="0">
                  <a:lnSpc>
                    <a:spcPct val="110000"/>
                  </a:lnSpc>
                </a:pPr>
                <a:r>
                  <a:rPr lang="en-US" sz="679" dirty="0">
                    <a:solidFill>
                      <a:schemeClr val="bg1"/>
                    </a:solidFill>
                    <a:latin typeface="Open Sans"/>
                    <a:ea typeface="Open Sans"/>
                    <a:cs typeface="Open Sans"/>
                    <a:sym typeface="Open Sans"/>
                  </a:rPr>
                  <a:t>0 / 0 / 255</a:t>
                </a:r>
              </a:p>
              <a:p>
                <a:pPr lvl="0">
                  <a:lnSpc>
                    <a:spcPct val="110000"/>
                  </a:lnSpc>
                </a:pPr>
                <a:r>
                  <a:rPr lang="en-US" sz="679" dirty="0">
                    <a:solidFill>
                      <a:schemeClr val="bg1"/>
                    </a:solidFill>
                    <a:latin typeface="Open Sans"/>
                    <a:ea typeface="Open Sans"/>
                    <a:cs typeface="Open Sans"/>
                    <a:sym typeface="Open Sans"/>
                  </a:rPr>
                  <a:t>#0000FF</a:t>
                </a:r>
                <a:endParaRPr sz="679" dirty="0">
                  <a:solidFill>
                    <a:schemeClr val="bg1"/>
                  </a:solidFill>
                  <a:latin typeface="Open Sans"/>
                  <a:ea typeface="Open Sans"/>
                  <a:cs typeface="Open Sans"/>
                  <a:sym typeface="Open Sans"/>
                </a:endParaRPr>
              </a:p>
            </p:txBody>
          </p:sp>
        </p:grpSp>
      </p:grpSp>
    </p:spTree>
    <p:extLst>
      <p:ext uri="{BB962C8B-B14F-4D97-AF65-F5344CB8AC3E}">
        <p14:creationId xmlns:p14="http://schemas.microsoft.com/office/powerpoint/2010/main" val="254962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 y="1163309"/>
            <a:ext cx="10363984" cy="430887"/>
          </a:xfrm>
          <a:prstGeom prst="rect">
            <a:avLst/>
          </a:prstGeom>
        </p:spPr>
        <p:txBody>
          <a:bodyPr wrap="square" lIns="0" tIns="0" rIns="0" bIns="0">
            <a:spAutoFit/>
          </a:bodyPr>
          <a:lstStyle>
            <a:lvl1pPr>
              <a:defRPr sz="2800" b="0" i="0">
                <a:solidFill>
                  <a:schemeClr val="bg1"/>
                </a:solidFill>
                <a:latin typeface="Montserrat-Light"/>
                <a:cs typeface="Montserrat-Light"/>
              </a:defRPr>
            </a:lvl1pPr>
          </a:lstStyle>
          <a:p>
            <a:endParaRPr/>
          </a:p>
        </p:txBody>
      </p:sp>
      <p:sp>
        <p:nvSpPr>
          <p:cNvPr id="3" name="Holder 3"/>
          <p:cNvSpPr>
            <a:spLocks noGrp="1"/>
          </p:cNvSpPr>
          <p:nvPr>
            <p:ph type="body" idx="1"/>
          </p:nvPr>
        </p:nvSpPr>
        <p:spPr>
          <a:xfrm>
            <a:off x="1526349" y="2591561"/>
            <a:ext cx="7310504"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523488" y="7228334"/>
            <a:ext cx="3316224" cy="276999"/>
          </a:xfrm>
          <a:prstGeom prst="rect">
            <a:avLst/>
          </a:prstGeom>
        </p:spPr>
        <p:txBody>
          <a:bodyPr wrap="square" lIns="0" tIns="0" rIns="0" bIns="0">
            <a:spAutoFit/>
          </a:bodyPr>
          <a:lstStyle>
            <a:lvl1pPr algn="ctr">
              <a:defRPr>
                <a:solidFill>
                  <a:schemeClr val="tx1">
                    <a:tint val="75000"/>
                  </a:schemeClr>
                </a:solidFill>
                <a:latin typeface="Montserrat" panose="00000500000000000000" pitchFamily="50" charset="0"/>
              </a:defRPr>
            </a:lvl1pPr>
          </a:lstStyle>
          <a:p>
            <a:endParaRPr lang="en-CA" dirty="0"/>
          </a:p>
        </p:txBody>
      </p:sp>
      <p:sp>
        <p:nvSpPr>
          <p:cNvPr id="5" name="Holder 5"/>
          <p:cNvSpPr>
            <a:spLocks noGrp="1"/>
          </p:cNvSpPr>
          <p:nvPr>
            <p:ph type="dt" sz="half" idx="6"/>
          </p:nvPr>
        </p:nvSpPr>
        <p:spPr>
          <a:xfrm>
            <a:off x="518160" y="7228334"/>
            <a:ext cx="2383536" cy="276999"/>
          </a:xfrm>
          <a:prstGeom prst="rect">
            <a:avLst/>
          </a:prstGeom>
        </p:spPr>
        <p:txBody>
          <a:bodyPr wrap="square" lIns="0" tIns="0" rIns="0" bIns="0">
            <a:spAutoFit/>
          </a:bodyPr>
          <a:lstStyle>
            <a:lvl1pPr algn="l">
              <a:defRPr>
                <a:solidFill>
                  <a:schemeClr val="tx1">
                    <a:tint val="75000"/>
                  </a:schemeClr>
                </a:solidFill>
                <a:latin typeface="Montserrat" panose="00000500000000000000" pitchFamily="50" charset="0"/>
              </a:defRPr>
            </a:lvl1pPr>
          </a:lstStyle>
          <a:p>
            <a:fld id="{1D8BD707-D9CF-40AE-B4C6-C98DA3205C09}" type="datetimeFigureOut">
              <a:rPr lang="en-US" smtClean="0"/>
              <a:pPr/>
              <a:t>3/11/2026</a:t>
            </a:fld>
            <a:endParaRPr lang="en-US" dirty="0"/>
          </a:p>
        </p:txBody>
      </p:sp>
      <p:sp>
        <p:nvSpPr>
          <p:cNvPr id="6" name="Holder 6"/>
          <p:cNvSpPr>
            <a:spLocks noGrp="1"/>
          </p:cNvSpPr>
          <p:nvPr>
            <p:ph type="sldNum" sz="quarter" idx="7"/>
          </p:nvPr>
        </p:nvSpPr>
        <p:spPr>
          <a:xfrm>
            <a:off x="9942127" y="7466019"/>
            <a:ext cx="300952" cy="184666"/>
          </a:xfrm>
          <a:prstGeom prst="rect">
            <a:avLst/>
          </a:prstGeom>
        </p:spPr>
        <p:txBody>
          <a:bodyPr wrap="square" lIns="0" tIns="0" rIns="0" bIns="0">
            <a:spAutoFit/>
          </a:bodyPr>
          <a:lstStyle>
            <a:lvl1pPr>
              <a:defRPr sz="1200" b="0" i="0">
                <a:solidFill>
                  <a:schemeClr val="bg1"/>
                </a:solidFill>
                <a:latin typeface="Open Sans Light"/>
                <a:cs typeface="Open Sans Light"/>
              </a:defRPr>
            </a:lvl1pPr>
          </a:lstStyle>
          <a:p>
            <a:pPr marL="48891">
              <a:spcBef>
                <a:spcPts val="229"/>
              </a:spcBef>
            </a:pPr>
            <a:fld id="{81D60167-4931-47E6-BA6A-407CBD079E47}" type="slidenum">
              <a:rPr lang="en-US" smtClean="0">
                <a:latin typeface="Open Sans" panose="020B0606030504020204" pitchFamily="34" charset="0"/>
                <a:cs typeface="Open Sans" panose="020B0606030504020204" pitchFamily="34" charset="0"/>
              </a:rPr>
              <a:pPr marL="48891">
                <a:spcBef>
                  <a:spcPts val="229"/>
                </a:spcBef>
              </a:pPr>
              <a:t>‹#›</a:t>
            </a:fld>
            <a:r>
              <a:rPr lang="en-US" spc="-80" dirty="0">
                <a:latin typeface="Open Sans" panose="020B0606030504020204" pitchFamily="34" charset="0"/>
                <a:cs typeface="Open Sans" panose="020B0606030504020204" pitchFamily="34" charset="0"/>
              </a:rPr>
              <a:t> </a:t>
            </a:r>
          </a:p>
        </p:txBody>
      </p:sp>
    </p:spTree>
  </p:cSld>
  <p:clrMap bg1="lt1" tx1="dk1" bg2="lt2" tx2="dk2" accent1="accent1" accent2="accent2" accent3="accent3" accent4="accent4" accent5="accent5" accent6="accent6" hlink="hlink" folHlink="folHlink"/>
  <p:sldLayoutIdLst>
    <p:sldLayoutId id="2147483667" r:id="rId1"/>
    <p:sldLayoutId id="2147483671" r:id="rId2"/>
    <p:sldLayoutId id="2147483670" r:id="rId3"/>
    <p:sldLayoutId id="2147483669" r:id="rId4"/>
    <p:sldLayoutId id="2147483673" r:id="rId5"/>
    <p:sldLayoutId id="2147483668" r:id="rId6"/>
    <p:sldLayoutId id="2147483672" r:id="rId7"/>
    <p:sldLayoutId id="2147483666" r:id="rId8"/>
    <p:sldLayoutId id="2147483674" r:id="rId9"/>
    <p:sldLayoutId id="2147483675" r:id="rId10"/>
    <p:sldLayoutId id="2147483676" r:id="rId11"/>
    <p:sldLayoutId id="2147483677" r:id="rId12"/>
    <p:sldLayoutId id="2147483678" r:id="rId13"/>
    <p:sldLayoutId id="2147483679" r:id="rId14"/>
  </p:sldLayoutIdLst>
  <p:txStyles>
    <p:titleStyle>
      <a:lvl1pPr>
        <a:defRPr>
          <a:latin typeface="+mj-lt"/>
          <a:ea typeface="+mj-ea"/>
          <a:cs typeface="+mj-cs"/>
        </a:defRPr>
      </a:lvl1pPr>
    </p:titleStyle>
    <p:bodyStyle>
      <a:lvl1pPr marL="0">
        <a:defRPr>
          <a:latin typeface="Montserrat" panose="00000500000000000000" pitchFamily="50" charset="0"/>
          <a:ea typeface="+mn-ea"/>
          <a:cs typeface="+mn-cs"/>
        </a:defRPr>
      </a:lvl1pPr>
      <a:lvl2pPr marL="457162">
        <a:defRPr>
          <a:latin typeface="+mn-lt"/>
          <a:ea typeface="+mn-ea"/>
          <a:cs typeface="+mn-cs"/>
        </a:defRPr>
      </a:lvl2pPr>
      <a:lvl3pPr marL="914323">
        <a:defRPr>
          <a:latin typeface="+mn-lt"/>
          <a:ea typeface="+mn-ea"/>
          <a:cs typeface="+mn-cs"/>
        </a:defRPr>
      </a:lvl3pPr>
      <a:lvl4pPr marL="1371485">
        <a:defRPr>
          <a:latin typeface="+mn-lt"/>
          <a:ea typeface="+mn-ea"/>
          <a:cs typeface="+mn-cs"/>
        </a:defRPr>
      </a:lvl4pPr>
      <a:lvl5pPr marL="1828647">
        <a:defRPr>
          <a:latin typeface="+mn-lt"/>
          <a:ea typeface="+mn-ea"/>
          <a:cs typeface="+mn-cs"/>
        </a:defRPr>
      </a:lvl5pPr>
      <a:lvl6pPr marL="2285808">
        <a:defRPr>
          <a:latin typeface="+mn-lt"/>
          <a:ea typeface="+mn-ea"/>
          <a:cs typeface="+mn-cs"/>
        </a:defRPr>
      </a:lvl6pPr>
      <a:lvl7pPr marL="2742970">
        <a:defRPr>
          <a:latin typeface="+mn-lt"/>
          <a:ea typeface="+mn-ea"/>
          <a:cs typeface="+mn-cs"/>
        </a:defRPr>
      </a:lvl7pPr>
      <a:lvl8pPr marL="3200132">
        <a:defRPr>
          <a:latin typeface="+mn-lt"/>
          <a:ea typeface="+mn-ea"/>
          <a:cs typeface="+mn-cs"/>
        </a:defRPr>
      </a:lvl8pPr>
      <a:lvl9pPr marL="3657294">
        <a:defRPr>
          <a:latin typeface="+mn-lt"/>
          <a:ea typeface="+mn-ea"/>
          <a:cs typeface="+mn-cs"/>
        </a:defRPr>
      </a:lvl9pPr>
    </p:bodyStyle>
    <p:otherStyle>
      <a:lvl1pPr marL="0">
        <a:defRPr>
          <a:latin typeface="+mn-lt"/>
          <a:ea typeface="+mn-ea"/>
          <a:cs typeface="+mn-cs"/>
        </a:defRPr>
      </a:lvl1pPr>
      <a:lvl2pPr marL="457162">
        <a:defRPr>
          <a:latin typeface="+mn-lt"/>
          <a:ea typeface="+mn-ea"/>
          <a:cs typeface="+mn-cs"/>
        </a:defRPr>
      </a:lvl2pPr>
      <a:lvl3pPr marL="914323">
        <a:defRPr>
          <a:latin typeface="+mn-lt"/>
          <a:ea typeface="+mn-ea"/>
          <a:cs typeface="+mn-cs"/>
        </a:defRPr>
      </a:lvl3pPr>
      <a:lvl4pPr marL="1371485">
        <a:defRPr>
          <a:latin typeface="+mn-lt"/>
          <a:ea typeface="+mn-ea"/>
          <a:cs typeface="+mn-cs"/>
        </a:defRPr>
      </a:lvl4pPr>
      <a:lvl5pPr marL="1828647">
        <a:defRPr>
          <a:latin typeface="+mn-lt"/>
          <a:ea typeface="+mn-ea"/>
          <a:cs typeface="+mn-cs"/>
        </a:defRPr>
      </a:lvl5pPr>
      <a:lvl6pPr marL="2285808">
        <a:defRPr>
          <a:latin typeface="+mn-lt"/>
          <a:ea typeface="+mn-ea"/>
          <a:cs typeface="+mn-cs"/>
        </a:defRPr>
      </a:lvl6pPr>
      <a:lvl7pPr marL="2742970">
        <a:defRPr>
          <a:latin typeface="+mn-lt"/>
          <a:ea typeface="+mn-ea"/>
          <a:cs typeface="+mn-cs"/>
        </a:defRPr>
      </a:lvl7pPr>
      <a:lvl8pPr marL="3200132">
        <a:defRPr>
          <a:latin typeface="+mn-lt"/>
          <a:ea typeface="+mn-ea"/>
          <a:cs typeface="+mn-cs"/>
        </a:defRPr>
      </a:lvl8pPr>
      <a:lvl9pPr marL="3657294">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eg"/><Relationship Id="rId2" Type="http://schemas.openxmlformats.org/officeDocument/2006/relationships/image" Target="../media/image10.jpg"/><Relationship Id="rId1" Type="http://schemas.openxmlformats.org/officeDocument/2006/relationships/slideLayout" Target="../slideLayouts/slideLayout10.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magaya.com/magaya-connect/" TargetMode="External"/><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hyperlink" Target="mailto:ebencomo@magaya.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461615" y="4231215"/>
            <a:ext cx="4765494" cy="2031130"/>
            <a:chOff x="543783" y="3835429"/>
            <a:chExt cx="5613764" cy="2392677"/>
          </a:xfrm>
        </p:grpSpPr>
        <p:sp>
          <p:nvSpPr>
            <p:cNvPr id="2" name="TextBox 1">
              <a:extLst>
                <a:ext uri="{FF2B5EF4-FFF2-40B4-BE49-F238E27FC236}">
                  <a16:creationId xmlns:a16="http://schemas.microsoft.com/office/drawing/2014/main" id="{014CCD8E-906E-42FC-A29D-1F8B0D89206F}"/>
                </a:ext>
              </a:extLst>
            </p:cNvPr>
            <p:cNvSpPr txBox="1"/>
            <p:nvPr/>
          </p:nvSpPr>
          <p:spPr>
            <a:xfrm>
              <a:off x="543783" y="3835429"/>
              <a:ext cx="5613764" cy="1563019"/>
            </a:xfrm>
            <a:prstGeom prst="rect">
              <a:avLst/>
            </a:prstGeom>
            <a:noFill/>
          </p:spPr>
          <p:txBody>
            <a:bodyPr wrap="square" rtlCol="0">
              <a:spAutoFit/>
            </a:bodyPr>
            <a:lstStyle/>
            <a:p>
              <a:pPr>
                <a:lnSpc>
                  <a:spcPct val="90000"/>
                </a:lnSpc>
              </a:pPr>
              <a:r>
                <a:rPr lang="en-US" sz="3311" b="1" dirty="0">
                  <a:solidFill>
                    <a:srgbClr val="001691"/>
                  </a:solidFill>
                  <a:latin typeface="Montserrat" panose="00000500000000000000" pitchFamily="50" charset="0"/>
                </a:rPr>
                <a:t>MOVING FREIGHT</a:t>
              </a:r>
            </a:p>
            <a:p>
              <a:pPr>
                <a:lnSpc>
                  <a:spcPct val="90000"/>
                </a:lnSpc>
              </a:pPr>
              <a:r>
                <a:rPr lang="en-US" sz="5603" b="1" i="1" dirty="0">
                  <a:solidFill>
                    <a:srgbClr val="09A1FF"/>
                  </a:solidFill>
                  <a:latin typeface="Montserrat" panose="00000500000000000000" pitchFamily="50" charset="0"/>
                </a:rPr>
                <a:t>FORWARD</a:t>
              </a:r>
              <a:endParaRPr lang="en-CA" sz="5603" b="1" i="1" dirty="0">
                <a:solidFill>
                  <a:srgbClr val="09A1FF"/>
                </a:solidFill>
                <a:latin typeface="Montserrat" panose="00000500000000000000" pitchFamily="50" charset="0"/>
              </a:endParaRPr>
            </a:p>
          </p:txBody>
        </p:sp>
        <p:cxnSp>
          <p:nvCxnSpPr>
            <p:cNvPr id="3" name="Straight Connector 2">
              <a:extLst>
                <a:ext uri="{FF2B5EF4-FFF2-40B4-BE49-F238E27FC236}">
                  <a16:creationId xmlns:a16="http://schemas.microsoft.com/office/drawing/2014/main" id="{EE76ED82-4748-C5F2-D617-B3D874AF7DD6}"/>
                </a:ext>
              </a:extLst>
            </p:cNvPr>
            <p:cNvCxnSpPr>
              <a:cxnSpLocks/>
            </p:cNvCxnSpPr>
            <p:nvPr/>
          </p:nvCxnSpPr>
          <p:spPr>
            <a:xfrm>
              <a:off x="640080" y="5363192"/>
              <a:ext cx="48920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1064B10-5E3C-D3D7-2530-AD4D534E8B0E}"/>
                </a:ext>
              </a:extLst>
            </p:cNvPr>
            <p:cNvSpPr txBox="1"/>
            <p:nvPr/>
          </p:nvSpPr>
          <p:spPr>
            <a:xfrm>
              <a:off x="555505" y="5503738"/>
              <a:ext cx="5328625" cy="724368"/>
            </a:xfrm>
            <a:prstGeom prst="rect">
              <a:avLst/>
            </a:prstGeom>
            <a:noFill/>
          </p:spPr>
          <p:txBody>
            <a:bodyPr wrap="square" rtlCol="0">
              <a:spAutoFit/>
            </a:bodyPr>
            <a:lstStyle/>
            <a:p>
              <a:pPr algn="l" fontAlgn="base"/>
              <a:r>
                <a:rPr lang="en-CA" sz="1698" b="1" dirty="0">
                  <a:solidFill>
                    <a:srgbClr val="424242"/>
                  </a:solidFill>
                  <a:latin typeface="Montserrat SemiBold" pitchFamily="2" charset="77"/>
                </a:rPr>
                <a:t>The </a:t>
              </a:r>
              <a:r>
                <a:rPr lang="en-CA" sz="1698" b="1" dirty="0">
                  <a:solidFill>
                    <a:srgbClr val="09A1FF"/>
                  </a:solidFill>
                  <a:latin typeface="Montserrat SemiBold" pitchFamily="2" charset="77"/>
                </a:rPr>
                <a:t>#1 Freight Management Platform </a:t>
              </a:r>
              <a:br>
                <a:rPr lang="en-CA" sz="1698" b="1" dirty="0">
                  <a:solidFill>
                    <a:srgbClr val="09A1FF"/>
                  </a:solidFill>
                  <a:latin typeface="Montserrat SemiBold" pitchFamily="2" charset="77"/>
                </a:rPr>
              </a:br>
              <a:r>
                <a:rPr lang="en-CA" sz="1698" b="1" dirty="0">
                  <a:solidFill>
                    <a:srgbClr val="424242"/>
                  </a:solidFill>
                  <a:latin typeface="Montserrat SemiBold" pitchFamily="2" charset="77"/>
                </a:rPr>
                <a:t>for Logistics Service Providers</a:t>
              </a:r>
            </a:p>
          </p:txBody>
        </p:sp>
      </p:grpSp>
      <p:pic>
        <p:nvPicPr>
          <p:cNvPr id="2050" name="Picture 2" descr="Magaya Digital Freight Platform">
            <a:extLst>
              <a:ext uri="{FF2B5EF4-FFF2-40B4-BE49-F238E27FC236}">
                <a16:creationId xmlns:a16="http://schemas.microsoft.com/office/drawing/2014/main" id="{BCF9C40B-D723-9B15-B573-CD5A56BF5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109" y="2122332"/>
            <a:ext cx="4765494" cy="2430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6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A98CF-7024-0E4C-B9D0-B934DCC8FE4C}"/>
              </a:ext>
            </a:extLst>
          </p:cNvPr>
          <p:cNvSpPr/>
          <p:nvPr/>
        </p:nvSpPr>
        <p:spPr>
          <a:xfrm>
            <a:off x="1" y="1361157"/>
            <a:ext cx="10363200" cy="588751"/>
          </a:xfrm>
          <a:prstGeom prst="rect">
            <a:avLst/>
          </a:prstGeom>
        </p:spPr>
        <p:txBody>
          <a:bodyPr wrap="square">
            <a:spAutoFit/>
          </a:bodyPr>
          <a:lstStyle/>
          <a:p>
            <a:pPr algn="ct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INDUSTRIES </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WE SERVE</a:t>
            </a:r>
          </a:p>
        </p:txBody>
      </p:sp>
      <p:grpSp>
        <p:nvGrpSpPr>
          <p:cNvPr id="21" name="Group 20"/>
          <p:cNvGrpSpPr/>
          <p:nvPr/>
        </p:nvGrpSpPr>
        <p:grpSpPr>
          <a:xfrm>
            <a:off x="778203" y="2174669"/>
            <a:ext cx="8826177" cy="3985626"/>
            <a:chOff x="916725" y="1412812"/>
            <a:chExt cx="10397258" cy="4695077"/>
          </a:xfrm>
        </p:grpSpPr>
        <p:grpSp>
          <p:nvGrpSpPr>
            <p:cNvPr id="15" name="Group 14"/>
            <p:cNvGrpSpPr/>
            <p:nvPr/>
          </p:nvGrpSpPr>
          <p:grpSpPr>
            <a:xfrm>
              <a:off x="916726" y="1412812"/>
              <a:ext cx="3343684" cy="2265345"/>
              <a:chOff x="916726" y="1412812"/>
              <a:chExt cx="3343684" cy="2265345"/>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6727" y="1412812"/>
                <a:ext cx="3343683" cy="2265345"/>
              </a:xfrm>
              <a:prstGeom prst="rect">
                <a:avLst/>
              </a:prstGeom>
            </p:spPr>
          </p:pic>
          <p:sp>
            <p:nvSpPr>
              <p:cNvPr id="9" name="Rectangle 8"/>
              <p:cNvSpPr/>
              <p:nvPr/>
            </p:nvSpPr>
            <p:spPr>
              <a:xfrm>
                <a:off x="916726" y="3111229"/>
                <a:ext cx="3343683" cy="566928"/>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FREIGHT FORWARDING</a:t>
                </a:r>
                <a:endParaRPr lang="en-CA" sz="1528" b="1" dirty="0">
                  <a:latin typeface="Montserrat" panose="00000500000000000000" pitchFamily="50" charset="0"/>
                </a:endParaRPr>
              </a:p>
            </p:txBody>
          </p:sp>
        </p:grpSp>
        <p:grpSp>
          <p:nvGrpSpPr>
            <p:cNvPr id="18" name="Group 17"/>
            <p:cNvGrpSpPr/>
            <p:nvPr/>
          </p:nvGrpSpPr>
          <p:grpSpPr>
            <a:xfrm>
              <a:off x="916725" y="3842543"/>
              <a:ext cx="3343685" cy="2265346"/>
              <a:chOff x="916725" y="3842543"/>
              <a:chExt cx="3343685" cy="2265346"/>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727" y="3842543"/>
                <a:ext cx="3343683" cy="2265346"/>
              </a:xfrm>
              <a:prstGeom prst="rect">
                <a:avLst/>
              </a:prstGeom>
            </p:spPr>
          </p:pic>
          <p:sp>
            <p:nvSpPr>
              <p:cNvPr id="10" name="Rectangle 9"/>
              <p:cNvSpPr/>
              <p:nvPr/>
            </p:nvSpPr>
            <p:spPr>
              <a:xfrm>
                <a:off x="916725" y="5538944"/>
                <a:ext cx="3343683" cy="568945"/>
              </a:xfrm>
              <a:prstGeom prst="rect">
                <a:avLst/>
              </a:prstGeom>
              <a:solidFill>
                <a:srgbClr val="000066">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WAREHOUSE</a:t>
                </a:r>
                <a:endParaRPr lang="en-CA" sz="1528" b="1" dirty="0">
                  <a:latin typeface="Montserrat" panose="00000500000000000000" pitchFamily="50" charset="0"/>
                </a:endParaRPr>
              </a:p>
            </p:txBody>
          </p:sp>
        </p:grpSp>
        <p:grpSp>
          <p:nvGrpSpPr>
            <p:cNvPr id="16" name="Group 15"/>
            <p:cNvGrpSpPr/>
            <p:nvPr/>
          </p:nvGrpSpPr>
          <p:grpSpPr>
            <a:xfrm>
              <a:off x="4440764" y="1412812"/>
              <a:ext cx="3343685" cy="2265345"/>
              <a:chOff x="4440764" y="1412812"/>
              <a:chExt cx="3343685" cy="2265345"/>
            </a:xfrm>
          </p:grpSpPr>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0764" y="1412812"/>
                <a:ext cx="3343682" cy="2265345"/>
              </a:xfrm>
              <a:prstGeom prst="rect">
                <a:avLst/>
              </a:prstGeom>
            </p:spPr>
          </p:pic>
          <p:sp>
            <p:nvSpPr>
              <p:cNvPr id="11" name="Rectangle 10"/>
              <p:cNvSpPr/>
              <p:nvPr/>
            </p:nvSpPr>
            <p:spPr>
              <a:xfrm>
                <a:off x="4440766" y="3111229"/>
                <a:ext cx="3343683" cy="566928"/>
              </a:xfrm>
              <a:prstGeom prst="rect">
                <a:avLst/>
              </a:prstGeom>
              <a:solidFill>
                <a:srgbClr val="00006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3PL</a:t>
                </a:r>
                <a:endParaRPr lang="en-CA" sz="1528" b="1" dirty="0">
                  <a:latin typeface="Montserrat" panose="00000500000000000000" pitchFamily="50" charset="0"/>
                </a:endParaRPr>
              </a:p>
            </p:txBody>
          </p:sp>
        </p:grpSp>
        <p:grpSp>
          <p:nvGrpSpPr>
            <p:cNvPr id="19" name="Group 18"/>
            <p:cNvGrpSpPr/>
            <p:nvPr/>
          </p:nvGrpSpPr>
          <p:grpSpPr>
            <a:xfrm>
              <a:off x="4440765" y="3842543"/>
              <a:ext cx="3343684" cy="2265346"/>
              <a:chOff x="4440765" y="3842543"/>
              <a:chExt cx="3343684" cy="2265346"/>
            </a:xfrm>
          </p:grpSpPr>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40765" y="3842543"/>
                <a:ext cx="3343684" cy="2265346"/>
              </a:xfrm>
              <a:prstGeom prst="rect">
                <a:avLst/>
              </a:prstGeom>
            </p:spPr>
          </p:pic>
          <p:sp>
            <p:nvSpPr>
              <p:cNvPr id="12" name="Rectangle 11"/>
              <p:cNvSpPr/>
              <p:nvPr/>
            </p:nvSpPr>
            <p:spPr>
              <a:xfrm>
                <a:off x="4440766" y="5538944"/>
                <a:ext cx="3343683" cy="568945"/>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COURIER</a:t>
                </a:r>
                <a:endParaRPr lang="en-CA" sz="1528" b="1" dirty="0">
                  <a:latin typeface="Montserrat" panose="00000500000000000000" pitchFamily="50" charset="0"/>
                </a:endParaRPr>
              </a:p>
            </p:txBody>
          </p:sp>
        </p:grpSp>
        <p:grpSp>
          <p:nvGrpSpPr>
            <p:cNvPr id="17" name="Group 16"/>
            <p:cNvGrpSpPr/>
            <p:nvPr/>
          </p:nvGrpSpPr>
          <p:grpSpPr>
            <a:xfrm>
              <a:off x="7964800" y="1412812"/>
              <a:ext cx="3349183" cy="2265345"/>
              <a:chOff x="7964800" y="1412812"/>
              <a:chExt cx="3349183" cy="2265345"/>
            </a:xfrm>
          </p:grpSpPr>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64800" y="1412812"/>
                <a:ext cx="3343682" cy="2265345"/>
              </a:xfrm>
              <a:prstGeom prst="rect">
                <a:avLst/>
              </a:prstGeom>
            </p:spPr>
          </p:pic>
          <p:sp>
            <p:nvSpPr>
              <p:cNvPr id="13" name="Rectangle 12"/>
              <p:cNvSpPr/>
              <p:nvPr/>
            </p:nvSpPr>
            <p:spPr>
              <a:xfrm>
                <a:off x="7970300" y="3111229"/>
                <a:ext cx="3343683" cy="566928"/>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NVOCC</a:t>
                </a:r>
                <a:endParaRPr lang="en-CA" sz="1528" b="1" dirty="0">
                  <a:latin typeface="Montserrat" panose="00000500000000000000" pitchFamily="50" charset="0"/>
                </a:endParaRPr>
              </a:p>
            </p:txBody>
          </p:sp>
        </p:grpSp>
        <p:grpSp>
          <p:nvGrpSpPr>
            <p:cNvPr id="20" name="Group 19"/>
            <p:cNvGrpSpPr/>
            <p:nvPr/>
          </p:nvGrpSpPr>
          <p:grpSpPr>
            <a:xfrm>
              <a:off x="7970300" y="3846271"/>
              <a:ext cx="3343683" cy="2261618"/>
              <a:chOff x="7970300" y="3846271"/>
              <a:chExt cx="3343683" cy="2261618"/>
            </a:xfrm>
          </p:grpSpPr>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70300" y="3846271"/>
                <a:ext cx="3338182" cy="2261618"/>
              </a:xfrm>
              <a:prstGeom prst="rect">
                <a:avLst/>
              </a:prstGeom>
            </p:spPr>
          </p:pic>
          <p:sp>
            <p:nvSpPr>
              <p:cNvPr id="14" name="Rectangle 13"/>
              <p:cNvSpPr/>
              <p:nvPr/>
            </p:nvSpPr>
            <p:spPr>
              <a:xfrm>
                <a:off x="7970300" y="5538944"/>
                <a:ext cx="3343683" cy="568945"/>
              </a:xfrm>
              <a:prstGeom prst="rect">
                <a:avLst/>
              </a:prstGeom>
              <a:solidFill>
                <a:srgbClr val="0000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28" b="1" dirty="0">
                    <a:latin typeface="Montserrat" panose="00000500000000000000" pitchFamily="50" charset="0"/>
                  </a:rPr>
                  <a:t>CUSTOMS BROKERAGE</a:t>
                </a:r>
                <a:endParaRPr lang="en-CA" sz="1528" b="1" dirty="0">
                  <a:latin typeface="Montserrat" panose="00000500000000000000" pitchFamily="50" charset="0"/>
                </a:endParaRPr>
              </a:p>
            </p:txBody>
          </p:sp>
        </p:grpSp>
      </p:grpSp>
    </p:spTree>
    <p:extLst>
      <p:ext uri="{BB962C8B-B14F-4D97-AF65-F5344CB8AC3E}">
        <p14:creationId xmlns:p14="http://schemas.microsoft.com/office/powerpoint/2010/main" val="238711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A98CF-7024-0E4C-B9D0-B934DCC8FE4C}"/>
              </a:ext>
            </a:extLst>
          </p:cNvPr>
          <p:cNvSpPr/>
          <p:nvPr/>
        </p:nvSpPr>
        <p:spPr>
          <a:xfrm>
            <a:off x="330168" y="3331984"/>
            <a:ext cx="3276459" cy="1085169"/>
          </a:xfrm>
          <a:prstGeom prst="rect">
            <a:avLst/>
          </a:prstGeom>
        </p:spPr>
        <p:txBody>
          <a:bodyPr wrap="square">
            <a:spAutoFit/>
          </a:bodyPr>
          <a:lstStyle/>
          <a:p>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THE MAGAYA </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DIFFERENCE</a:t>
            </a:r>
          </a:p>
        </p:txBody>
      </p:sp>
      <p:sp>
        <p:nvSpPr>
          <p:cNvPr id="11" name="Rectangle 10">
            <a:extLst>
              <a:ext uri="{FF2B5EF4-FFF2-40B4-BE49-F238E27FC236}">
                <a16:creationId xmlns:a16="http://schemas.microsoft.com/office/drawing/2014/main" id="{9E884C6D-5BC4-5C4B-9B86-B2D0803841FF}"/>
              </a:ext>
            </a:extLst>
          </p:cNvPr>
          <p:cNvSpPr/>
          <p:nvPr/>
        </p:nvSpPr>
        <p:spPr>
          <a:xfrm>
            <a:off x="4149593" y="1563104"/>
            <a:ext cx="6091244" cy="4621201"/>
          </a:xfrm>
          <a:prstGeom prst="rect">
            <a:avLst/>
          </a:prstGeom>
        </p:spPr>
        <p:txBody>
          <a:bodyPr wrap="square">
            <a:spAutoFit/>
          </a:bodyPr>
          <a:lstStyle/>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UNIFIED SHIPPING &amp; WAREHOUSING FOR SEAMLESS OPERATIONS​</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Manage freight, warehousing, and distribution in a single platform, eliminating silos and inefficiencies. </a:t>
            </a:r>
          </a:p>
          <a:p>
            <a:pPr fontAlgn="base">
              <a:lnSpc>
                <a:spcPct val="120000"/>
              </a:lnSpc>
            </a:pPr>
            <a:endPar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MODULAR PLATFORM THAT SCALES WITH YOU</a:t>
            </a:r>
            <a:r>
              <a:rPr lang="en-US" sz="1528" b="1" dirty="0">
                <a:solidFill>
                  <a:srgbClr val="09A1FF"/>
                </a:solidFill>
                <a:latin typeface="Montserrat" panose="00000500000000000000" pitchFamily="50" charset="0"/>
                <a:ea typeface="Open Sans" panose="020B0606030504020204" pitchFamily="34" charset="0"/>
                <a:cs typeface="Open Sans" panose="020B0606030504020204" pitchFamily="34" charset="0"/>
              </a:rPr>
              <a: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Start with what you need and expand as your business grows. </a:t>
            </a:r>
          </a:p>
          <a:p>
            <a:pPr fontAlgn="base">
              <a:lnSpc>
                <a:spcPct val="120000"/>
              </a:lnSpc>
            </a:pPr>
            <a:r>
              <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endParaRPr lang="en-US" sz="1019"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EASY INTEGRATION WITH ANY THIRD-PARTY SYSTEM</a:t>
            </a:r>
            <a:r>
              <a:rPr lang="en-US" sz="1528" b="1" dirty="0">
                <a:solidFill>
                  <a:srgbClr val="001691"/>
                </a:solidFill>
                <a:latin typeface="Montserrat SemiBold" pitchFamily="2" charset="77"/>
                <a:ea typeface="Open Sans" panose="020B0606030504020204" pitchFamily="34" charset="0"/>
                <a:cs typeface="Open Sans" panose="020B0606030504020204" pitchFamily="34" charset="0"/>
              </a:rPr>
              <a: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Connect effortlessly with ERPs, accounting software, e-commerce platforms, and more.</a:t>
            </a:r>
            <a:r>
              <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pPr fontAlgn="base">
              <a:lnSpc>
                <a:spcPct val="120000"/>
              </a:lnSpc>
            </a:pPr>
            <a:endPar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GLOBAL, BEST-IN-CLASS CUSTOMER SUPPORT​</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Wherever you operate, our world-class support team provides fast, expert assistance.</a:t>
            </a:r>
          </a:p>
          <a:p>
            <a:pPr fontAlgn="base">
              <a:lnSpc>
                <a:spcPct val="120000"/>
              </a:lnSpc>
            </a:pPr>
            <a:endPar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fontAlgn="base">
              <a:lnSpc>
                <a:spcPct val="120000"/>
              </a:lnSpc>
            </a:pPr>
            <a:r>
              <a:rPr lang="en-US" sz="1528" b="1" dirty="0">
                <a:solidFill>
                  <a:srgbClr val="001691"/>
                </a:solidFill>
                <a:latin typeface="Montserrat" panose="00000500000000000000" pitchFamily="50" charset="0"/>
                <a:ea typeface="Open Sans" panose="020B0606030504020204" pitchFamily="34" charset="0"/>
                <a:cs typeface="Open Sans" panose="020B0606030504020204" pitchFamily="34" charset="0"/>
              </a:rPr>
              <a:t>A CULTURE OF INNOVATION, EXCELLENCE, AND SERVICE​</a:t>
            </a:r>
          </a:p>
          <a:p>
            <a:pPr fontAlgn="base">
              <a:lnSpc>
                <a:spcPct val="120000"/>
              </a:lnSpc>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We’re committed to continuous improvement, customer success, and delivering innovative solutions that move freight forward.</a:t>
            </a:r>
            <a:endParaRPr lang="en-US" sz="1188"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2" name="Group 11"/>
          <p:cNvGrpSpPr/>
          <p:nvPr/>
        </p:nvGrpSpPr>
        <p:grpSpPr>
          <a:xfrm>
            <a:off x="1285593" y="2058417"/>
            <a:ext cx="1103900" cy="1103900"/>
            <a:chOff x="5466438" y="1500065"/>
            <a:chExt cx="1300397" cy="1300397"/>
          </a:xfrm>
        </p:grpSpPr>
        <p:sp>
          <p:nvSpPr>
            <p:cNvPr id="13" name="Oval 12"/>
            <p:cNvSpPr/>
            <p:nvPr/>
          </p:nvSpPr>
          <p:spPr>
            <a:xfrm>
              <a:off x="5466438" y="1500065"/>
              <a:ext cx="1300397" cy="1300397"/>
            </a:xfrm>
            <a:prstGeom prst="ellipse">
              <a:avLst/>
            </a:prstGeom>
            <a:solidFill>
              <a:srgbClr val="001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0231" y="1718471"/>
              <a:ext cx="841248" cy="841248"/>
            </a:xfrm>
            <a:prstGeom prst="rect">
              <a:avLst/>
            </a:prstGeom>
          </p:spPr>
        </p:pic>
      </p:grpSp>
    </p:spTree>
    <p:extLst>
      <p:ext uri="{BB962C8B-B14F-4D97-AF65-F5344CB8AC3E}">
        <p14:creationId xmlns:p14="http://schemas.microsoft.com/office/powerpoint/2010/main" val="3479978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A98CF-7024-0E4C-B9D0-B934DCC8FE4C}"/>
              </a:ext>
            </a:extLst>
          </p:cNvPr>
          <p:cNvSpPr/>
          <p:nvPr/>
        </p:nvSpPr>
        <p:spPr>
          <a:xfrm>
            <a:off x="330168" y="2015473"/>
            <a:ext cx="3276459" cy="3449149"/>
          </a:xfrm>
          <a:prstGeom prst="rect">
            <a:avLst/>
          </a:prstGeom>
        </p:spPr>
        <p:txBody>
          <a:bodyPr wrap="square">
            <a:spAutoFit/>
          </a:bodyPr>
          <a:lstStyle/>
          <a:p>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MAGAYA </a:t>
            </a:r>
          </a:p>
          <a:p>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DIGITAL FREIGHT </a:t>
            </a:r>
          </a:p>
          <a:p>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PLATFORM</a:t>
            </a:r>
            <a:endParaRPr lang="en-US" sz="1698" dirty="0">
              <a:solidFill>
                <a:srgbClr val="383B48"/>
              </a:solidFill>
              <a:latin typeface="Montserrat" panose="00000500000000000000" pitchFamily="50" charset="0"/>
              <a:ea typeface="Open Sans" panose="020B0606030504020204" pitchFamily="34" charset="0"/>
              <a:cs typeface="Open Sans" panose="020B0606030504020204" pitchFamily="34" charset="0"/>
            </a:endParaRPr>
          </a:p>
          <a:p>
            <a:pPr>
              <a:lnSpc>
                <a:spcPct val="150000"/>
              </a:lnSpc>
            </a:pPr>
            <a:r>
              <a:rPr lang="en-US" sz="1528" dirty="0">
                <a:solidFill>
                  <a:srgbClr val="383B48"/>
                </a:solidFill>
                <a:latin typeface="Montserrat" panose="00000500000000000000" pitchFamily="50" charset="0"/>
                <a:ea typeface="Open Sans" panose="020B0606030504020204" pitchFamily="34" charset="0"/>
                <a:cs typeface="Open Sans" panose="020B0606030504020204" pitchFamily="34" charset="0"/>
              </a:rPr>
              <a:t>THE #1 FREIGHT MANAGEMENT PLATFORM FOR LOGISTICS SERVICE PROVIDERS</a:t>
            </a:r>
          </a:p>
        </p:txBody>
      </p:sp>
      <p:graphicFrame>
        <p:nvGraphicFramePr>
          <p:cNvPr id="5" name="Table 4"/>
          <p:cNvGraphicFramePr>
            <a:graphicFrameLocks noGrp="1"/>
          </p:cNvGraphicFramePr>
          <p:nvPr/>
        </p:nvGraphicFramePr>
        <p:xfrm>
          <a:off x="4278896" y="1647395"/>
          <a:ext cx="2259371" cy="990600"/>
        </p:xfrm>
        <a:graphic>
          <a:graphicData uri="http://schemas.openxmlformats.org/drawingml/2006/table">
            <a:tbl>
              <a:tblPr firstRow="1" bandRow="1">
                <a:tableStyleId>{5940675A-B579-460E-94D1-54222C63F5DA}</a:tableStyleId>
              </a:tblPr>
              <a:tblGrid>
                <a:gridCol w="2259371">
                  <a:extLst>
                    <a:ext uri="{9D8B030D-6E8A-4147-A177-3AD203B41FA5}">
                      <a16:colId xmlns:a16="http://schemas.microsoft.com/office/drawing/2014/main" val="2514873273"/>
                    </a:ext>
                  </a:extLst>
                </a:gridCol>
              </a:tblGrid>
              <a:tr h="970287">
                <a:tc>
                  <a:txBody>
                    <a:bodyPr/>
                    <a:lstStyle/>
                    <a:p>
                      <a:r>
                        <a:rPr lang="en-US" sz="1300" b="1" dirty="0">
                          <a:solidFill>
                            <a:srgbClr val="383B48"/>
                          </a:solidFill>
                          <a:latin typeface="Open Sans" panose="020B0606030504020204" pitchFamily="34" charset="0"/>
                          <a:ea typeface="Open Sans" panose="020B0606030504020204" pitchFamily="34" charset="0"/>
                          <a:cs typeface="Open Sans" panose="020B0606030504020204" pitchFamily="34" charset="0"/>
                        </a:rPr>
                        <a:t>MAGAYA</a:t>
                      </a:r>
                      <a:r>
                        <a:rPr lang="en-US" sz="1300" b="1" baseline="0" dirty="0">
                          <a:solidFill>
                            <a:srgbClr val="383B48"/>
                          </a:solidFill>
                          <a:latin typeface="Open Sans" panose="020B0606030504020204" pitchFamily="34" charset="0"/>
                          <a:ea typeface="Open Sans" panose="020B0606030504020204" pitchFamily="34" charset="0"/>
                          <a:cs typeface="Open Sans" panose="020B0606030504020204" pitchFamily="34" charset="0"/>
                        </a:rPr>
                        <a:t> SUPPLY CHAIN</a:t>
                      </a:r>
                    </a:p>
                    <a:p>
                      <a:r>
                        <a:rPr lang="en-US" sz="1300" dirty="0">
                          <a:solidFill>
                            <a:srgbClr val="383B48"/>
                          </a:solidFill>
                          <a:latin typeface="Open Sans" panose="020B0606030504020204" pitchFamily="34" charset="0"/>
                          <a:ea typeface="Open Sans" panose="020B0606030504020204" pitchFamily="34" charset="0"/>
                          <a:cs typeface="Open Sans" panose="020B0606030504020204" pitchFamily="34" charset="0"/>
                        </a:rPr>
                        <a:t>Optimize</a:t>
                      </a:r>
                    </a:p>
                    <a:p>
                      <a:r>
                        <a:rPr lang="en-US" sz="1300" dirty="0">
                          <a:solidFill>
                            <a:srgbClr val="383B48"/>
                          </a:solidFill>
                          <a:latin typeface="Open Sans" panose="020B0606030504020204" pitchFamily="34" charset="0"/>
                          <a:ea typeface="Open Sans" panose="020B0606030504020204" pitchFamily="34" charset="0"/>
                          <a:cs typeface="Open Sans" panose="020B0606030504020204" pitchFamily="34" charset="0"/>
                        </a:rPr>
                        <a:t>Shipping and</a:t>
                      </a:r>
                    </a:p>
                    <a:p>
                      <a:r>
                        <a:rPr lang="en-US" sz="1300" dirty="0">
                          <a:solidFill>
                            <a:srgbClr val="383B48"/>
                          </a:solidFill>
                          <a:latin typeface="Open Sans" panose="020B0606030504020204" pitchFamily="34" charset="0"/>
                          <a:ea typeface="Open Sans" panose="020B0606030504020204" pitchFamily="34" charset="0"/>
                          <a:cs typeface="Open Sans" panose="020B0606030504020204" pitchFamily="34" charset="0"/>
                        </a:rPr>
                        <a:t>Warehousing</a:t>
                      </a:r>
                    </a:p>
                    <a:p>
                      <a:r>
                        <a:rPr lang="en-US" sz="1300" dirty="0">
                          <a:solidFill>
                            <a:srgbClr val="383B48"/>
                          </a:solidFill>
                          <a:latin typeface="Open Sans" panose="020B0606030504020204" pitchFamily="34" charset="0"/>
                          <a:ea typeface="Open Sans" panose="020B0606030504020204" pitchFamily="34" charset="0"/>
                          <a:cs typeface="Open Sans" panose="020B0606030504020204" pitchFamily="34" charset="0"/>
                        </a:rPr>
                        <a:t>Operations</a:t>
                      </a:r>
                      <a:endParaRPr lang="en-CA" sz="130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861DFF"/>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graphicFrame>
        <p:nvGraphicFramePr>
          <p:cNvPr id="6" name="Table 5"/>
          <p:cNvGraphicFramePr>
            <a:graphicFrameLocks noGrp="1"/>
          </p:cNvGraphicFramePr>
          <p:nvPr/>
        </p:nvGraphicFramePr>
        <p:xfrm>
          <a:off x="4278897" y="2835255"/>
          <a:ext cx="2259371" cy="594360"/>
        </p:xfrm>
        <a:graphic>
          <a:graphicData uri="http://schemas.openxmlformats.org/drawingml/2006/table">
            <a:tbl>
              <a:tblPr firstRow="1" bandRow="1">
                <a:tableStyleId>{5940675A-B579-460E-94D1-54222C63F5DA}</a:tableStyleId>
              </a:tblPr>
              <a:tblGrid>
                <a:gridCol w="2259371">
                  <a:extLst>
                    <a:ext uri="{9D8B030D-6E8A-4147-A177-3AD203B41FA5}">
                      <a16:colId xmlns:a16="http://schemas.microsoft.com/office/drawing/2014/main" val="2514873273"/>
                    </a:ext>
                  </a:extLst>
                </a:gridCol>
              </a:tblGrid>
              <a:tr h="582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383B48"/>
                          </a:solidFill>
                          <a:latin typeface="Open Sans" panose="020B0606030504020204" pitchFamily="34" charset="0"/>
                          <a:ea typeface="Open Sans" panose="020B0606030504020204" pitchFamily="34" charset="0"/>
                          <a:cs typeface="Open Sans" panose="020B0606030504020204" pitchFamily="34" charset="0"/>
                        </a:rPr>
                        <a:t>MAGAYA</a:t>
                      </a:r>
                      <a:r>
                        <a:rPr lang="en-US" sz="1300" b="1" baseline="0" dirty="0">
                          <a:solidFill>
                            <a:srgbClr val="383B48"/>
                          </a:solidFill>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CUSTOMS COMPLIANCE</a:t>
                      </a:r>
                      <a:endParaRPr lang="en-US" sz="1300" b="1" baseline="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Stay Compliant</a:t>
                      </a:r>
                      <a:endParaRPr lang="en-CA" sz="1300" dirty="0">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CE31A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graphicFrame>
        <p:nvGraphicFramePr>
          <p:cNvPr id="7" name="Table 6"/>
          <p:cNvGraphicFramePr>
            <a:graphicFrameLocks noGrp="1"/>
          </p:cNvGraphicFramePr>
          <p:nvPr/>
        </p:nvGraphicFramePr>
        <p:xfrm>
          <a:off x="4278897" y="3630072"/>
          <a:ext cx="2733325" cy="396240"/>
        </p:xfrm>
        <a:graphic>
          <a:graphicData uri="http://schemas.openxmlformats.org/drawingml/2006/table">
            <a:tbl>
              <a:tblPr firstRow="1" bandRow="1">
                <a:tableStyleId>{5940675A-B579-460E-94D1-54222C63F5DA}</a:tableStyleId>
              </a:tblPr>
              <a:tblGrid>
                <a:gridCol w="2733325">
                  <a:extLst>
                    <a:ext uri="{9D8B030D-6E8A-4147-A177-3AD203B41FA5}">
                      <a16:colId xmlns:a16="http://schemas.microsoft.com/office/drawing/2014/main" val="2514873273"/>
                    </a:ext>
                  </a:extLst>
                </a:gridCol>
              </a:tblGrid>
              <a:tr h="3881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MAGAYA WMS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Streamline Your Warehouse</a:t>
                      </a:r>
                      <a:endParaRPr lang="en-CA" sz="1300" dirty="0">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FF8110"/>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graphicFrame>
        <p:nvGraphicFramePr>
          <p:cNvPr id="8" name="Table 7"/>
          <p:cNvGraphicFramePr>
            <a:graphicFrameLocks noGrp="1"/>
          </p:cNvGraphicFramePr>
          <p:nvPr/>
        </p:nvGraphicFramePr>
        <p:xfrm>
          <a:off x="4278897" y="4230833"/>
          <a:ext cx="2733325" cy="594360"/>
        </p:xfrm>
        <a:graphic>
          <a:graphicData uri="http://schemas.openxmlformats.org/drawingml/2006/table">
            <a:tbl>
              <a:tblPr firstRow="1" bandRow="1">
                <a:tableStyleId>{5940675A-B579-460E-94D1-54222C63F5DA}</a:tableStyleId>
              </a:tblPr>
              <a:tblGrid>
                <a:gridCol w="2733325">
                  <a:extLst>
                    <a:ext uri="{9D8B030D-6E8A-4147-A177-3AD203B41FA5}">
                      <a16:colId xmlns:a16="http://schemas.microsoft.com/office/drawing/2014/main" val="2514873273"/>
                    </a:ext>
                  </a:extLst>
                </a:gridCol>
              </a:tblGrid>
              <a:tr h="582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MAGAYA RATE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Quote Faster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Win More Business</a:t>
                      </a:r>
                      <a:endParaRPr lang="en-CA" sz="1300" dirty="0">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FFC914"/>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graphicFrame>
        <p:nvGraphicFramePr>
          <p:cNvPr id="9" name="Table 8"/>
          <p:cNvGraphicFramePr>
            <a:graphicFrameLocks noGrp="1"/>
          </p:cNvGraphicFramePr>
          <p:nvPr/>
        </p:nvGraphicFramePr>
        <p:xfrm>
          <a:off x="4278896" y="5047852"/>
          <a:ext cx="2856390" cy="594360"/>
        </p:xfrm>
        <a:graphic>
          <a:graphicData uri="http://schemas.openxmlformats.org/drawingml/2006/table">
            <a:tbl>
              <a:tblPr firstRow="1" bandRow="1">
                <a:tableStyleId>{5940675A-B579-460E-94D1-54222C63F5DA}</a:tableStyleId>
              </a:tblPr>
              <a:tblGrid>
                <a:gridCol w="2856390">
                  <a:extLst>
                    <a:ext uri="{9D8B030D-6E8A-4147-A177-3AD203B41FA5}">
                      <a16:colId xmlns:a16="http://schemas.microsoft.com/office/drawing/2014/main" val="2514873273"/>
                    </a:ext>
                  </a:extLst>
                </a:gridCol>
              </a:tblGrid>
              <a:tr h="582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MAGAYA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DIGITAL FREIGHT PORTAL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Digitize the Customer Experience</a:t>
                      </a:r>
                      <a:endParaRPr lang="en-CA" sz="1300" dirty="0">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17D76E"/>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graphicFrame>
        <p:nvGraphicFramePr>
          <p:cNvPr id="10" name="Table 9"/>
          <p:cNvGraphicFramePr>
            <a:graphicFrameLocks noGrp="1"/>
          </p:cNvGraphicFramePr>
          <p:nvPr/>
        </p:nvGraphicFramePr>
        <p:xfrm>
          <a:off x="4278896" y="5864871"/>
          <a:ext cx="2449343" cy="396240"/>
        </p:xfrm>
        <a:graphic>
          <a:graphicData uri="http://schemas.openxmlformats.org/drawingml/2006/table">
            <a:tbl>
              <a:tblPr firstRow="1" bandRow="1">
                <a:tableStyleId>{5940675A-B579-460E-94D1-54222C63F5DA}</a:tableStyleId>
              </a:tblPr>
              <a:tblGrid>
                <a:gridCol w="2449343">
                  <a:extLst>
                    <a:ext uri="{9D8B030D-6E8A-4147-A177-3AD203B41FA5}">
                      <a16:colId xmlns:a16="http://schemas.microsoft.com/office/drawing/2014/main" val="2514873273"/>
                    </a:ext>
                  </a:extLst>
                </a:gridCol>
              </a:tblGrid>
              <a:tr h="3881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baseline="0" dirty="0">
                          <a:latin typeface="Open Sans" panose="020B0606030504020204" pitchFamily="34" charset="0"/>
                          <a:ea typeface="Open Sans" panose="020B0606030504020204" pitchFamily="34" charset="0"/>
                          <a:cs typeface="Open Sans" panose="020B0606030504020204" pitchFamily="34" charset="0"/>
                        </a:rPr>
                        <a:t>MAGAYA CONNECT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aseline="0" dirty="0">
                          <a:latin typeface="Open Sans" panose="020B0606030504020204" pitchFamily="34" charset="0"/>
                          <a:ea typeface="Open Sans" panose="020B0606030504020204" pitchFamily="34" charset="0"/>
                          <a:cs typeface="Open Sans" panose="020B0606030504020204" pitchFamily="34" charset="0"/>
                        </a:rPr>
                        <a:t>Easily Connect Any System</a:t>
                      </a:r>
                      <a:endParaRPr lang="en-CA" sz="1300" dirty="0">
                        <a:latin typeface="Open Sans" panose="020B0606030504020204" pitchFamily="34" charset="0"/>
                        <a:ea typeface="Open Sans" panose="020B0606030504020204" pitchFamily="34" charset="0"/>
                        <a:cs typeface="Open Sans" panose="020B0606030504020204" pitchFamily="34" charset="0"/>
                      </a:endParaRPr>
                    </a:p>
                  </a:txBody>
                  <a:tcPr marL="155246" marR="77623" marT="0" marB="0">
                    <a:lnL w="38100" cap="flat" cmpd="sng" algn="ctr">
                      <a:solidFill>
                        <a:srgbClr val="00AEC7"/>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tcPr>
                </a:tc>
                <a:extLst>
                  <a:ext uri="{0D108BD9-81ED-4DB2-BD59-A6C34878D82A}">
                    <a16:rowId xmlns:a16="http://schemas.microsoft.com/office/drawing/2014/main" val="2797002571"/>
                  </a:ext>
                </a:extLst>
              </a:tr>
            </a:tbl>
          </a:graphicData>
        </a:graphic>
      </p:graphicFrame>
      <p:pic>
        <p:nvPicPr>
          <p:cNvPr id="1026" name="Picture 2" descr="a multicolored rectangular boxes with white text">
            <a:extLst>
              <a:ext uri="{FF2B5EF4-FFF2-40B4-BE49-F238E27FC236}">
                <a16:creationId xmlns:a16="http://schemas.microsoft.com/office/drawing/2014/main" id="{EDF236F0-B187-BBF2-518C-59C54E9758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4140" y="1734441"/>
            <a:ext cx="3316413" cy="4179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48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480548"/>
            <a:ext cx="10363200" cy="3844052"/>
          </a:xfrm>
          <a:prstGeom prst="rect">
            <a:avLst/>
          </a:prstGeom>
          <a:solidFill>
            <a:srgbClr val="F3F4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object 6"/>
          <p:cNvSpPr txBox="1">
            <a:spLocks/>
          </p:cNvSpPr>
          <p:nvPr/>
        </p:nvSpPr>
        <p:spPr>
          <a:xfrm>
            <a:off x="533400" y="274320"/>
            <a:ext cx="9306558" cy="923330"/>
          </a:xfrm>
          <a:prstGeom prst="rect">
            <a:avLst/>
          </a:prstGeom>
        </p:spPr>
        <p:txBody>
          <a:bodyPr vert="horz" wrap="square" lIns="0" tIns="0" rIns="0" bIns="0" rtlCol="0" anchor="t" anchorCtr="0">
            <a:spAutoFit/>
          </a:bodyPr>
          <a:lstStyle>
            <a:lvl1pPr>
              <a:defRPr>
                <a:latin typeface="+mj-lt"/>
                <a:ea typeface="+mj-ea"/>
                <a:cs typeface="+mj-cs"/>
              </a:defRPr>
            </a:lvl1pPr>
          </a:lstStyle>
          <a:p>
            <a:pPr marL="12699"/>
            <a:r>
              <a:rPr lang="en-US" sz="3000" b="1" kern="0" dirty="0">
                <a:solidFill>
                  <a:srgbClr val="001691"/>
                </a:solidFill>
                <a:latin typeface="Montserrat" panose="00000500000000000000" pitchFamily="50" charset="0"/>
              </a:rPr>
              <a:t>TECHNOLOGY </a:t>
            </a:r>
            <a:br>
              <a:rPr lang="en-US" sz="2800" b="1" kern="0" dirty="0">
                <a:solidFill>
                  <a:srgbClr val="001691"/>
                </a:solidFill>
                <a:latin typeface="Montserrat" panose="00000500000000000000" pitchFamily="50" charset="0"/>
              </a:rPr>
            </a:br>
            <a:r>
              <a:rPr lang="en-US" sz="2800" b="1" kern="0" dirty="0">
                <a:solidFill>
                  <a:srgbClr val="09A1FF"/>
                </a:solidFill>
                <a:latin typeface="Montserrat" panose="00000500000000000000" pitchFamily="50" charset="0"/>
              </a:rPr>
              <a:t>WITHOUT </a:t>
            </a:r>
            <a:r>
              <a:rPr lang="en-US" sz="3000" b="1" kern="0" dirty="0">
                <a:solidFill>
                  <a:srgbClr val="09A1FF"/>
                </a:solidFill>
                <a:latin typeface="Montserrat" panose="00000500000000000000" pitchFamily="50" charset="0"/>
              </a:rPr>
              <a:t>COMPROMISES</a:t>
            </a:r>
          </a:p>
        </p:txBody>
      </p:sp>
      <p:sp>
        <p:nvSpPr>
          <p:cNvPr id="3" name="object 4"/>
          <p:cNvSpPr txBox="1"/>
          <p:nvPr/>
        </p:nvSpPr>
        <p:spPr>
          <a:xfrm>
            <a:off x="533400" y="1524000"/>
            <a:ext cx="9296400" cy="801501"/>
          </a:xfrm>
          <a:prstGeom prst="rect">
            <a:avLst/>
          </a:prstGeom>
        </p:spPr>
        <p:txBody>
          <a:bodyPr vert="horz" wrap="square" lIns="0" tIns="0" rIns="0" bIns="0" rtlCol="0">
            <a:spAutoFit/>
          </a:bodyPr>
          <a:lstStyle/>
          <a:p>
            <a:pPr marL="12699" marR="5079">
              <a:lnSpc>
                <a:spcPct val="150000"/>
              </a:lnSpc>
              <a:spcBef>
                <a:spcPts val="100"/>
              </a:spcBef>
            </a:pPr>
            <a:r>
              <a:rPr lang="en-US" sz="1200" spc="-20" dirty="0">
                <a:latin typeface="Open Sans" panose="020B0606030504020204" pitchFamily="34" charset="0"/>
                <a:ea typeface="Open Sans" panose="020B0606030504020204" pitchFamily="34" charset="0"/>
                <a:cs typeface="Open Sans" panose="020B0606030504020204" pitchFamily="34" charset="0"/>
              </a:rPr>
              <a:t>The Magaya Digital Freight Platform delivers flexible, interoperable, modular, cloud-based solutions that can be used together as an integrated logistics software platform or independently with your existing solution suite. You choose what works best for your business!</a:t>
            </a:r>
          </a:p>
        </p:txBody>
      </p:sp>
      <p:sp>
        <p:nvSpPr>
          <p:cNvPr id="7" name="object 9"/>
          <p:cNvSpPr txBox="1"/>
          <p:nvPr/>
        </p:nvSpPr>
        <p:spPr>
          <a:xfrm>
            <a:off x="533400" y="3641082"/>
            <a:ext cx="2743200" cy="2081211"/>
          </a:xfrm>
          <a:prstGeom prst="rect">
            <a:avLst/>
          </a:prstGeom>
        </p:spPr>
        <p:txBody>
          <a:bodyPr vert="horz" wrap="square" lIns="0" tIns="0" rIns="0" bIns="0" rtlCol="0">
            <a:spAutoFit/>
          </a:bodyPr>
          <a:lstStyle/>
          <a:p>
            <a:pPr>
              <a:lnSpc>
                <a:spcPct val="150000"/>
              </a:lnSpc>
              <a:spcAft>
                <a:spcPts val="600"/>
              </a:spcAft>
            </a:pPr>
            <a:r>
              <a:rPr lang="en-US" sz="1100" b="1" spc="-5" dirty="0">
                <a:solidFill>
                  <a:srgbClr val="001691"/>
                </a:solidFill>
                <a:latin typeface="Montserrat" panose="00000500000000000000" pitchFamily="50" charset="0"/>
                <a:cs typeface="Montserrat-SemiBold"/>
              </a:rPr>
              <a:t>BOOST VISIBILITY FOR ALL</a:t>
            </a:r>
            <a:endParaRPr lang="en-US" sz="1100" b="1" spc="-5" dirty="0">
              <a:solidFill>
                <a:srgbClr val="001691"/>
              </a:solidFill>
              <a:latin typeface="Montserrat" panose="00000500000000000000" pitchFamily="50" charset="0"/>
              <a:cs typeface="Open Sans" panose="020B0606030504020204" pitchFamily="34" charset="0"/>
            </a:endParaRPr>
          </a:p>
          <a:p>
            <a:pPr marR="5079">
              <a:lnSpc>
                <a:spcPct val="150000"/>
              </a:lnSpc>
              <a:spcAft>
                <a:spcPts val="600"/>
              </a:spcAft>
            </a:pPr>
            <a:r>
              <a:rPr lang="en-US" sz="1100" spc="-5" dirty="0">
                <a:solidFill>
                  <a:srgbClr val="000000"/>
                </a:solidFill>
                <a:latin typeface="Open Sans" panose="020B0606030504020204" pitchFamily="34" charset="0"/>
                <a:cs typeface="Open Sans" panose="020B0606030504020204" pitchFamily="34" charset="0"/>
              </a:rPr>
              <a:t>Provide 24/7 real-time tracking and visibility via a self-service web portal or mobile device. Your customers will appreciate knowing where their shipments are, anytime, anywhere. Plus, you’ll enjoy the freedom from constant phone and email inquiries.</a:t>
            </a:r>
          </a:p>
        </p:txBody>
      </p:sp>
      <p:sp>
        <p:nvSpPr>
          <p:cNvPr id="15" name="object 9"/>
          <p:cNvSpPr txBox="1"/>
          <p:nvPr/>
        </p:nvSpPr>
        <p:spPr>
          <a:xfrm>
            <a:off x="3810000" y="3641082"/>
            <a:ext cx="2743200" cy="2081211"/>
          </a:xfrm>
          <a:prstGeom prst="rect">
            <a:avLst/>
          </a:prstGeom>
        </p:spPr>
        <p:txBody>
          <a:bodyPr vert="horz" wrap="square" lIns="0" tIns="0" rIns="0" bIns="0" rtlCol="0">
            <a:spAutoFit/>
          </a:bodyPr>
          <a:lstStyle/>
          <a:p>
            <a:pPr>
              <a:lnSpc>
                <a:spcPct val="150000"/>
              </a:lnSpc>
              <a:spcAft>
                <a:spcPts val="600"/>
              </a:spcAft>
            </a:pPr>
            <a:r>
              <a:rPr lang="en-US" sz="1100" b="1" spc="-5" dirty="0">
                <a:solidFill>
                  <a:srgbClr val="001691"/>
                </a:solidFill>
                <a:latin typeface="Montserrat" panose="00000500000000000000" pitchFamily="50" charset="0"/>
                <a:cs typeface="Montserrat-SemiBold"/>
              </a:rPr>
              <a:t>SPEED UP EVERY STEP </a:t>
            </a:r>
          </a:p>
          <a:p>
            <a:pPr>
              <a:lnSpc>
                <a:spcPct val="150000"/>
              </a:lnSpc>
              <a:spcAft>
                <a:spcPts val="600"/>
              </a:spcAft>
            </a:pPr>
            <a:r>
              <a:rPr lang="en-US" sz="1100" spc="-5" dirty="0">
                <a:solidFill>
                  <a:srgbClr val="000000"/>
                </a:solidFill>
                <a:latin typeface="Open Sans" panose="020B0606030504020204" pitchFamily="34" charset="0"/>
                <a:cs typeface="Open Sans" panose="020B0606030504020204" pitchFamily="34" charset="0"/>
              </a:rPr>
              <a:t>In the logistics field, speed is everything. The fastest shipper wins. Automate processes, centralize data, increase collaboration, avoid double work, and streamline everything you do to get shipments expedited more quickly and free your time.</a:t>
            </a:r>
          </a:p>
        </p:txBody>
      </p:sp>
      <p:sp>
        <p:nvSpPr>
          <p:cNvPr id="16" name="object 9"/>
          <p:cNvSpPr txBox="1"/>
          <p:nvPr/>
        </p:nvSpPr>
        <p:spPr>
          <a:xfrm>
            <a:off x="7096758" y="3641082"/>
            <a:ext cx="2743200" cy="1827295"/>
          </a:xfrm>
          <a:prstGeom prst="rect">
            <a:avLst/>
          </a:prstGeom>
        </p:spPr>
        <p:txBody>
          <a:bodyPr vert="horz" wrap="square" lIns="0" tIns="0" rIns="0" bIns="0" rtlCol="0">
            <a:spAutoFit/>
          </a:bodyPr>
          <a:lstStyle/>
          <a:p>
            <a:pPr>
              <a:lnSpc>
                <a:spcPct val="150000"/>
              </a:lnSpc>
              <a:spcAft>
                <a:spcPts val="600"/>
              </a:spcAft>
            </a:pPr>
            <a:r>
              <a:rPr lang="en-US" sz="1100" b="1" spc="-5" dirty="0">
                <a:solidFill>
                  <a:srgbClr val="001691"/>
                </a:solidFill>
                <a:latin typeface="Montserrat" panose="00000500000000000000" pitchFamily="50" charset="0"/>
                <a:cs typeface="Montserrat-SemiBold"/>
              </a:rPr>
              <a:t>CUT COSTS AND BOOST PROFITS</a:t>
            </a:r>
          </a:p>
          <a:p>
            <a:pPr>
              <a:lnSpc>
                <a:spcPct val="150000"/>
              </a:lnSpc>
              <a:spcAft>
                <a:spcPts val="600"/>
              </a:spcAft>
            </a:pPr>
            <a:r>
              <a:rPr lang="en-US" sz="1100" spc="-5" dirty="0">
                <a:latin typeface="Open Sans" panose="020B0606030504020204" pitchFamily="34" charset="0"/>
                <a:cs typeface="Open Sans" panose="020B0606030504020204" pitchFamily="34" charset="0"/>
              </a:rPr>
              <a:t>By centralizing your operations, you boost efficiency and avoid the errors that slip in when you rely on manual input. From customs filings to warehouse workflows, there are opportunities to optimize costs and, in turn, boost profits.</a:t>
            </a:r>
          </a:p>
        </p:txBody>
      </p:sp>
      <p:pic>
        <p:nvPicPr>
          <p:cNvPr id="18" name="Picture Placeholder 10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81000" y="2849880"/>
            <a:ext cx="731520" cy="731520"/>
          </a:xfrm>
          <a:prstGeom prst="rect">
            <a:avLst/>
          </a:prstGeom>
        </p:spPr>
      </p:pic>
      <p:pic>
        <p:nvPicPr>
          <p:cNvPr id="19" name="Picture Placeholder 93"/>
          <p:cNvPicPr>
            <a:picLocks noChangeAspect="1"/>
          </p:cNvPicPr>
          <p:nvPr/>
        </p:nvPicPr>
        <p:blipFill>
          <a:blip r:embed="rId3" cstate="print">
            <a:extLst>
              <a:ext uri="{28A0092B-C50C-407E-A947-70E740481C1C}">
                <a14:useLocalDpi xmlns:a14="http://schemas.microsoft.com/office/drawing/2010/main" val="0"/>
              </a:ext>
            </a:extLst>
          </a:blip>
          <a:srcRect l="88" r="88"/>
          <a:stretch>
            <a:fillRect/>
          </a:stretch>
        </p:blipFill>
        <p:spPr>
          <a:xfrm>
            <a:off x="6970776" y="2849880"/>
            <a:ext cx="731520" cy="731520"/>
          </a:xfrm>
          <a:prstGeom prst="rect">
            <a:avLst/>
          </a:prstGeom>
        </p:spPr>
      </p:pic>
      <p:pic>
        <p:nvPicPr>
          <p:cNvPr id="22" name="Picture Placeholder 130"/>
          <p:cNvPicPr>
            <a:picLocks noChangeAspect="1"/>
          </p:cNvPicPr>
          <p:nvPr/>
        </p:nvPicPr>
        <p:blipFill>
          <a:blip r:embed="rId4" cstate="print">
            <a:extLst>
              <a:ext uri="{28A0092B-C50C-407E-A947-70E740481C1C}">
                <a14:useLocalDpi xmlns:a14="http://schemas.microsoft.com/office/drawing/2010/main" val="0"/>
              </a:ext>
            </a:extLst>
          </a:blip>
          <a:srcRect t="88" b="88"/>
          <a:stretch>
            <a:fillRect/>
          </a:stretch>
        </p:blipFill>
        <p:spPr>
          <a:xfrm>
            <a:off x="3675888" y="2849880"/>
            <a:ext cx="731520" cy="731520"/>
          </a:xfrm>
          <a:prstGeom prst="rect">
            <a:avLst/>
          </a:prstGeom>
        </p:spPr>
      </p:pic>
    </p:spTree>
    <p:extLst>
      <p:ext uri="{BB962C8B-B14F-4D97-AF65-F5344CB8AC3E}">
        <p14:creationId xmlns:p14="http://schemas.microsoft.com/office/powerpoint/2010/main" val="3418596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505D50-AB87-5C04-26EF-BE0695400E88}"/>
              </a:ext>
            </a:extLst>
          </p:cNvPr>
          <p:cNvGrpSpPr/>
          <p:nvPr/>
        </p:nvGrpSpPr>
        <p:grpSpPr>
          <a:xfrm>
            <a:off x="87490" y="2286000"/>
            <a:ext cx="10188219" cy="4234658"/>
            <a:chOff x="459462" y="1360650"/>
            <a:chExt cx="11283637" cy="4689961"/>
          </a:xfrm>
        </p:grpSpPr>
        <p:grpSp>
          <p:nvGrpSpPr>
            <p:cNvPr id="5" name="Group 4">
              <a:extLst>
                <a:ext uri="{FF2B5EF4-FFF2-40B4-BE49-F238E27FC236}">
                  <a16:creationId xmlns:a16="http://schemas.microsoft.com/office/drawing/2014/main" id="{E5CA1E42-142F-F32B-913B-8EC1964032C5}"/>
                </a:ext>
              </a:extLst>
            </p:cNvPr>
            <p:cNvGrpSpPr/>
            <p:nvPr/>
          </p:nvGrpSpPr>
          <p:grpSpPr>
            <a:xfrm>
              <a:off x="1790880" y="1613602"/>
              <a:ext cx="8880425" cy="1070085"/>
              <a:chOff x="1790880" y="1613602"/>
              <a:chExt cx="8880425" cy="1070085"/>
            </a:xfrm>
          </p:grpSpPr>
          <p:sp>
            <p:nvSpPr>
              <p:cNvPr id="135" name="Rounded Rectangle 18">
                <a:extLst>
                  <a:ext uri="{FF2B5EF4-FFF2-40B4-BE49-F238E27FC236}">
                    <a16:creationId xmlns:a16="http://schemas.microsoft.com/office/drawing/2014/main" id="{B61B7D3D-51A9-4C62-A45E-E354EC636ECB}"/>
                  </a:ext>
                </a:extLst>
              </p:cNvPr>
              <p:cNvSpPr/>
              <p:nvPr/>
            </p:nvSpPr>
            <p:spPr>
              <a:xfrm>
                <a:off x="1790880" y="1613602"/>
                <a:ext cx="8880425" cy="1070085"/>
              </a:xfrm>
              <a:prstGeom prst="roundRect">
                <a:avLst>
                  <a:gd name="adj" fmla="val 4278"/>
                </a:avLst>
              </a:prstGeom>
              <a:noFill/>
              <a:ln w="28575">
                <a:solidFill>
                  <a:srgbClr val="D9D9D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764" dirty="0">
                  <a:solidFill>
                    <a:schemeClr val="bg1"/>
                  </a:solidFill>
                  <a:latin typeface="Montserrat Light" panose="00000400000000000000" pitchFamily="50" charset="0"/>
                </a:endParaRPr>
              </a:p>
            </p:txBody>
          </p:sp>
          <p:sp>
            <p:nvSpPr>
              <p:cNvPr id="136" name="Rounded Rectangle 22">
                <a:extLst>
                  <a:ext uri="{FF2B5EF4-FFF2-40B4-BE49-F238E27FC236}">
                    <a16:creationId xmlns:a16="http://schemas.microsoft.com/office/drawing/2014/main" id="{CB47126F-CF4C-6D88-EBBA-95ED65905A31}"/>
                  </a:ext>
                </a:extLst>
              </p:cNvPr>
              <p:cNvSpPr/>
              <p:nvPr/>
            </p:nvSpPr>
            <p:spPr>
              <a:xfrm>
                <a:off x="2465889" y="1836477"/>
                <a:ext cx="1067918" cy="384048"/>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Search for Rates</a:t>
                </a:r>
              </a:p>
              <a:p>
                <a:pPr algn="ctr"/>
                <a:r>
                  <a:rPr lang="en-CA" sz="679" dirty="0">
                    <a:solidFill>
                      <a:schemeClr val="tx1"/>
                    </a:solidFill>
                    <a:latin typeface="Montserrat SemiBold" panose="00000700000000000000" pitchFamily="50" charset="0"/>
                  </a:rPr>
                  <a:t>and Schedules</a:t>
                </a:r>
              </a:p>
            </p:txBody>
          </p:sp>
          <p:sp>
            <p:nvSpPr>
              <p:cNvPr id="137" name="Rounded Rectangle 23">
                <a:extLst>
                  <a:ext uri="{FF2B5EF4-FFF2-40B4-BE49-F238E27FC236}">
                    <a16:creationId xmlns:a16="http://schemas.microsoft.com/office/drawing/2014/main" id="{696C1884-AB65-6219-8ECC-251BF3A27F0E}"/>
                  </a:ext>
                </a:extLst>
              </p:cNvPr>
              <p:cNvSpPr/>
              <p:nvPr/>
            </p:nvSpPr>
            <p:spPr>
              <a:xfrm>
                <a:off x="4520305" y="1836477"/>
                <a:ext cx="1237922" cy="384048"/>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Online Quote / Booking Request</a:t>
                </a:r>
              </a:p>
            </p:txBody>
          </p:sp>
          <p:sp>
            <p:nvSpPr>
              <p:cNvPr id="138" name="Rounded Rectangle 24">
                <a:extLst>
                  <a:ext uri="{FF2B5EF4-FFF2-40B4-BE49-F238E27FC236}">
                    <a16:creationId xmlns:a16="http://schemas.microsoft.com/office/drawing/2014/main" id="{3232AB25-1582-AB3B-58D9-587307BB98A0}"/>
                  </a:ext>
                </a:extLst>
              </p:cNvPr>
              <p:cNvSpPr/>
              <p:nvPr/>
            </p:nvSpPr>
            <p:spPr>
              <a:xfrm>
                <a:off x="9192445" y="1836710"/>
                <a:ext cx="1099862" cy="383583"/>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Invoices and Online Payments</a:t>
                </a:r>
              </a:p>
            </p:txBody>
          </p:sp>
          <p:grpSp>
            <p:nvGrpSpPr>
              <p:cNvPr id="139" name="Group 138">
                <a:extLst>
                  <a:ext uri="{FF2B5EF4-FFF2-40B4-BE49-F238E27FC236}">
                    <a16:creationId xmlns:a16="http://schemas.microsoft.com/office/drawing/2014/main" id="{67BE3FA9-F448-A3CD-235C-B409C91DDAA7}"/>
                  </a:ext>
                </a:extLst>
              </p:cNvPr>
              <p:cNvGrpSpPr/>
              <p:nvPr/>
            </p:nvGrpSpPr>
            <p:grpSpPr>
              <a:xfrm>
                <a:off x="6138076" y="1736680"/>
                <a:ext cx="2667416" cy="929163"/>
                <a:chOff x="5923142" y="1559120"/>
                <a:chExt cx="2667416" cy="929163"/>
              </a:xfrm>
            </p:grpSpPr>
            <p:sp>
              <p:nvSpPr>
                <p:cNvPr id="141" name="Rounded Rectangle 26">
                  <a:extLst>
                    <a:ext uri="{FF2B5EF4-FFF2-40B4-BE49-F238E27FC236}">
                      <a16:creationId xmlns:a16="http://schemas.microsoft.com/office/drawing/2014/main" id="{472B974F-9D4E-AC11-5AB8-D22773546C26}"/>
                    </a:ext>
                  </a:extLst>
                </p:cNvPr>
                <p:cNvSpPr/>
                <p:nvPr/>
              </p:nvSpPr>
              <p:spPr>
                <a:xfrm>
                  <a:off x="6022980" y="1658053"/>
                  <a:ext cx="2450592" cy="27432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US" sz="679" dirty="0">
                      <a:solidFill>
                        <a:schemeClr val="tx1"/>
                      </a:solidFill>
                      <a:latin typeface="Montserrat SemiBold" panose="00000700000000000000" pitchFamily="50" charset="0"/>
                    </a:rPr>
                    <a:t>Shipment</a:t>
                  </a:r>
                  <a:endParaRPr lang="en-CA" sz="679" dirty="0">
                    <a:solidFill>
                      <a:schemeClr val="tx1"/>
                    </a:solidFill>
                    <a:latin typeface="Montserrat SemiBold" panose="00000700000000000000" pitchFamily="50" charset="0"/>
                  </a:endParaRPr>
                </a:p>
              </p:txBody>
            </p:sp>
            <p:sp>
              <p:nvSpPr>
                <p:cNvPr id="142" name="Rounded Rectangle 27">
                  <a:extLst>
                    <a:ext uri="{FF2B5EF4-FFF2-40B4-BE49-F238E27FC236}">
                      <a16:creationId xmlns:a16="http://schemas.microsoft.com/office/drawing/2014/main" id="{68525096-7D99-04DD-6089-C08E1A9EC5E9}"/>
                    </a:ext>
                  </a:extLst>
                </p:cNvPr>
                <p:cNvSpPr/>
                <p:nvPr/>
              </p:nvSpPr>
              <p:spPr>
                <a:xfrm>
                  <a:off x="5923142" y="1559120"/>
                  <a:ext cx="2650268" cy="822959"/>
                </a:xfrm>
                <a:prstGeom prst="roundRect">
                  <a:avLst>
                    <a:gd name="adj" fmla="val 4278"/>
                  </a:avLst>
                </a:prstGeom>
                <a:noFill/>
                <a:ln w="6350">
                  <a:solidFill>
                    <a:srgbClr val="939AA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764" dirty="0">
                    <a:solidFill>
                      <a:schemeClr val="bg1"/>
                    </a:solidFill>
                    <a:latin typeface="Montserrat Light" panose="00000400000000000000" pitchFamily="50" charset="0"/>
                  </a:endParaRPr>
                </a:p>
              </p:txBody>
            </p:sp>
            <p:sp>
              <p:nvSpPr>
                <p:cNvPr id="143" name="TextBox 142">
                  <a:extLst>
                    <a:ext uri="{FF2B5EF4-FFF2-40B4-BE49-F238E27FC236}">
                      <a16:creationId xmlns:a16="http://schemas.microsoft.com/office/drawing/2014/main" id="{539F5BD0-C23C-2B9E-6260-D3B4DA143913}"/>
                    </a:ext>
                  </a:extLst>
                </p:cNvPr>
                <p:cNvSpPr txBox="1"/>
                <p:nvPr/>
              </p:nvSpPr>
              <p:spPr>
                <a:xfrm>
                  <a:off x="5965426" y="1982961"/>
                  <a:ext cx="1271985" cy="505320"/>
                </a:xfrm>
                <a:prstGeom prst="rect">
                  <a:avLst/>
                </a:prstGeom>
                <a:noFill/>
              </p:spPr>
              <p:txBody>
                <a:bodyPr wrap="square" rtlCol="0">
                  <a:spAutoFit/>
                </a:bodyPr>
                <a:lstStyle/>
                <a:p>
                  <a:pPr marL="77622" indent="-77622">
                    <a:lnSpc>
                      <a:spcPct val="110000"/>
                    </a:lnSpc>
                    <a:buFont typeface="Arial" panose="020B0604020202020204" pitchFamily="34" charset="0"/>
                    <a:buChar char="•"/>
                  </a:pPr>
                  <a:r>
                    <a:rPr lang="en-US" sz="679" dirty="0">
                      <a:latin typeface="Montserrat" panose="00000500000000000000" pitchFamily="50" charset="0"/>
                    </a:rPr>
                    <a:t>Milestone Tracking </a:t>
                  </a:r>
                </a:p>
                <a:p>
                  <a:pPr marL="77622" indent="-77622">
                    <a:lnSpc>
                      <a:spcPct val="110000"/>
                    </a:lnSpc>
                    <a:buFont typeface="Arial" panose="020B0604020202020204" pitchFamily="34" charset="0"/>
                    <a:buChar char="•"/>
                  </a:pPr>
                  <a:r>
                    <a:rPr lang="en-US" sz="679" dirty="0">
                      <a:latin typeface="Montserrat" panose="00000500000000000000" pitchFamily="50" charset="0"/>
                    </a:rPr>
                    <a:t>Document Upload</a:t>
                  </a:r>
                  <a:endParaRPr lang="en-CA" sz="679" dirty="0">
                    <a:latin typeface="Montserrat" panose="00000500000000000000" pitchFamily="50" charset="0"/>
                  </a:endParaRPr>
                </a:p>
              </p:txBody>
            </p:sp>
            <p:sp>
              <p:nvSpPr>
                <p:cNvPr id="144" name="TextBox 143">
                  <a:extLst>
                    <a:ext uri="{FF2B5EF4-FFF2-40B4-BE49-F238E27FC236}">
                      <a16:creationId xmlns:a16="http://schemas.microsoft.com/office/drawing/2014/main" id="{B332F6F7-D5C1-547E-92E8-D7DC43785013}"/>
                    </a:ext>
                  </a:extLst>
                </p:cNvPr>
                <p:cNvSpPr txBox="1"/>
                <p:nvPr/>
              </p:nvSpPr>
              <p:spPr>
                <a:xfrm>
                  <a:off x="7153517" y="1982962"/>
                  <a:ext cx="1437041" cy="505321"/>
                </a:xfrm>
                <a:prstGeom prst="rect">
                  <a:avLst/>
                </a:prstGeom>
                <a:noFill/>
              </p:spPr>
              <p:txBody>
                <a:bodyPr wrap="square" rtlCol="0">
                  <a:spAutoFit/>
                </a:bodyPr>
                <a:lstStyle/>
                <a:p>
                  <a:pPr marL="77622" indent="-77622">
                    <a:lnSpc>
                      <a:spcPct val="110000"/>
                    </a:lnSpc>
                    <a:buFont typeface="Arial" panose="020B0604020202020204" pitchFamily="34" charset="0"/>
                    <a:buChar char="•"/>
                  </a:pPr>
                  <a:r>
                    <a:rPr lang="en-US" sz="679" dirty="0">
                      <a:latin typeface="Montserrat" panose="00000500000000000000" pitchFamily="50" charset="0"/>
                    </a:rPr>
                    <a:t>U.S. Customs Updates</a:t>
                  </a:r>
                </a:p>
                <a:p>
                  <a:pPr marL="77622" indent="-77622">
                    <a:lnSpc>
                      <a:spcPct val="110000"/>
                    </a:lnSpc>
                    <a:buFont typeface="Arial" panose="020B0604020202020204" pitchFamily="34" charset="0"/>
                    <a:buChar char="•"/>
                  </a:pPr>
                  <a:r>
                    <a:rPr lang="en-US" sz="679" dirty="0">
                      <a:latin typeface="Montserrat" panose="00000500000000000000" pitchFamily="50" charset="0"/>
                    </a:rPr>
                    <a:t>Warehousing Updates</a:t>
                  </a:r>
                  <a:endParaRPr lang="en-CA" sz="679" dirty="0">
                    <a:latin typeface="Montserrat" panose="00000500000000000000" pitchFamily="50" charset="0"/>
                  </a:endParaRPr>
                </a:p>
              </p:txBody>
            </p:sp>
          </p:grpSp>
          <p:cxnSp>
            <p:nvCxnSpPr>
              <p:cNvPr id="140" name="Straight Arrow Connector 139">
                <a:extLst>
                  <a:ext uri="{FF2B5EF4-FFF2-40B4-BE49-F238E27FC236}">
                    <a16:creationId xmlns:a16="http://schemas.microsoft.com/office/drawing/2014/main" id="{9C2B8E36-EC1A-77C0-B23E-1C50203E55AF}"/>
                  </a:ext>
                </a:extLst>
              </p:cNvPr>
              <p:cNvCxnSpPr>
                <a:cxnSpLocks/>
              </p:cNvCxnSpPr>
              <p:nvPr/>
            </p:nvCxnSpPr>
            <p:spPr>
              <a:xfrm>
                <a:off x="3561338" y="2028501"/>
                <a:ext cx="917310" cy="0"/>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93959E41-BF99-2809-2FE9-A47F0B902A7B}"/>
                </a:ext>
              </a:extLst>
            </p:cNvPr>
            <p:cNvCxnSpPr>
              <a:cxnSpLocks/>
            </p:cNvCxnSpPr>
            <p:nvPr/>
          </p:nvCxnSpPr>
          <p:spPr>
            <a:xfrm flipV="1">
              <a:off x="9738398" y="2228833"/>
              <a:ext cx="0" cy="859536"/>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42D6CAD-AB35-7729-25F2-9A0C77123037}"/>
                </a:ext>
              </a:extLst>
            </p:cNvPr>
            <p:cNvCxnSpPr>
              <a:cxnSpLocks/>
            </p:cNvCxnSpPr>
            <p:nvPr/>
          </p:nvCxnSpPr>
          <p:spPr>
            <a:xfrm>
              <a:off x="5104224" y="2228833"/>
              <a:ext cx="0" cy="859536"/>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58AA5D1-FF69-82B2-E38D-4DCA779F4FC8}"/>
                </a:ext>
              </a:extLst>
            </p:cNvPr>
            <p:cNvCxnSpPr>
              <a:cxnSpLocks/>
            </p:cNvCxnSpPr>
            <p:nvPr/>
          </p:nvCxnSpPr>
          <p:spPr>
            <a:xfrm flipV="1">
              <a:off x="7401292" y="2567284"/>
              <a:ext cx="0" cy="502920"/>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9B7F814-EFB1-6998-8B3A-77FC5DEDF22F}"/>
                </a:ext>
              </a:extLst>
            </p:cNvPr>
            <p:cNvGrpSpPr/>
            <p:nvPr/>
          </p:nvGrpSpPr>
          <p:grpSpPr>
            <a:xfrm>
              <a:off x="3333595" y="2962578"/>
              <a:ext cx="7337710" cy="1572768"/>
              <a:chOff x="3333595" y="2962578"/>
              <a:chExt cx="7337710" cy="1572768"/>
            </a:xfrm>
          </p:grpSpPr>
          <p:sp>
            <p:nvSpPr>
              <p:cNvPr id="51" name="Rounded Rectangle 8">
                <a:extLst>
                  <a:ext uri="{FF2B5EF4-FFF2-40B4-BE49-F238E27FC236}">
                    <a16:creationId xmlns:a16="http://schemas.microsoft.com/office/drawing/2014/main" id="{67ED4FA8-08F2-08D7-D8CB-C94D2B10EA80}"/>
                  </a:ext>
                </a:extLst>
              </p:cNvPr>
              <p:cNvSpPr/>
              <p:nvPr/>
            </p:nvSpPr>
            <p:spPr>
              <a:xfrm>
                <a:off x="3333595" y="2962578"/>
                <a:ext cx="7337710" cy="1572768"/>
              </a:xfrm>
              <a:prstGeom prst="roundRect">
                <a:avLst>
                  <a:gd name="adj" fmla="val 4278"/>
                </a:avLst>
              </a:prstGeom>
              <a:noFill/>
              <a:ln w="28575">
                <a:solidFill>
                  <a:srgbClr val="D9D9D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764" dirty="0">
                  <a:solidFill>
                    <a:schemeClr val="bg1"/>
                  </a:solidFill>
                  <a:latin typeface="Montserrat Light" panose="00000400000000000000" pitchFamily="50" charset="0"/>
                </a:endParaRPr>
              </a:p>
            </p:txBody>
          </p:sp>
          <p:sp>
            <p:nvSpPr>
              <p:cNvPr id="52" name="Rounded Rectangle 12">
                <a:extLst>
                  <a:ext uri="{FF2B5EF4-FFF2-40B4-BE49-F238E27FC236}">
                    <a16:creationId xmlns:a16="http://schemas.microsoft.com/office/drawing/2014/main" id="{E9810A7B-4DC4-2C03-70BE-77E6E21FE4B1}"/>
                  </a:ext>
                </a:extLst>
              </p:cNvPr>
              <p:cNvSpPr/>
              <p:nvPr/>
            </p:nvSpPr>
            <p:spPr>
              <a:xfrm>
                <a:off x="4651568" y="3116200"/>
                <a:ext cx="891844"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Booking</a:t>
                </a:r>
              </a:p>
            </p:txBody>
          </p:sp>
          <p:sp>
            <p:nvSpPr>
              <p:cNvPr id="53" name="Rounded Rectangle 13">
                <a:extLst>
                  <a:ext uri="{FF2B5EF4-FFF2-40B4-BE49-F238E27FC236}">
                    <a16:creationId xmlns:a16="http://schemas.microsoft.com/office/drawing/2014/main" id="{9659DC90-ED99-61B2-45A3-92172CA0E7AD}"/>
                  </a:ext>
                </a:extLst>
              </p:cNvPr>
              <p:cNvSpPr/>
              <p:nvPr/>
            </p:nvSpPr>
            <p:spPr>
              <a:xfrm>
                <a:off x="3579094" y="3116200"/>
                <a:ext cx="860657"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Quote</a:t>
                </a:r>
              </a:p>
            </p:txBody>
          </p:sp>
          <p:sp>
            <p:nvSpPr>
              <p:cNvPr id="54" name="Rounded Rectangle 14">
                <a:extLst>
                  <a:ext uri="{FF2B5EF4-FFF2-40B4-BE49-F238E27FC236}">
                    <a16:creationId xmlns:a16="http://schemas.microsoft.com/office/drawing/2014/main" id="{810C22F9-B4D4-ECEB-C895-BD280C039251}"/>
                  </a:ext>
                </a:extLst>
              </p:cNvPr>
              <p:cNvSpPr/>
              <p:nvPr/>
            </p:nvSpPr>
            <p:spPr>
              <a:xfrm>
                <a:off x="9329418" y="3116200"/>
                <a:ext cx="891844"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Invoices</a:t>
                </a:r>
                <a:endParaRPr lang="en-CA" sz="679" dirty="0">
                  <a:solidFill>
                    <a:srgbClr val="FD4B72"/>
                  </a:solidFill>
                  <a:latin typeface="Montserrat SemiBold" panose="00000700000000000000" pitchFamily="50" charset="0"/>
                </a:endParaRPr>
              </a:p>
            </p:txBody>
          </p:sp>
          <p:grpSp>
            <p:nvGrpSpPr>
              <p:cNvPr id="55" name="Group 54">
                <a:extLst>
                  <a:ext uri="{FF2B5EF4-FFF2-40B4-BE49-F238E27FC236}">
                    <a16:creationId xmlns:a16="http://schemas.microsoft.com/office/drawing/2014/main" id="{3A811D10-2123-0374-D41C-170851DD5CAD}"/>
                  </a:ext>
                </a:extLst>
              </p:cNvPr>
              <p:cNvGrpSpPr/>
              <p:nvPr/>
            </p:nvGrpSpPr>
            <p:grpSpPr>
              <a:xfrm>
                <a:off x="6108139" y="3092731"/>
                <a:ext cx="2524118" cy="1322320"/>
                <a:chOff x="6010481" y="3021707"/>
                <a:chExt cx="2524118" cy="1322320"/>
              </a:xfrm>
            </p:grpSpPr>
            <p:sp>
              <p:nvSpPr>
                <p:cNvPr id="59" name="Rounded Rectangle 15">
                  <a:extLst>
                    <a:ext uri="{FF2B5EF4-FFF2-40B4-BE49-F238E27FC236}">
                      <a16:creationId xmlns:a16="http://schemas.microsoft.com/office/drawing/2014/main" id="{0E17B71C-FB69-C0A1-C88D-BF9C0A6B2481}"/>
                    </a:ext>
                  </a:extLst>
                </p:cNvPr>
                <p:cNvSpPr/>
                <p:nvPr/>
              </p:nvSpPr>
              <p:spPr>
                <a:xfrm>
                  <a:off x="6010481" y="3021707"/>
                  <a:ext cx="2411523" cy="1322320"/>
                </a:xfrm>
                <a:prstGeom prst="roundRect">
                  <a:avLst>
                    <a:gd name="adj" fmla="val 4278"/>
                  </a:avLst>
                </a:prstGeom>
                <a:noFill/>
                <a:ln w="6350">
                  <a:solidFill>
                    <a:srgbClr val="939AA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764" dirty="0">
                    <a:solidFill>
                      <a:schemeClr val="bg1"/>
                    </a:solidFill>
                    <a:latin typeface="Montserrat Light" panose="00000400000000000000" pitchFamily="50" charset="0"/>
                  </a:endParaRPr>
                </a:p>
              </p:txBody>
            </p:sp>
            <p:sp>
              <p:nvSpPr>
                <p:cNvPr id="60" name="Rounded Rectangle 16">
                  <a:extLst>
                    <a:ext uri="{FF2B5EF4-FFF2-40B4-BE49-F238E27FC236}">
                      <a16:creationId xmlns:a16="http://schemas.microsoft.com/office/drawing/2014/main" id="{29C42660-400F-D833-DDBE-5180188E0D57}"/>
                    </a:ext>
                  </a:extLst>
                </p:cNvPr>
                <p:cNvSpPr/>
                <p:nvPr/>
              </p:nvSpPr>
              <p:spPr>
                <a:xfrm>
                  <a:off x="6072968" y="3107515"/>
                  <a:ext cx="2286993" cy="27432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US" sz="679" dirty="0">
                      <a:solidFill>
                        <a:schemeClr val="tx1"/>
                      </a:solidFill>
                      <a:latin typeface="Montserrat SemiBold" panose="00000700000000000000" pitchFamily="50" charset="0"/>
                    </a:rPr>
                    <a:t>Shipment</a:t>
                  </a:r>
                  <a:endParaRPr lang="en-CA" sz="679" dirty="0">
                    <a:solidFill>
                      <a:schemeClr val="tx1"/>
                    </a:solidFill>
                    <a:latin typeface="Montserrat SemiBold" panose="00000700000000000000" pitchFamily="50" charset="0"/>
                  </a:endParaRPr>
                </a:p>
              </p:txBody>
            </p:sp>
            <p:sp>
              <p:nvSpPr>
                <p:cNvPr id="61" name="TextBox 60">
                  <a:extLst>
                    <a:ext uri="{FF2B5EF4-FFF2-40B4-BE49-F238E27FC236}">
                      <a16:creationId xmlns:a16="http://schemas.microsoft.com/office/drawing/2014/main" id="{B57C5AB3-598D-3114-B84B-DF3ACE57A9FD}"/>
                    </a:ext>
                  </a:extLst>
                </p:cNvPr>
                <p:cNvSpPr txBox="1"/>
                <p:nvPr/>
              </p:nvSpPr>
              <p:spPr>
                <a:xfrm>
                  <a:off x="6031009" y="3424187"/>
                  <a:ext cx="2503590" cy="911616"/>
                </a:xfrm>
                <a:prstGeom prst="rect">
                  <a:avLst/>
                </a:prstGeom>
                <a:noFill/>
              </p:spPr>
              <p:txBody>
                <a:bodyPr wrap="square" rtlCol="0">
                  <a:spAutoFit/>
                </a:bodyPr>
                <a:lstStyle/>
                <a:p>
                  <a:pPr marL="77622" indent="-77622">
                    <a:lnSpc>
                      <a:spcPct val="110000"/>
                    </a:lnSpc>
                    <a:buFont typeface="Arial" panose="020B0604020202020204" pitchFamily="34" charset="0"/>
                    <a:buChar char="•"/>
                  </a:pPr>
                  <a:r>
                    <a:rPr lang="en-US" sz="679" dirty="0">
                      <a:latin typeface="Montserrat" panose="00000500000000000000" pitchFamily="50" charset="0"/>
                    </a:rPr>
                    <a:t>PO Management</a:t>
                  </a:r>
                </a:p>
                <a:p>
                  <a:pPr marL="77622" indent="-77622">
                    <a:lnSpc>
                      <a:spcPct val="110000"/>
                    </a:lnSpc>
                    <a:buFont typeface="Arial" panose="020B0604020202020204" pitchFamily="34" charset="0"/>
                    <a:buChar char="•"/>
                  </a:pPr>
                  <a:r>
                    <a:rPr lang="en-US" sz="679" dirty="0">
                      <a:latin typeface="Montserrat" panose="00000500000000000000" pitchFamily="50" charset="0"/>
                    </a:rPr>
                    <a:t>Warehousing (Origin, Transit, Destination) </a:t>
                  </a:r>
                </a:p>
                <a:p>
                  <a:pPr marL="77622" indent="-77622">
                    <a:lnSpc>
                      <a:spcPct val="110000"/>
                    </a:lnSpc>
                    <a:buFont typeface="Arial" panose="020B0604020202020204" pitchFamily="34" charset="0"/>
                    <a:buChar char="•"/>
                  </a:pPr>
                  <a:r>
                    <a:rPr lang="en-US" sz="679" dirty="0">
                      <a:latin typeface="Montserrat" panose="00000500000000000000" pitchFamily="50" charset="0"/>
                    </a:rPr>
                    <a:t>Cargo Insurance</a:t>
                  </a:r>
                </a:p>
                <a:p>
                  <a:pPr marL="77622" indent="-77622">
                    <a:lnSpc>
                      <a:spcPct val="110000"/>
                    </a:lnSpc>
                    <a:buFont typeface="Arial" panose="020B0604020202020204" pitchFamily="34" charset="0"/>
                    <a:buChar char="•"/>
                  </a:pPr>
                  <a:r>
                    <a:rPr lang="en-US" sz="679" dirty="0">
                      <a:latin typeface="Montserrat" panose="00000500000000000000" pitchFamily="50" charset="0"/>
                    </a:rPr>
                    <a:t>Sharing over Magaya Network</a:t>
                  </a:r>
                </a:p>
                <a:p>
                  <a:pPr marL="77622" indent="-77622">
                    <a:lnSpc>
                      <a:spcPct val="110000"/>
                    </a:lnSpc>
                    <a:buFont typeface="Arial" panose="020B0604020202020204" pitchFamily="34" charset="0"/>
                    <a:buChar char="•"/>
                  </a:pPr>
                  <a:r>
                    <a:rPr lang="en-US" sz="679" dirty="0">
                      <a:latin typeface="Montserrat" panose="00000500000000000000" pitchFamily="50" charset="0"/>
                    </a:rPr>
                    <a:t>Milestone Tracking</a:t>
                  </a:r>
                </a:p>
                <a:p>
                  <a:pPr marL="77622" indent="-77622">
                    <a:lnSpc>
                      <a:spcPct val="110000"/>
                    </a:lnSpc>
                    <a:spcAft>
                      <a:spcPts val="509"/>
                    </a:spcAft>
                    <a:buFont typeface="Arial" panose="020B0604020202020204" pitchFamily="34" charset="0"/>
                    <a:buChar char="•"/>
                  </a:pPr>
                  <a:r>
                    <a:rPr lang="en-US" sz="679" dirty="0">
                      <a:latin typeface="Montserrat" panose="00000500000000000000" pitchFamily="50" charset="0"/>
                    </a:rPr>
                    <a:t>First and Last Mile</a:t>
                  </a:r>
                  <a:endParaRPr lang="en-US" sz="170" dirty="0">
                    <a:latin typeface="Montserrat" panose="00000500000000000000" pitchFamily="50" charset="0"/>
                  </a:endParaRPr>
                </a:p>
              </p:txBody>
            </p:sp>
          </p:grpSp>
          <p:cxnSp>
            <p:nvCxnSpPr>
              <p:cNvPr id="56" name="Straight Arrow Connector 55">
                <a:extLst>
                  <a:ext uri="{FF2B5EF4-FFF2-40B4-BE49-F238E27FC236}">
                    <a16:creationId xmlns:a16="http://schemas.microsoft.com/office/drawing/2014/main" id="{C159120C-2E6B-A76B-2483-FC879A426D0B}"/>
                  </a:ext>
                </a:extLst>
              </p:cNvPr>
              <p:cNvCxnSpPr>
                <a:cxnSpLocks/>
              </p:cNvCxnSpPr>
              <p:nvPr/>
            </p:nvCxnSpPr>
            <p:spPr>
              <a:xfrm>
                <a:off x="4450400" y="3291367"/>
                <a:ext cx="201168" cy="0"/>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17ADB61-840A-3557-108D-19E2317561CD}"/>
                  </a:ext>
                </a:extLst>
              </p:cNvPr>
              <p:cNvCxnSpPr>
                <a:cxnSpLocks/>
              </p:cNvCxnSpPr>
              <p:nvPr/>
            </p:nvCxnSpPr>
            <p:spPr>
              <a:xfrm>
                <a:off x="5553456" y="3291367"/>
                <a:ext cx="530352" cy="0"/>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44759DC-6519-1D00-5787-F34A4E61629E}"/>
                  </a:ext>
                </a:extLst>
              </p:cNvPr>
              <p:cNvCxnSpPr>
                <a:cxnSpLocks/>
              </p:cNvCxnSpPr>
              <p:nvPr/>
            </p:nvCxnSpPr>
            <p:spPr>
              <a:xfrm>
                <a:off x="8541881" y="3291367"/>
                <a:ext cx="777240" cy="0"/>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16CB5D96-6A77-F4FA-BB33-0CC400D05AE8}"/>
                </a:ext>
              </a:extLst>
            </p:cNvPr>
            <p:cNvGrpSpPr/>
            <p:nvPr/>
          </p:nvGrpSpPr>
          <p:grpSpPr>
            <a:xfrm>
              <a:off x="1725305" y="2958231"/>
              <a:ext cx="1482895" cy="1572768"/>
              <a:chOff x="1725305" y="2958231"/>
              <a:chExt cx="1482895" cy="1572768"/>
            </a:xfrm>
          </p:grpSpPr>
          <p:sp>
            <p:nvSpPr>
              <p:cNvPr id="47" name="Rounded Rectangle 39">
                <a:extLst>
                  <a:ext uri="{FF2B5EF4-FFF2-40B4-BE49-F238E27FC236}">
                    <a16:creationId xmlns:a16="http://schemas.microsoft.com/office/drawing/2014/main" id="{7195710C-B0CD-241B-09CB-4378A05C2FA2}"/>
                  </a:ext>
                </a:extLst>
              </p:cNvPr>
              <p:cNvSpPr/>
              <p:nvPr/>
            </p:nvSpPr>
            <p:spPr>
              <a:xfrm>
                <a:off x="1725305" y="2958231"/>
                <a:ext cx="1482895" cy="1572768"/>
              </a:xfrm>
              <a:prstGeom prst="roundRect">
                <a:avLst>
                  <a:gd name="adj" fmla="val 4278"/>
                </a:avLst>
              </a:prstGeom>
              <a:noFill/>
              <a:ln w="28575">
                <a:solidFill>
                  <a:srgbClr val="D9D9D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764" dirty="0">
                  <a:solidFill>
                    <a:schemeClr val="bg1"/>
                  </a:solidFill>
                  <a:latin typeface="Montserrat Light" panose="00000400000000000000" pitchFamily="50" charset="0"/>
                </a:endParaRPr>
              </a:p>
            </p:txBody>
          </p:sp>
          <p:sp>
            <p:nvSpPr>
              <p:cNvPr id="48" name="Rounded Rectangle 40">
                <a:extLst>
                  <a:ext uri="{FF2B5EF4-FFF2-40B4-BE49-F238E27FC236}">
                    <a16:creationId xmlns:a16="http://schemas.microsoft.com/office/drawing/2014/main" id="{9CB3698B-36B6-898C-951A-6320927A73BF}"/>
                  </a:ext>
                </a:extLst>
              </p:cNvPr>
              <p:cNvSpPr/>
              <p:nvPr/>
            </p:nvSpPr>
            <p:spPr>
              <a:xfrm>
                <a:off x="1971506" y="4018151"/>
                <a:ext cx="1124712"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Allocations, Incentives</a:t>
                </a:r>
              </a:p>
            </p:txBody>
          </p:sp>
          <p:sp>
            <p:nvSpPr>
              <p:cNvPr id="49" name="Rounded Rectangle 41">
                <a:extLst>
                  <a:ext uri="{FF2B5EF4-FFF2-40B4-BE49-F238E27FC236}">
                    <a16:creationId xmlns:a16="http://schemas.microsoft.com/office/drawing/2014/main" id="{6DA27B3B-0544-16CD-495F-2CBB1C6D46D7}"/>
                  </a:ext>
                </a:extLst>
              </p:cNvPr>
              <p:cNvSpPr/>
              <p:nvPr/>
            </p:nvSpPr>
            <p:spPr>
              <a:xfrm>
                <a:off x="1973781" y="3134488"/>
                <a:ext cx="1124712"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Rates: </a:t>
                </a:r>
                <a:br>
                  <a:rPr lang="en-CA" sz="679" dirty="0">
                    <a:solidFill>
                      <a:schemeClr val="tx1"/>
                    </a:solidFill>
                    <a:latin typeface="Montserrat SemiBold" panose="00000700000000000000" pitchFamily="50" charset="0"/>
                  </a:rPr>
                </a:br>
                <a:r>
                  <a:rPr lang="en-CA" sz="679" dirty="0">
                    <a:solidFill>
                      <a:schemeClr val="tx1"/>
                    </a:solidFill>
                    <a:latin typeface="Montserrat SemiBold" panose="00000700000000000000" pitchFamily="50" charset="0"/>
                  </a:rPr>
                  <a:t>Spot and Contract</a:t>
                </a:r>
              </a:p>
            </p:txBody>
          </p:sp>
          <p:sp>
            <p:nvSpPr>
              <p:cNvPr id="50" name="Rounded Rectangle 42">
                <a:extLst>
                  <a:ext uri="{FF2B5EF4-FFF2-40B4-BE49-F238E27FC236}">
                    <a16:creationId xmlns:a16="http://schemas.microsoft.com/office/drawing/2014/main" id="{B2FDACA9-6299-0C16-8329-6B06BB49008F}"/>
                  </a:ext>
                </a:extLst>
              </p:cNvPr>
              <p:cNvSpPr/>
              <p:nvPr/>
            </p:nvSpPr>
            <p:spPr>
              <a:xfrm>
                <a:off x="1971506" y="3580340"/>
                <a:ext cx="1124712"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Quote</a:t>
                </a:r>
              </a:p>
            </p:txBody>
          </p:sp>
        </p:grpSp>
        <p:grpSp>
          <p:nvGrpSpPr>
            <p:cNvPr id="12" name="Group 11">
              <a:extLst>
                <a:ext uri="{FF2B5EF4-FFF2-40B4-BE49-F238E27FC236}">
                  <a16:creationId xmlns:a16="http://schemas.microsoft.com/office/drawing/2014/main" id="{6873A705-3283-7DD1-651C-770D3C93F02B}"/>
                </a:ext>
              </a:extLst>
            </p:cNvPr>
            <p:cNvGrpSpPr/>
            <p:nvPr/>
          </p:nvGrpSpPr>
          <p:grpSpPr>
            <a:xfrm>
              <a:off x="459462" y="3052322"/>
              <a:ext cx="1513453" cy="1399032"/>
              <a:chOff x="253406" y="2821494"/>
              <a:chExt cx="1513453" cy="1399032"/>
            </a:xfrm>
          </p:grpSpPr>
          <p:sp>
            <p:nvSpPr>
              <p:cNvPr id="45" name="Oval 44">
                <a:extLst>
                  <a:ext uri="{FF2B5EF4-FFF2-40B4-BE49-F238E27FC236}">
                    <a16:creationId xmlns:a16="http://schemas.microsoft.com/office/drawing/2014/main" id="{EC9C5B0F-AE96-50DD-7C10-44E4CE3CBA0E}"/>
                  </a:ext>
                </a:extLst>
              </p:cNvPr>
              <p:cNvSpPr/>
              <p:nvPr/>
            </p:nvSpPr>
            <p:spPr>
              <a:xfrm>
                <a:off x="310616" y="2821494"/>
                <a:ext cx="1399032" cy="1399032"/>
              </a:xfrm>
              <a:prstGeom prst="ellipse">
                <a:avLst/>
              </a:prstGeom>
              <a:solidFill>
                <a:srgbClr val="6B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188"/>
              </a:p>
            </p:txBody>
          </p:sp>
          <p:sp>
            <p:nvSpPr>
              <p:cNvPr id="46" name="TextBox 45">
                <a:extLst>
                  <a:ext uri="{FF2B5EF4-FFF2-40B4-BE49-F238E27FC236}">
                    <a16:creationId xmlns:a16="http://schemas.microsoft.com/office/drawing/2014/main" id="{E5160A49-BC74-9278-A2A3-CFD7F0AC0025}"/>
                  </a:ext>
                </a:extLst>
              </p:cNvPr>
              <p:cNvSpPr txBox="1"/>
              <p:nvPr/>
            </p:nvSpPr>
            <p:spPr>
              <a:xfrm>
                <a:off x="253406" y="3136290"/>
                <a:ext cx="1513453" cy="930802"/>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 RATE MANAGEMENT</a:t>
                </a:r>
              </a:p>
              <a:p>
                <a:pPr algn="ctr">
                  <a:spcAft>
                    <a:spcPts val="255"/>
                  </a:spcAft>
                </a:pPr>
                <a:r>
                  <a:rPr lang="en-US" sz="722" dirty="0">
                    <a:solidFill>
                      <a:schemeClr val="bg1"/>
                    </a:solidFill>
                    <a:latin typeface="Montserrat" panose="00000500000000000000" pitchFamily="50" charset="0"/>
                  </a:rPr>
                  <a:t>(User: Freight Forwarder </a:t>
                </a:r>
              </a:p>
              <a:p>
                <a:pPr algn="ctr">
                  <a:spcAft>
                    <a:spcPts val="255"/>
                  </a:spcAft>
                </a:pPr>
                <a:r>
                  <a:rPr lang="en-US" sz="722" dirty="0">
                    <a:solidFill>
                      <a:schemeClr val="bg1"/>
                    </a:solidFill>
                    <a:latin typeface="Montserrat" panose="00000500000000000000" pitchFamily="50" charset="0"/>
                  </a:rPr>
                  <a:t>/ NVOCC)</a:t>
                </a:r>
                <a:endParaRPr lang="en-CA" sz="722" dirty="0">
                  <a:solidFill>
                    <a:schemeClr val="bg1"/>
                  </a:solidFill>
                  <a:latin typeface="Montserrat" panose="00000500000000000000" pitchFamily="50" charset="0"/>
                </a:endParaRPr>
              </a:p>
            </p:txBody>
          </p:sp>
        </p:grpSp>
        <p:grpSp>
          <p:nvGrpSpPr>
            <p:cNvPr id="13" name="Group 12">
              <a:extLst>
                <a:ext uri="{FF2B5EF4-FFF2-40B4-BE49-F238E27FC236}">
                  <a16:creationId xmlns:a16="http://schemas.microsoft.com/office/drawing/2014/main" id="{B94763C0-A6EE-6A6F-1E14-0F2800327141}"/>
                </a:ext>
              </a:extLst>
            </p:cNvPr>
            <p:cNvGrpSpPr/>
            <p:nvPr/>
          </p:nvGrpSpPr>
          <p:grpSpPr>
            <a:xfrm>
              <a:off x="4589963" y="4823839"/>
              <a:ext cx="2228091" cy="1024128"/>
              <a:chOff x="4581085" y="4823839"/>
              <a:chExt cx="2228091" cy="1024128"/>
            </a:xfrm>
          </p:grpSpPr>
          <p:sp>
            <p:nvSpPr>
              <p:cNvPr id="39" name="Rounded Rectangle 47">
                <a:extLst>
                  <a:ext uri="{FF2B5EF4-FFF2-40B4-BE49-F238E27FC236}">
                    <a16:creationId xmlns:a16="http://schemas.microsoft.com/office/drawing/2014/main" id="{6B386FBC-7EE7-7BDF-0325-362AEC784F8E}"/>
                  </a:ext>
                </a:extLst>
              </p:cNvPr>
              <p:cNvSpPr/>
              <p:nvPr/>
            </p:nvSpPr>
            <p:spPr>
              <a:xfrm>
                <a:off x="4581085" y="4823839"/>
                <a:ext cx="2228091" cy="1024128"/>
              </a:xfrm>
              <a:prstGeom prst="roundRect">
                <a:avLst>
                  <a:gd name="adj" fmla="val 4278"/>
                </a:avLst>
              </a:prstGeom>
              <a:noFill/>
              <a:ln w="28575">
                <a:solidFill>
                  <a:srgbClr val="D9D9D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CA" sz="679" dirty="0">
                  <a:solidFill>
                    <a:schemeClr val="bg1"/>
                  </a:solidFill>
                  <a:latin typeface="Montserrat" panose="00000500000000000000" pitchFamily="50" charset="0"/>
                </a:endParaRPr>
              </a:p>
            </p:txBody>
          </p:sp>
          <p:sp>
            <p:nvSpPr>
              <p:cNvPr id="40" name="Rounded Rectangle 48">
                <a:extLst>
                  <a:ext uri="{FF2B5EF4-FFF2-40B4-BE49-F238E27FC236}">
                    <a16:creationId xmlns:a16="http://schemas.microsoft.com/office/drawing/2014/main" id="{DAE072E5-2854-9921-8242-7E6BBB2BBEEE}"/>
                  </a:ext>
                </a:extLst>
              </p:cNvPr>
              <p:cNvSpPr/>
              <p:nvPr/>
            </p:nvSpPr>
            <p:spPr>
              <a:xfrm>
                <a:off x="4698360" y="5368318"/>
                <a:ext cx="605909"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ISF</a:t>
                </a:r>
                <a:br>
                  <a:rPr lang="en-CA" sz="679" dirty="0">
                    <a:solidFill>
                      <a:schemeClr val="tx1"/>
                    </a:solidFill>
                    <a:latin typeface="Montserrat SemiBold" panose="00000700000000000000" pitchFamily="50" charset="0"/>
                  </a:rPr>
                </a:br>
                <a:r>
                  <a:rPr lang="en-CA" sz="679" dirty="0">
                    <a:solidFill>
                      <a:schemeClr val="tx1"/>
                    </a:solidFill>
                    <a:latin typeface="Montserrat SemiBold" panose="00000700000000000000" pitchFamily="50" charset="0"/>
                  </a:rPr>
                  <a:t>AMS</a:t>
                </a:r>
              </a:p>
            </p:txBody>
          </p:sp>
          <p:sp>
            <p:nvSpPr>
              <p:cNvPr id="41" name="Rounded Rectangle 49">
                <a:extLst>
                  <a:ext uri="{FF2B5EF4-FFF2-40B4-BE49-F238E27FC236}">
                    <a16:creationId xmlns:a16="http://schemas.microsoft.com/office/drawing/2014/main" id="{581D6327-CA1C-C428-DB56-AB28317ED1B0}"/>
                  </a:ext>
                </a:extLst>
              </p:cNvPr>
              <p:cNvSpPr/>
              <p:nvPr/>
            </p:nvSpPr>
            <p:spPr>
              <a:xfrm>
                <a:off x="5731206" y="4937899"/>
                <a:ext cx="689725"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Entry </a:t>
                </a:r>
              </a:p>
              <a:p>
                <a:pPr algn="ctr"/>
                <a:r>
                  <a:rPr lang="en-CA" sz="679" dirty="0">
                    <a:solidFill>
                      <a:schemeClr val="tx1"/>
                    </a:solidFill>
                    <a:latin typeface="Montserrat SemiBold" panose="00000700000000000000" pitchFamily="50" charset="0"/>
                  </a:rPr>
                  <a:t>Summary</a:t>
                </a:r>
              </a:p>
            </p:txBody>
          </p:sp>
          <p:sp>
            <p:nvSpPr>
              <p:cNvPr id="42" name="Rounded Rectangle 50">
                <a:extLst>
                  <a:ext uri="{FF2B5EF4-FFF2-40B4-BE49-F238E27FC236}">
                    <a16:creationId xmlns:a16="http://schemas.microsoft.com/office/drawing/2014/main" id="{34345DFE-D45B-7728-FB50-7DA64AB97EDE}"/>
                  </a:ext>
                </a:extLst>
              </p:cNvPr>
              <p:cNvSpPr/>
              <p:nvPr/>
            </p:nvSpPr>
            <p:spPr>
              <a:xfrm>
                <a:off x="4698361" y="4937899"/>
                <a:ext cx="961200"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Air and Ocean</a:t>
                </a:r>
                <a:br>
                  <a:rPr lang="en-CA" sz="679" dirty="0">
                    <a:solidFill>
                      <a:schemeClr val="tx1"/>
                    </a:solidFill>
                    <a:latin typeface="Montserrat SemiBold" panose="00000700000000000000" pitchFamily="50" charset="0"/>
                  </a:rPr>
                </a:br>
                <a:r>
                  <a:rPr lang="en-CA" sz="679" dirty="0">
                    <a:solidFill>
                      <a:schemeClr val="tx1"/>
                    </a:solidFill>
                    <a:latin typeface="Montserrat SemiBold" panose="00000700000000000000" pitchFamily="50" charset="0"/>
                  </a:rPr>
                  <a:t>AMS Type 86</a:t>
                </a:r>
              </a:p>
            </p:txBody>
          </p:sp>
          <p:sp>
            <p:nvSpPr>
              <p:cNvPr id="43" name="Rounded Rectangle 51">
                <a:extLst>
                  <a:ext uri="{FF2B5EF4-FFF2-40B4-BE49-F238E27FC236}">
                    <a16:creationId xmlns:a16="http://schemas.microsoft.com/office/drawing/2014/main" id="{601040B4-765E-3050-FA39-E19DED28B47C}"/>
                  </a:ext>
                </a:extLst>
              </p:cNvPr>
              <p:cNvSpPr/>
              <p:nvPr/>
            </p:nvSpPr>
            <p:spPr>
              <a:xfrm>
                <a:off x="5362215" y="5368318"/>
                <a:ext cx="530352"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ACAS</a:t>
                </a:r>
              </a:p>
            </p:txBody>
          </p:sp>
          <p:sp>
            <p:nvSpPr>
              <p:cNvPr id="44" name="Rounded Rectangle 52">
                <a:extLst>
                  <a:ext uri="{FF2B5EF4-FFF2-40B4-BE49-F238E27FC236}">
                    <a16:creationId xmlns:a16="http://schemas.microsoft.com/office/drawing/2014/main" id="{3B8CEC60-9619-CD1F-4981-361BA9F0EBD5}"/>
                  </a:ext>
                </a:extLst>
              </p:cNvPr>
              <p:cNvSpPr/>
              <p:nvPr/>
            </p:nvSpPr>
            <p:spPr>
              <a:xfrm>
                <a:off x="5945443" y="5368318"/>
                <a:ext cx="475488" cy="365760"/>
              </a:xfrm>
              <a:prstGeom prst="roundRect">
                <a:avLst/>
              </a:prstGeom>
              <a:solidFill>
                <a:srgbClr val="E7E9EC"/>
              </a:solidFill>
              <a:ln>
                <a:noFill/>
              </a:ln>
            </p:spPr>
            <p:style>
              <a:lnRef idx="2">
                <a:schemeClr val="accent1">
                  <a:shade val="50000"/>
                </a:schemeClr>
              </a:lnRef>
              <a:fillRef idx="1">
                <a:schemeClr val="accent1"/>
              </a:fillRef>
              <a:effectRef idx="0">
                <a:schemeClr val="accent1"/>
              </a:effectRef>
              <a:fontRef idx="minor">
                <a:schemeClr val="lt1"/>
              </a:fontRef>
            </p:style>
            <p:txBody>
              <a:bodyPr lIns="38811" rIns="38811" rtlCol="0" anchor="ctr"/>
              <a:lstStyle/>
              <a:p>
                <a:pPr algn="ctr"/>
                <a:r>
                  <a:rPr lang="en-CA" sz="679" dirty="0">
                    <a:solidFill>
                      <a:schemeClr val="tx1"/>
                    </a:solidFill>
                    <a:latin typeface="Montserrat SemiBold" panose="00000700000000000000" pitchFamily="50" charset="0"/>
                  </a:rPr>
                  <a:t>FTZ</a:t>
                </a:r>
              </a:p>
            </p:txBody>
          </p:sp>
        </p:grpSp>
        <p:grpSp>
          <p:nvGrpSpPr>
            <p:cNvPr id="14" name="Group 13">
              <a:extLst>
                <a:ext uri="{FF2B5EF4-FFF2-40B4-BE49-F238E27FC236}">
                  <a16:creationId xmlns:a16="http://schemas.microsoft.com/office/drawing/2014/main" id="{8C922F4B-E502-CCC7-CEC6-5B458308008C}"/>
                </a:ext>
              </a:extLst>
            </p:cNvPr>
            <p:cNvGrpSpPr/>
            <p:nvPr/>
          </p:nvGrpSpPr>
          <p:grpSpPr>
            <a:xfrm>
              <a:off x="6502156" y="4653653"/>
              <a:ext cx="1417120" cy="1396958"/>
              <a:chOff x="6287222" y="4592842"/>
              <a:chExt cx="1417120" cy="1396958"/>
            </a:xfrm>
          </p:grpSpPr>
          <p:sp>
            <p:nvSpPr>
              <p:cNvPr id="37" name="Oval 36">
                <a:extLst>
                  <a:ext uri="{FF2B5EF4-FFF2-40B4-BE49-F238E27FC236}">
                    <a16:creationId xmlns:a16="http://schemas.microsoft.com/office/drawing/2014/main" id="{591B5FAD-AC7F-EC7C-4E0A-809BEF0F8369}"/>
                  </a:ext>
                </a:extLst>
              </p:cNvPr>
              <p:cNvSpPr/>
              <p:nvPr/>
            </p:nvSpPr>
            <p:spPr>
              <a:xfrm>
                <a:off x="6297303" y="4592842"/>
                <a:ext cx="1396958" cy="1396958"/>
              </a:xfrm>
              <a:prstGeom prst="ellipse">
                <a:avLst/>
              </a:prstGeom>
              <a:solidFill>
                <a:srgbClr val="6B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679">
                  <a:latin typeface="Montserrat" panose="00000500000000000000" pitchFamily="50" charset="0"/>
                </a:endParaRPr>
              </a:p>
            </p:txBody>
          </p:sp>
          <p:sp>
            <p:nvSpPr>
              <p:cNvPr id="38" name="TextBox 37">
                <a:extLst>
                  <a:ext uri="{FF2B5EF4-FFF2-40B4-BE49-F238E27FC236}">
                    <a16:creationId xmlns:a16="http://schemas.microsoft.com/office/drawing/2014/main" id="{BCD26BF6-7B08-A417-A6E8-41241440FA46}"/>
                  </a:ext>
                </a:extLst>
              </p:cNvPr>
              <p:cNvSpPr txBox="1"/>
              <p:nvPr/>
            </p:nvSpPr>
            <p:spPr>
              <a:xfrm>
                <a:off x="6287222" y="4775796"/>
                <a:ext cx="1417120" cy="1054828"/>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 CUSTOMS COMPLIANCE</a:t>
                </a:r>
                <a:endParaRPr lang="en-CA" sz="934" b="1" dirty="0">
                  <a:solidFill>
                    <a:schemeClr val="bg1"/>
                  </a:solidFill>
                  <a:latin typeface="Montserrat" panose="00000500000000000000" pitchFamily="50" charset="0"/>
                </a:endParaRPr>
              </a:p>
              <a:p>
                <a:pPr algn="ctr">
                  <a:spcAft>
                    <a:spcPts val="255"/>
                  </a:spcAft>
                </a:pPr>
                <a:r>
                  <a:rPr lang="en-US" sz="722" dirty="0">
                    <a:solidFill>
                      <a:schemeClr val="bg1"/>
                    </a:solidFill>
                    <a:latin typeface="Montserrat" panose="00000500000000000000" pitchFamily="50" charset="0"/>
                  </a:rPr>
                  <a:t>(User: U.S. Customs Broker / Self-filing Importer)</a:t>
                </a:r>
                <a:endParaRPr lang="en-CA" sz="722" dirty="0">
                  <a:solidFill>
                    <a:schemeClr val="bg1"/>
                  </a:solidFill>
                  <a:latin typeface="Montserrat" panose="00000500000000000000" pitchFamily="50" charset="0"/>
                </a:endParaRPr>
              </a:p>
            </p:txBody>
          </p:sp>
        </p:grpSp>
        <p:cxnSp>
          <p:nvCxnSpPr>
            <p:cNvPr id="15" name="Straight Arrow Connector 14">
              <a:extLst>
                <a:ext uri="{FF2B5EF4-FFF2-40B4-BE49-F238E27FC236}">
                  <a16:creationId xmlns:a16="http://schemas.microsoft.com/office/drawing/2014/main" id="{4961885E-21AF-EF96-38D3-FC288ADB48C3}"/>
                </a:ext>
              </a:extLst>
            </p:cNvPr>
            <p:cNvCxnSpPr>
              <a:cxnSpLocks/>
            </p:cNvCxnSpPr>
            <p:nvPr/>
          </p:nvCxnSpPr>
          <p:spPr>
            <a:xfrm flipV="1">
              <a:off x="2777710" y="2228833"/>
              <a:ext cx="0" cy="859536"/>
            </a:xfrm>
            <a:prstGeom prst="straightConnector1">
              <a:avLst/>
            </a:prstGeom>
            <a:ln>
              <a:solidFill>
                <a:srgbClr val="6B748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57">
              <a:extLst>
                <a:ext uri="{FF2B5EF4-FFF2-40B4-BE49-F238E27FC236}">
                  <a16:creationId xmlns:a16="http://schemas.microsoft.com/office/drawing/2014/main" id="{74EFA972-4167-72D8-E4C8-BD5410D33CAE}"/>
                </a:ext>
              </a:extLst>
            </p:cNvPr>
            <p:cNvCxnSpPr>
              <a:cxnSpLocks/>
              <a:stCxn id="50" idx="3"/>
              <a:endCxn id="53" idx="1"/>
            </p:cNvCxnSpPr>
            <p:nvPr/>
          </p:nvCxnSpPr>
          <p:spPr>
            <a:xfrm flipV="1">
              <a:off x="3096218" y="3299080"/>
              <a:ext cx="482876" cy="464140"/>
            </a:xfrm>
            <a:prstGeom prst="bentConnector3">
              <a:avLst>
                <a:gd name="adj1" fmla="val 73901"/>
              </a:avLst>
            </a:prstGeom>
            <a:ln w="6350">
              <a:solidFill>
                <a:srgbClr val="6B7489"/>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4E5BA54-2B2A-3A18-890F-282AC52C99FC}"/>
                </a:ext>
              </a:extLst>
            </p:cNvPr>
            <p:cNvSpPr txBox="1"/>
            <p:nvPr/>
          </p:nvSpPr>
          <p:spPr>
            <a:xfrm>
              <a:off x="1567653" y="5072323"/>
              <a:ext cx="1394918" cy="585235"/>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 CRM</a:t>
              </a:r>
            </a:p>
            <a:p>
              <a:pPr algn="ctr">
                <a:spcAft>
                  <a:spcPts val="255"/>
                </a:spcAft>
              </a:pPr>
              <a:r>
                <a:rPr lang="en-US" sz="722" dirty="0">
                  <a:solidFill>
                    <a:schemeClr val="bg1"/>
                  </a:solidFill>
                  <a:latin typeface="Montserrat" panose="00000500000000000000" pitchFamily="50" charset="0"/>
                </a:rPr>
                <a:t>(User: Sales Rep, Management)</a:t>
              </a:r>
            </a:p>
          </p:txBody>
        </p:sp>
        <p:sp>
          <p:nvSpPr>
            <p:cNvPr id="29" name="TextBox 28">
              <a:extLst>
                <a:ext uri="{FF2B5EF4-FFF2-40B4-BE49-F238E27FC236}">
                  <a16:creationId xmlns:a16="http://schemas.microsoft.com/office/drawing/2014/main" id="{7A315367-18B6-9558-D98D-571FAE4513EB}"/>
                </a:ext>
              </a:extLst>
            </p:cNvPr>
            <p:cNvSpPr txBox="1"/>
            <p:nvPr/>
          </p:nvSpPr>
          <p:spPr>
            <a:xfrm>
              <a:off x="9879131" y="4988587"/>
              <a:ext cx="1486943" cy="885482"/>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 INSURANCE</a:t>
              </a:r>
            </a:p>
            <a:p>
              <a:pPr algn="ctr">
                <a:spcAft>
                  <a:spcPts val="255"/>
                </a:spcAft>
              </a:pPr>
              <a:r>
                <a:rPr lang="en-US" sz="722" dirty="0">
                  <a:solidFill>
                    <a:schemeClr val="bg1"/>
                  </a:solidFill>
                  <a:latin typeface="Montserrat" panose="00000500000000000000" pitchFamily="50" charset="0"/>
                </a:rPr>
                <a:t>(User: Freight Forwarder / </a:t>
              </a:r>
              <a:r>
                <a:rPr lang="en-US" sz="722" dirty="0" err="1">
                  <a:solidFill>
                    <a:schemeClr val="bg1"/>
                  </a:solidFill>
                  <a:latin typeface="Montserrat" panose="00000500000000000000" pitchFamily="50" charset="0"/>
                </a:rPr>
                <a:t>NVOCC</a:t>
              </a:r>
              <a:r>
                <a:rPr lang="en-US" sz="722" dirty="0">
                  <a:solidFill>
                    <a:schemeClr val="bg1"/>
                  </a:solidFill>
                  <a:latin typeface="Montserrat" panose="00000500000000000000" pitchFamily="50" charset="0"/>
                </a:rPr>
                <a:t> / 3PL)</a:t>
              </a:r>
              <a:endParaRPr lang="en-CA" sz="722" dirty="0">
                <a:solidFill>
                  <a:schemeClr val="bg1"/>
                </a:solidFill>
                <a:latin typeface="Montserrat" panose="00000500000000000000" pitchFamily="50" charset="0"/>
              </a:endParaRPr>
            </a:p>
          </p:txBody>
        </p:sp>
        <p:cxnSp>
          <p:nvCxnSpPr>
            <p:cNvPr id="20" name="Straight Arrow Connector 19">
              <a:extLst>
                <a:ext uri="{FF2B5EF4-FFF2-40B4-BE49-F238E27FC236}">
                  <a16:creationId xmlns:a16="http://schemas.microsoft.com/office/drawing/2014/main" id="{0A619A21-AF92-2415-24CB-324AA010FBC5}"/>
                </a:ext>
              </a:extLst>
            </p:cNvPr>
            <p:cNvCxnSpPr>
              <a:cxnSpLocks/>
            </p:cNvCxnSpPr>
            <p:nvPr/>
          </p:nvCxnSpPr>
          <p:spPr>
            <a:xfrm flipV="1">
              <a:off x="6506373" y="4550866"/>
              <a:ext cx="0" cy="365760"/>
            </a:xfrm>
            <a:prstGeom prst="straightConnector1">
              <a:avLst/>
            </a:prstGeom>
            <a:ln>
              <a:solidFill>
                <a:srgbClr val="6B748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CC9F0FB-44D0-4E6C-41EC-C595FBB102EC}"/>
                </a:ext>
              </a:extLst>
            </p:cNvPr>
            <p:cNvCxnSpPr>
              <a:cxnSpLocks/>
            </p:cNvCxnSpPr>
            <p:nvPr/>
          </p:nvCxnSpPr>
          <p:spPr>
            <a:xfrm flipV="1">
              <a:off x="8200347" y="4550866"/>
              <a:ext cx="0" cy="365760"/>
            </a:xfrm>
            <a:prstGeom prst="straightConnector1">
              <a:avLst/>
            </a:prstGeom>
            <a:ln>
              <a:solidFill>
                <a:srgbClr val="6B7489"/>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CEEAFE43-88FC-4A43-B0C3-922896B7877F}"/>
                </a:ext>
              </a:extLst>
            </p:cNvPr>
            <p:cNvGrpSpPr/>
            <p:nvPr/>
          </p:nvGrpSpPr>
          <p:grpSpPr>
            <a:xfrm>
              <a:off x="767434" y="1360650"/>
              <a:ext cx="1536192" cy="1536192"/>
              <a:chOff x="508110" y="1209724"/>
              <a:chExt cx="1536192" cy="1536192"/>
            </a:xfrm>
          </p:grpSpPr>
          <p:sp>
            <p:nvSpPr>
              <p:cNvPr id="26" name="Oval 25">
                <a:extLst>
                  <a:ext uri="{FF2B5EF4-FFF2-40B4-BE49-F238E27FC236}">
                    <a16:creationId xmlns:a16="http://schemas.microsoft.com/office/drawing/2014/main" id="{7098F0CB-4030-00CA-2BBB-DC430E095FA7}"/>
                  </a:ext>
                </a:extLst>
              </p:cNvPr>
              <p:cNvSpPr/>
              <p:nvPr/>
            </p:nvSpPr>
            <p:spPr>
              <a:xfrm>
                <a:off x="508110" y="1209724"/>
                <a:ext cx="1536192" cy="1536192"/>
              </a:xfrm>
              <a:prstGeom prst="ellipse">
                <a:avLst/>
              </a:prstGeom>
              <a:solidFill>
                <a:srgbClr val="001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188"/>
              </a:p>
            </p:txBody>
          </p:sp>
          <p:sp>
            <p:nvSpPr>
              <p:cNvPr id="27" name="TextBox 26">
                <a:extLst>
                  <a:ext uri="{FF2B5EF4-FFF2-40B4-BE49-F238E27FC236}">
                    <a16:creationId xmlns:a16="http://schemas.microsoft.com/office/drawing/2014/main" id="{8BC33774-E6C7-487F-0DDD-6D63ECDE96F0}"/>
                  </a:ext>
                </a:extLst>
              </p:cNvPr>
              <p:cNvSpPr txBox="1"/>
              <p:nvPr/>
            </p:nvSpPr>
            <p:spPr>
              <a:xfrm>
                <a:off x="519540" y="1535391"/>
                <a:ext cx="1513332" cy="885482"/>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a:t>
                </a:r>
                <a:r>
                  <a:rPr lang="en-CA" sz="934" b="1" dirty="0">
                    <a:solidFill>
                      <a:schemeClr val="bg1"/>
                    </a:solidFill>
                    <a:latin typeface="Montserrat" panose="00000500000000000000" pitchFamily="50" charset="0"/>
                  </a:rPr>
                  <a:t> DIGITAL </a:t>
                </a:r>
                <a:br>
                  <a:rPr lang="en-CA" sz="934" b="1" dirty="0">
                    <a:solidFill>
                      <a:schemeClr val="bg1"/>
                    </a:solidFill>
                    <a:latin typeface="Montserrat" panose="00000500000000000000" pitchFamily="50" charset="0"/>
                  </a:rPr>
                </a:br>
                <a:r>
                  <a:rPr lang="en-CA" sz="934" b="1" dirty="0">
                    <a:solidFill>
                      <a:schemeClr val="bg1"/>
                    </a:solidFill>
                    <a:latin typeface="Montserrat" panose="00000500000000000000" pitchFamily="50" charset="0"/>
                  </a:rPr>
                  <a:t>FREIGHT PORTAL</a:t>
                </a:r>
              </a:p>
              <a:p>
                <a:pPr algn="ctr">
                  <a:spcAft>
                    <a:spcPts val="255"/>
                  </a:spcAft>
                </a:pPr>
                <a:r>
                  <a:rPr lang="en-US" sz="722" dirty="0">
                    <a:solidFill>
                      <a:schemeClr val="bg1"/>
                    </a:solidFill>
                    <a:latin typeface="Montserrat" panose="00000500000000000000" pitchFamily="50" charset="0"/>
                  </a:rPr>
                  <a:t>(User: Shipper / Consignee / Importer / BCO / Agent)</a:t>
                </a:r>
                <a:endParaRPr lang="en-CA" sz="722" dirty="0">
                  <a:solidFill>
                    <a:schemeClr val="bg1"/>
                  </a:solidFill>
                  <a:latin typeface="Montserrat" panose="00000500000000000000" pitchFamily="50" charset="0"/>
                </a:endParaRPr>
              </a:p>
            </p:txBody>
          </p:sp>
        </p:grpSp>
        <p:grpSp>
          <p:nvGrpSpPr>
            <p:cNvPr id="23" name="Group 22">
              <a:extLst>
                <a:ext uri="{FF2B5EF4-FFF2-40B4-BE49-F238E27FC236}">
                  <a16:creationId xmlns:a16="http://schemas.microsoft.com/office/drawing/2014/main" id="{CAD2039F-F882-FC90-F8BE-ED9344A65269}"/>
                </a:ext>
              </a:extLst>
            </p:cNvPr>
            <p:cNvGrpSpPr/>
            <p:nvPr/>
          </p:nvGrpSpPr>
          <p:grpSpPr>
            <a:xfrm>
              <a:off x="10240547" y="3029011"/>
              <a:ext cx="1502552" cy="1399032"/>
              <a:chOff x="10231669" y="2984621"/>
              <a:chExt cx="1502552" cy="1399032"/>
            </a:xfrm>
          </p:grpSpPr>
          <p:sp>
            <p:nvSpPr>
              <p:cNvPr id="24" name="Oval 23">
                <a:extLst>
                  <a:ext uri="{FF2B5EF4-FFF2-40B4-BE49-F238E27FC236}">
                    <a16:creationId xmlns:a16="http://schemas.microsoft.com/office/drawing/2014/main" id="{83AE1689-7F84-3238-8F99-48AAFFA31A6C}"/>
                  </a:ext>
                </a:extLst>
              </p:cNvPr>
              <p:cNvSpPr/>
              <p:nvPr/>
            </p:nvSpPr>
            <p:spPr>
              <a:xfrm>
                <a:off x="10283429" y="2984621"/>
                <a:ext cx="1399032" cy="1399032"/>
              </a:xfrm>
              <a:prstGeom prst="ellipse">
                <a:avLst/>
              </a:prstGeom>
              <a:solidFill>
                <a:srgbClr val="6B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188"/>
              </a:p>
            </p:txBody>
          </p:sp>
          <p:sp>
            <p:nvSpPr>
              <p:cNvPr id="25" name="TextBox 24">
                <a:extLst>
                  <a:ext uri="{FF2B5EF4-FFF2-40B4-BE49-F238E27FC236}">
                    <a16:creationId xmlns:a16="http://schemas.microsoft.com/office/drawing/2014/main" id="{71CF090E-F578-7414-3CF6-2F1DB33E3524}"/>
                  </a:ext>
                </a:extLst>
              </p:cNvPr>
              <p:cNvSpPr txBox="1"/>
              <p:nvPr/>
            </p:nvSpPr>
            <p:spPr>
              <a:xfrm>
                <a:off x="10231669" y="3318653"/>
                <a:ext cx="1502552" cy="885482"/>
              </a:xfrm>
              <a:prstGeom prst="rect">
                <a:avLst/>
              </a:prstGeom>
              <a:noFill/>
            </p:spPr>
            <p:txBody>
              <a:bodyPr wrap="square" rtlCol="0">
                <a:spAutoFit/>
              </a:bodyPr>
              <a:lstStyle/>
              <a:p>
                <a:pPr algn="ctr">
                  <a:spcAft>
                    <a:spcPts val="255"/>
                  </a:spcAft>
                </a:pPr>
                <a:r>
                  <a:rPr lang="en-US" sz="934" b="1" dirty="0">
                    <a:solidFill>
                      <a:schemeClr val="bg1"/>
                    </a:solidFill>
                    <a:latin typeface="Montserrat" panose="00000500000000000000" pitchFamily="50" charset="0"/>
                  </a:rPr>
                  <a:t>MAGAYA </a:t>
                </a:r>
                <a:br>
                  <a:rPr lang="en-US" sz="934" b="1" dirty="0">
                    <a:solidFill>
                      <a:schemeClr val="bg1"/>
                    </a:solidFill>
                    <a:latin typeface="Montserrat" panose="00000500000000000000" pitchFamily="50" charset="0"/>
                  </a:rPr>
                </a:br>
                <a:r>
                  <a:rPr lang="en-US" sz="934" b="1" dirty="0">
                    <a:solidFill>
                      <a:schemeClr val="bg1"/>
                    </a:solidFill>
                    <a:latin typeface="Montserrat" panose="00000500000000000000" pitchFamily="50" charset="0"/>
                  </a:rPr>
                  <a:t>SUPPLY CHAIN</a:t>
                </a:r>
              </a:p>
              <a:p>
                <a:pPr algn="ctr">
                  <a:spcAft>
                    <a:spcPts val="255"/>
                  </a:spcAft>
                </a:pPr>
                <a:r>
                  <a:rPr lang="en-US" sz="722" dirty="0">
                    <a:solidFill>
                      <a:schemeClr val="bg1"/>
                    </a:solidFill>
                    <a:latin typeface="Montserrat" panose="00000500000000000000" pitchFamily="50" charset="0"/>
                  </a:rPr>
                  <a:t>(User: Freight Forwarder / NVOCC / 3PL)</a:t>
                </a:r>
                <a:endParaRPr lang="en-CA" sz="722" dirty="0">
                  <a:solidFill>
                    <a:schemeClr val="bg1"/>
                  </a:solidFill>
                  <a:latin typeface="Montserrat" panose="00000500000000000000" pitchFamily="50" charset="0"/>
                </a:endParaRPr>
              </a:p>
            </p:txBody>
          </p:sp>
        </p:grpSp>
      </p:grpSp>
      <p:sp>
        <p:nvSpPr>
          <p:cNvPr id="2" name="object 6"/>
          <p:cNvSpPr txBox="1">
            <a:spLocks/>
          </p:cNvSpPr>
          <p:nvPr/>
        </p:nvSpPr>
        <p:spPr>
          <a:xfrm>
            <a:off x="533400" y="274320"/>
            <a:ext cx="9296400" cy="936154"/>
          </a:xfrm>
          <a:prstGeom prst="rect">
            <a:avLst/>
          </a:prstGeom>
        </p:spPr>
        <p:txBody>
          <a:bodyPr vert="horz" wrap="square" lIns="0" tIns="0" rIns="0" bIns="0" rtlCol="0" anchor="t" anchorCtr="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a:t>
            </a:r>
            <a:r>
              <a:rPr lang="en-CA" sz="3000" b="1" dirty="0">
                <a:latin typeface="Montserrat" panose="00000500000000000000" pitchFamily="50" charset="0"/>
              </a:rPr>
              <a:t> </a:t>
            </a:r>
          </a:p>
          <a:p>
            <a:r>
              <a:rPr lang="en-CA" sz="3000" b="1" dirty="0">
                <a:solidFill>
                  <a:srgbClr val="09A1FF"/>
                </a:solidFill>
                <a:latin typeface="Montserrat" panose="00000500000000000000" pitchFamily="50" charset="0"/>
              </a:rPr>
              <a:t>DIGITAL FREIGHT PLATFORM </a:t>
            </a:r>
            <a:endParaRPr lang="en-US" sz="3000" b="1" kern="0" dirty="0">
              <a:solidFill>
                <a:srgbClr val="09A1FF"/>
              </a:solidFill>
              <a:latin typeface="Montserrat" panose="00000500000000000000" pitchFamily="50" charset="0"/>
            </a:endParaRPr>
          </a:p>
        </p:txBody>
      </p:sp>
    </p:spTree>
    <p:extLst>
      <p:ext uri="{BB962C8B-B14F-4D97-AF65-F5344CB8AC3E}">
        <p14:creationId xmlns:p14="http://schemas.microsoft.com/office/powerpoint/2010/main" val="152405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a:extLst>
              <a:ext uri="{FF2B5EF4-FFF2-40B4-BE49-F238E27FC236}">
                <a16:creationId xmlns:a16="http://schemas.microsoft.com/office/drawing/2014/main" id="{C5CAA35D-3EA2-4183-CB5F-2CD1DAAA6E15}"/>
              </a:ext>
            </a:extLst>
          </p:cNvPr>
          <p:cNvSpPr txBox="1">
            <a:spLocks/>
          </p:cNvSpPr>
          <p:nvPr/>
        </p:nvSpPr>
        <p:spPr>
          <a:xfrm>
            <a:off x="0" y="2209800"/>
            <a:ext cx="10363200" cy="1490152"/>
          </a:xfrm>
          <a:prstGeom prst="rect">
            <a:avLst/>
          </a:prstGeom>
        </p:spPr>
        <p:txBody>
          <a:bodyPr vert="horz" wrap="square" lIns="0" tIns="12700" rIns="0" bIns="0" rtlCol="0">
            <a:spAutoFit/>
          </a:bodyPr>
          <a:lstStyle>
            <a:lvl1pPr>
              <a:defRPr>
                <a:latin typeface="+mj-lt"/>
                <a:ea typeface="+mj-ea"/>
                <a:cs typeface="+mj-cs"/>
              </a:defRPr>
            </a:lvl1pPr>
          </a:lstStyle>
          <a:p>
            <a:pPr algn="ctr"/>
            <a:r>
              <a:rPr lang="en-CA" sz="4800" b="1" dirty="0">
                <a:solidFill>
                  <a:srgbClr val="001691"/>
                </a:solidFill>
                <a:latin typeface="Montserrat" panose="00000500000000000000" pitchFamily="50" charset="0"/>
              </a:rPr>
              <a:t>MAGAYA </a:t>
            </a:r>
            <a:r>
              <a:rPr lang="en-CA" sz="4800" b="1" dirty="0">
                <a:solidFill>
                  <a:srgbClr val="09A1FF"/>
                </a:solidFill>
                <a:latin typeface="Montserrat" panose="00000500000000000000" pitchFamily="50" charset="0"/>
              </a:rPr>
              <a:t>SUPPLY CHAIN</a:t>
            </a:r>
            <a:br>
              <a:rPr lang="en-CA" sz="4800" b="1" dirty="0">
                <a:solidFill>
                  <a:srgbClr val="001691"/>
                </a:solidFill>
                <a:latin typeface="Montserrat" panose="00000500000000000000" pitchFamily="50" charset="0"/>
              </a:rPr>
            </a:br>
            <a:r>
              <a:rPr lang="en-CA" sz="4800" dirty="0">
                <a:solidFill>
                  <a:srgbClr val="383B48"/>
                </a:solidFill>
                <a:latin typeface="Montserrat" panose="00000500000000000000" pitchFamily="50" charset="0"/>
              </a:rPr>
              <a:t>Imports</a:t>
            </a:r>
            <a:endParaRPr lang="en-US" sz="4800" kern="0" dirty="0">
              <a:solidFill>
                <a:srgbClr val="383B48"/>
              </a:solidFill>
              <a:latin typeface="Montserrat" panose="00000500000000000000" pitchFamily="50" charset="0"/>
            </a:endParaRPr>
          </a:p>
        </p:txBody>
      </p:sp>
      <p:pic>
        <p:nvPicPr>
          <p:cNvPr id="3" name="Picture 2">
            <a:extLst>
              <a:ext uri="{FF2B5EF4-FFF2-40B4-BE49-F238E27FC236}">
                <a16:creationId xmlns:a16="http://schemas.microsoft.com/office/drawing/2014/main" id="{453EBC88-A032-C4DA-72E6-7C5DA34D41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087108"/>
            <a:ext cx="4267200" cy="2451507"/>
          </a:xfrm>
          <a:prstGeom prst="rect">
            <a:avLst/>
          </a:prstGeom>
        </p:spPr>
      </p:pic>
    </p:spTree>
    <p:extLst>
      <p:ext uri="{BB962C8B-B14F-4D97-AF65-F5344CB8AC3E}">
        <p14:creationId xmlns:p14="http://schemas.microsoft.com/office/powerpoint/2010/main" val="3293522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3995928" y="3200400"/>
            <a:ext cx="2898648" cy="4268861"/>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Montserrat-SemiBold"/>
              </a:rPr>
              <a:t>FREIGHT QUOTES </a:t>
            </a:r>
          </a:p>
          <a:p>
            <a:pPr>
              <a:lnSpc>
                <a:spcPct val="90000"/>
              </a:lnSpc>
              <a:spcAft>
                <a:spcPts val="600"/>
              </a:spcAft>
            </a:pPr>
            <a:r>
              <a:rPr lang="en-US" sz="1000" dirty="0">
                <a:latin typeface="Open Sans" panose="020B0606030504020204" pitchFamily="34" charset="0"/>
                <a:cs typeface="Open Sans" panose="020B0606030504020204" pitchFamily="34" charset="0"/>
              </a:rPr>
              <a:t>Magaya Rate Management integration makes it easy to create bookings, pickup orders, warehouse receipts, shipments, invoices from quotes.</a:t>
            </a:r>
          </a:p>
          <a:p>
            <a:pPr>
              <a:lnSpc>
                <a:spcPct val="90000"/>
              </a:lnSpc>
              <a:spcAft>
                <a:spcPts val="600"/>
              </a:spcAft>
            </a:pPr>
            <a:r>
              <a:rPr lang="en-US" sz="1000" dirty="0">
                <a:latin typeface="Open Sans" panose="020B0606030504020204" pitchFamily="34" charset="0"/>
                <a:cs typeface="Open Sans" panose="020B0606030504020204" pitchFamily="34" charset="0"/>
              </a:rPr>
              <a:t>Leverage the best air cargo rates in the market within a single system to supercharge your quoting and procurement process. </a:t>
            </a:r>
          </a:p>
          <a:p>
            <a:pPr>
              <a:lnSpc>
                <a:spcPct val="90000"/>
              </a:lnSpc>
              <a:spcAft>
                <a:spcPts val="600"/>
              </a:spcAft>
            </a:pPr>
            <a:r>
              <a:rPr lang="en-US" sz="1000" dirty="0">
                <a:latin typeface="Open Sans" panose="020B0606030504020204" pitchFamily="34" charset="0"/>
                <a:cs typeface="Open Sans" panose="020B0606030504020204" pitchFamily="34" charset="0"/>
              </a:rPr>
              <a:t>Stay up to date with real-time status and event updates directly from within the events tab of your Magaya Supply Chain booking or shipment.</a:t>
            </a:r>
          </a:p>
          <a:p>
            <a:pPr>
              <a:lnSpc>
                <a:spcPct val="90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PO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Automate replenishment based on Safety Stock and seasonality.</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Calculate the average cost and landed cost, and control backorder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Manage your POs via EDI into inbound shipments in your Magaya system either fully or partially.</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Send your shipments to final destination, cross-docking, or received in your warehouse.</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Provide reports to your customer on a line-item level status of the PO.</a:t>
            </a:r>
          </a:p>
          <a:p>
            <a:pPr>
              <a:lnSpc>
                <a:spcPct val="88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p:txBody>
      </p:sp>
      <p:grpSp>
        <p:nvGrpSpPr>
          <p:cNvPr id="2" name="Group 1"/>
          <p:cNvGrpSpPr/>
          <p:nvPr/>
        </p:nvGrpSpPr>
        <p:grpSpPr>
          <a:xfrm>
            <a:off x="3870960" y="3124200"/>
            <a:ext cx="3063240" cy="4175760"/>
            <a:chOff x="3456432" y="3291840"/>
            <a:chExt cx="3063240" cy="4005072"/>
          </a:xfrm>
        </p:grpSpPr>
        <p:cxnSp>
          <p:nvCxnSpPr>
            <p:cNvPr id="3" name="Straight Connector 2"/>
            <p:cNvCxnSpPr/>
            <p:nvPr/>
          </p:nvCxnSpPr>
          <p:spPr>
            <a:xfrm>
              <a:off x="345643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5196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445131"/>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Accelerate import shipping workflows and save time on manual processes with Magaya. You can also avoid double data entry by creating bookings, pickup orders, warehouse receipts, shipments, and invoices, directly from the quotes feature.</a:t>
            </a:r>
          </a:p>
        </p:txBody>
      </p:sp>
      <p:sp>
        <p:nvSpPr>
          <p:cNvPr id="7" name="object 6"/>
          <p:cNvSpPr txBox="1">
            <a:spLocks/>
          </p:cNvSpPr>
          <p:nvPr/>
        </p:nvSpPr>
        <p:spPr>
          <a:xfrm>
            <a:off x="523875" y="2026131"/>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20" dirty="0">
                <a:solidFill>
                  <a:srgbClr val="000000"/>
                </a:solidFill>
                <a:latin typeface="Open Sans" panose="020B0606030504020204" pitchFamily="34" charset="0"/>
                <a:ea typeface="Open Sans" panose="020B0606030504020204" pitchFamily="34" charset="0"/>
                <a:cs typeface="Open Sans" panose="020B0606030504020204" pitchFamily="34" charset="0"/>
              </a:rPr>
              <a:t>Streamline, automate, and optimize the Purchase Order process, ensuring that you start the import process on the right foot</a:t>
            </a:r>
          </a:p>
          <a:p>
            <a:pPr marL="171450" indent="-171450">
              <a:spcAft>
                <a:spcPts val="300"/>
              </a:spcAft>
              <a:buClr>
                <a:srgbClr val="09A1FF"/>
              </a:buClr>
              <a:buFont typeface="Arial" panose="020B0604020202020204" pitchFamily="34" charset="0"/>
              <a:buChar char="•"/>
            </a:pPr>
            <a:r>
              <a:rPr lang="en-US" sz="1100" spc="-20" dirty="0">
                <a:solidFill>
                  <a:srgbClr val="000000"/>
                </a:solidFill>
                <a:latin typeface="Open Sans" panose="020B0606030504020204" pitchFamily="34" charset="0"/>
                <a:ea typeface="Open Sans" panose="020B0606030504020204" pitchFamily="34" charset="0"/>
                <a:cs typeface="Open Sans" panose="020B0606030504020204" pitchFamily="34" charset="0"/>
              </a:rPr>
              <a:t>Seamless workflows dedicated to transfer all important documents and processes for your import tasks</a:t>
            </a:r>
          </a:p>
          <a:p>
            <a:pPr marL="171450" indent="-171450">
              <a:spcAft>
                <a:spcPts val="600"/>
              </a:spcAft>
              <a:buClr>
                <a:srgbClr val="09A1FF"/>
              </a:buClr>
              <a:buFont typeface="Arial" panose="020B0604020202020204" pitchFamily="34" charset="0"/>
              <a:buChar char="•"/>
            </a:pPr>
            <a:r>
              <a:rPr lang="en-US" sz="1100" spc="-5" dirty="0">
                <a:solidFill>
                  <a:srgbClr val="000000"/>
                </a:solidFill>
                <a:latin typeface="Open Sans" panose="020B0606030504020204" pitchFamily="34" charset="0"/>
                <a:cs typeface="Open Sans" panose="020B0606030504020204" pitchFamily="34" charset="0"/>
              </a:rPr>
              <a:t>Streamline operations with all data stored in a single system, allowing for up-to-date information on all tasks</a:t>
            </a:r>
          </a:p>
        </p:txBody>
      </p:sp>
      <p:sp>
        <p:nvSpPr>
          <p:cNvPr id="10" name="object 9"/>
          <p:cNvSpPr txBox="1"/>
          <p:nvPr/>
        </p:nvSpPr>
        <p:spPr>
          <a:xfrm>
            <a:off x="612649" y="3202577"/>
            <a:ext cx="3197352" cy="4385816"/>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Montserrat-SemiBold"/>
              </a:rPr>
              <a:t>BOOKINGS &amp; SHIPMENTS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bookings or shipments for export, import, or domestic transactions.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Access workflows for air, ocean, or ground shipments.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Manage consolidations, LCL, FCL.</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Handle inbound shipments, including on-hand cargo directly into warehouse receipts for storage, release,  cross-docking, or last-mile delivery.</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Accept online booking requests from your customers via the LiveTrack Mobile App by Magaya.</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Receive booking requests and shipping instructions via INTTRA.</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Track all your containers with the Container Tracking extension, receiving updates through events in your Magaya system, Magaya Digital Freight Portal and LiveTrack Mobile App.</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Get cargo insurance directly on the shipment in Magaya.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shipments and print labels with FedEx, UPS, USPS directly from the system.</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Take advantage of hundreds of industry-standard  shipping document templates.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Liquidate shipments (create accounting transactions) for entire consolidations with one click.</a:t>
            </a:r>
          </a:p>
          <a:p>
            <a:pPr>
              <a:lnSpc>
                <a:spcPct val="90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p:txBody>
      </p:sp>
      <p:sp>
        <p:nvSpPr>
          <p:cNvPr id="13"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Imports</a:t>
            </a:r>
            <a:endParaRPr lang="en-US" kern="0" dirty="0">
              <a:solidFill>
                <a:srgbClr val="383B48"/>
              </a:solidFill>
              <a:latin typeface="Montserrat" panose="00000500000000000000" pitchFamily="50" charset="0"/>
            </a:endParaRPr>
          </a:p>
        </p:txBody>
      </p:sp>
      <p:sp>
        <p:nvSpPr>
          <p:cNvPr id="14" name="object 9">
            <a:extLst>
              <a:ext uri="{FF2B5EF4-FFF2-40B4-BE49-F238E27FC236}">
                <a16:creationId xmlns:a16="http://schemas.microsoft.com/office/drawing/2014/main" id="{6E3086A5-E6D9-9255-1468-3D6E8BED6B41}"/>
              </a:ext>
            </a:extLst>
          </p:cNvPr>
          <p:cNvSpPr txBox="1"/>
          <p:nvPr/>
        </p:nvSpPr>
        <p:spPr>
          <a:xfrm>
            <a:off x="7083552" y="3200400"/>
            <a:ext cx="2746248" cy="3599447"/>
          </a:xfrm>
          <a:prstGeom prst="rect">
            <a:avLst/>
          </a:prstGeom>
        </p:spPr>
        <p:txBody>
          <a:bodyPr vert="horz" wrap="square" lIns="0" tIns="0" rIns="0" bIns="0" rtlCol="0">
            <a:spAutoFit/>
          </a:bodyPr>
          <a:lstStyle/>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PICK-UP ORDER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Facilitate local pickups or drayage.</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Send pickup tasks to drivers, capture pictures and signatures, via the Final Mile app.</a:t>
            </a:r>
          </a:p>
          <a:p>
            <a:pPr>
              <a:lnSpc>
                <a:spcPct val="88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lnSpc>
                <a:spcPct val="95000"/>
              </a:lnSpc>
              <a:spcAft>
                <a:spcPts val="600"/>
              </a:spcAft>
            </a:pPr>
            <a:r>
              <a:rPr lang="en-US" sz="1000" b="1" dirty="0">
                <a:solidFill>
                  <a:srgbClr val="001691"/>
                </a:solidFill>
                <a:latin typeface="Montserrat" panose="00000500000000000000" pitchFamily="50" charset="0"/>
                <a:cs typeface="Open Sans" panose="020B0606030504020204" pitchFamily="34" charset="0"/>
              </a:rPr>
              <a:t>ACCOUNTING</a:t>
            </a:r>
          </a:p>
          <a:p>
            <a:pPr>
              <a:lnSpc>
                <a:spcPct val="95000"/>
              </a:lnSpc>
            </a:pPr>
            <a:r>
              <a:rPr lang="en-US" sz="1000" b="1" dirty="0">
                <a:latin typeface="Open Sans" panose="020B0606030504020204" pitchFamily="34" charset="0"/>
                <a:cs typeface="Open Sans" panose="020B0606030504020204" pitchFamily="34" charset="0"/>
              </a:rPr>
              <a:t>Integrated Operations and Accounting</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Liquidate operations (create accounting transactions) with one click.</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Invoices and bills stay linked to operations and display reference info.</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View profit and loss by operation.</a:t>
            </a:r>
          </a:p>
          <a:p>
            <a:pPr>
              <a:lnSpc>
                <a:spcPct val="95000"/>
              </a:lnSpc>
            </a:pPr>
            <a:r>
              <a:rPr lang="en-US" sz="1000" dirty="0">
                <a:solidFill>
                  <a:srgbClr val="000000"/>
                </a:solidFill>
                <a:latin typeface="Open Sans" panose="020B0606030504020204" pitchFamily="34" charset="0"/>
                <a:cs typeface="Open Sans" panose="020B0606030504020204" pitchFamily="34" charset="0"/>
              </a:rPr>
              <a:t>Accounting integration with the QuickBooks Online extension</a:t>
            </a:r>
          </a:p>
          <a:p>
            <a:pPr>
              <a:lnSpc>
                <a:spcPct val="95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95000"/>
              </a:lnSpc>
            </a:pPr>
            <a:r>
              <a:rPr lang="en-US" sz="1000" b="1" dirty="0">
                <a:latin typeface="Open Sans" panose="020B0606030504020204" pitchFamily="34" charset="0"/>
                <a:cs typeface="Open Sans" panose="020B0606030504020204" pitchFamily="34" charset="0"/>
              </a:rPr>
              <a:t>Online Payments</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Receive online payments via First Data and </a:t>
            </a:r>
            <a:r>
              <a:rPr lang="en-US" sz="1000" dirty="0">
                <a:solidFill>
                  <a:srgbClr val="383B48"/>
                </a:solidFill>
                <a:latin typeface="Open Sans" panose="020B0606030504020204" pitchFamily="34" charset="0"/>
                <a:cs typeface="Open Sans" panose="020B0606030504020204" pitchFamily="34" charset="0"/>
              </a:rPr>
              <a:t>Veem</a:t>
            </a:r>
          </a:p>
          <a:p>
            <a:pPr>
              <a:lnSpc>
                <a:spcPct val="110000"/>
              </a:lnSpc>
              <a:spcAft>
                <a:spcPts val="600"/>
              </a:spcAft>
            </a:pPr>
            <a:br>
              <a:rPr lang="en-US" sz="1000" dirty="0">
                <a:solidFill>
                  <a:srgbClr val="000000"/>
                </a:solidFill>
                <a:latin typeface="Open Sans" panose="020B0606030504020204" pitchFamily="34" charset="0"/>
                <a:cs typeface="Open Sans" panose="020B0606030504020204" pitchFamily="34" charset="0"/>
              </a:rPr>
            </a:br>
            <a:endParaRPr lang="en-US" sz="1000" dirty="0">
              <a:solidFill>
                <a:srgbClr val="000000"/>
              </a:solidFill>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1935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81400" y="3505200"/>
            <a:ext cx="3063240" cy="3794760"/>
            <a:chOff x="3456432" y="3291840"/>
            <a:chExt cx="3063240" cy="4005072"/>
          </a:xfrm>
        </p:grpSpPr>
        <p:cxnSp>
          <p:nvCxnSpPr>
            <p:cNvPr id="3" name="Straight Connector 2"/>
            <p:cNvCxnSpPr/>
            <p:nvPr/>
          </p:nvCxnSpPr>
          <p:spPr>
            <a:xfrm>
              <a:off x="345643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5196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47184" y="1600200"/>
            <a:ext cx="9296400" cy="553998"/>
          </a:xfrm>
          <a:prstGeom prst="rect">
            <a:avLst/>
          </a:prstGeom>
        </p:spPr>
        <p:txBody>
          <a:bodyPr vert="horz" wrap="square" lIns="0" tIns="0" rIns="0" bIns="0" rtlCol="0">
            <a:spAutoFit/>
          </a:bodyPr>
          <a:lstStyle/>
          <a:p>
            <a:pPr algn="l" rtl="0" fontAlgn="base"/>
            <a:r>
              <a:rPr lang="en-US" sz="1200" b="0" i="0" dirty="0">
                <a:solidFill>
                  <a:srgbClr val="383B48"/>
                </a:solidFill>
                <a:effectLst/>
                <a:latin typeface="Open Sans" panose="020B0606030504020204" pitchFamily="34" charset="0"/>
                <a:ea typeface="Open Sans" panose="020B0606030504020204" pitchFamily="34" charset="0"/>
                <a:cs typeface="Open Sans" panose="020B0606030504020204" pitchFamily="34" charset="0"/>
              </a:rPr>
              <a:t>With direct connections to U.S. CBP via Magaya Customs Compliance, an ACE-certified ABI solution, Magaya Supply Chain streamlines </a:t>
            </a:r>
            <a:r>
              <a:rPr lang="en-US" sz="1200" dirty="0">
                <a:solidFill>
                  <a:srgbClr val="383B48"/>
                </a:solidFill>
                <a:latin typeface="Open Sans" panose="020B0606030504020204" pitchFamily="34" charset="0"/>
                <a:ea typeface="Open Sans" panose="020B0606030504020204" pitchFamily="34" charset="0"/>
                <a:cs typeface="Open Sans" panose="020B0606030504020204" pitchFamily="34" charset="0"/>
              </a:rPr>
              <a:t>your import processes by giving you the ability to file all your important customs documentation all within a single system of record. </a:t>
            </a:r>
            <a:endParaRPr lang="en-US" sz="1200" spc="-20" dirty="0">
              <a:solidFill>
                <a:srgbClr val="383B48"/>
              </a:solidFill>
              <a:highlight>
                <a:srgbClr val="FFFF00"/>
              </a:highlight>
              <a:latin typeface="Open Sans" panose="020B0606030504020204" pitchFamily="34" charset="0"/>
              <a:ea typeface="Open Sans" panose="020B0606030504020204" pitchFamily="34" charset="0"/>
              <a:cs typeface="Open Sans" panose="020B0606030504020204" pitchFamily="34" charset="0"/>
            </a:endParaRPr>
          </a:p>
        </p:txBody>
      </p:sp>
      <p:sp>
        <p:nvSpPr>
          <p:cNvPr id="7" name="object 6"/>
          <p:cNvSpPr txBox="1">
            <a:spLocks/>
          </p:cNvSpPr>
          <p:nvPr/>
        </p:nvSpPr>
        <p:spPr>
          <a:xfrm>
            <a:off x="523875" y="2358807"/>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20" dirty="0">
                <a:latin typeface="Open Sans" panose="020B0606030504020204" pitchFamily="34" charset="0"/>
                <a:ea typeface="Open Sans" panose="020B0606030504020204" pitchFamily="34" charset="0"/>
                <a:cs typeface="Open Sans" panose="020B0606030504020204" pitchFamily="34" charset="0"/>
              </a:rPr>
              <a:t>Eliminate double data entry and stay in compliance with U.S. customs integrations</a:t>
            </a:r>
          </a:p>
          <a:p>
            <a:pPr marL="171450" indent="-171450">
              <a:spcAft>
                <a:spcPts val="300"/>
              </a:spcAft>
              <a:buClr>
                <a:srgbClr val="09A1FF"/>
              </a:buClr>
              <a:buFont typeface="Arial" panose="020B0604020202020204" pitchFamily="34" charset="0"/>
              <a:buChar char="•"/>
            </a:pPr>
            <a:r>
              <a:rPr lang="en-US" sz="1100" spc="-20" dirty="0">
                <a:latin typeface="Open Sans" panose="020B0606030504020204" pitchFamily="34" charset="0"/>
                <a:ea typeface="Open Sans" panose="020B0606030504020204" pitchFamily="34" charset="0"/>
                <a:cs typeface="Open Sans" panose="020B0606030504020204" pitchFamily="34" charset="0"/>
              </a:rPr>
              <a:t>Navigate customs and trade requirements quickly and easily, all from a single platform</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Streamline operations with all data stored in a single system, allowing for up-to-date information on all tasks</a:t>
            </a:r>
          </a:p>
        </p:txBody>
      </p:sp>
      <p:sp>
        <p:nvSpPr>
          <p:cNvPr id="8" name="object 9"/>
          <p:cNvSpPr txBox="1"/>
          <p:nvPr/>
        </p:nvSpPr>
        <p:spPr>
          <a:xfrm>
            <a:off x="3733800" y="3581401"/>
            <a:ext cx="2895600" cy="3684085"/>
          </a:xfrm>
          <a:prstGeom prst="rect">
            <a:avLst/>
          </a:prstGeom>
        </p:spPr>
        <p:txBody>
          <a:bodyPr vert="horz" wrap="square" lIns="0" tIns="0" rIns="0" bIns="0" rtlCol="0">
            <a:spAutoFit/>
          </a:bodyPr>
          <a:lstStyle/>
          <a:p>
            <a:pPr>
              <a:lnSpc>
                <a:spcPct val="110000"/>
              </a:lnSpc>
              <a:spcAft>
                <a:spcPts val="600"/>
              </a:spcAft>
            </a:pPr>
            <a:r>
              <a:rPr lang="en-US" sz="1000" b="1" dirty="0">
                <a:solidFill>
                  <a:srgbClr val="001691"/>
                </a:solidFill>
                <a:latin typeface="Montserrat" panose="00000500000000000000" pitchFamily="50" charset="0"/>
                <a:cs typeface="Open Sans" panose="020B0606030504020204" pitchFamily="34" charset="0"/>
              </a:rPr>
              <a:t>ISF</a:t>
            </a:r>
            <a:endParaRPr lang="en-US" sz="1000" dirty="0">
              <a:solidFill>
                <a:srgbClr val="001691"/>
              </a:solidFill>
              <a:latin typeface="Open Sans" panose="020B0606030504020204" pitchFamily="34" charset="0"/>
              <a:cs typeface="Open Sans" panose="020B0606030504020204" pitchFamily="34" charset="0"/>
            </a:endParaRPr>
          </a:p>
          <a:p>
            <a:pPr>
              <a:lnSpc>
                <a:spcPct val="110000"/>
              </a:lnSpc>
            </a:pPr>
            <a:r>
              <a:rPr lang="en-US" sz="1000" dirty="0">
                <a:solidFill>
                  <a:srgbClr val="383B48"/>
                </a:solidFill>
                <a:latin typeface="Open Sans" panose="020B0606030504020204" pitchFamily="34" charset="0"/>
                <a:cs typeface="Open Sans" panose="020B0606030504020204" pitchFamily="34" charset="0"/>
              </a:rPr>
              <a:t>For importers, Magaya ISF (Importer Security Filing) facilitates sending information to U.S. Customs and Border Protection (CBP) before the cargo is brought into the U.S. by vessel.</a:t>
            </a:r>
          </a:p>
          <a:p>
            <a:pPr>
              <a:lnSpc>
                <a:spcPct val="110000"/>
              </a:lnSpc>
            </a:pPr>
            <a:endParaRPr lang="en-US" sz="1000" dirty="0">
              <a:solidFill>
                <a:srgbClr val="383B48"/>
              </a:solidFill>
              <a:latin typeface="Open Sans" panose="020B0606030504020204" pitchFamily="34" charset="0"/>
              <a:cs typeface="Open Sans" panose="020B0606030504020204" pitchFamily="34" charset="0"/>
            </a:endParaRPr>
          </a:p>
          <a:p>
            <a:pPr>
              <a:lnSpc>
                <a:spcPct val="110000"/>
              </a:lnSpc>
              <a:spcAft>
                <a:spcPts val="600"/>
              </a:spcAft>
            </a:pPr>
            <a:r>
              <a:rPr lang="en-US" sz="1000" b="1" dirty="0">
                <a:solidFill>
                  <a:srgbClr val="001691"/>
                </a:solidFill>
                <a:latin typeface="Montserrat" panose="00000500000000000000" pitchFamily="50" charset="0"/>
                <a:cs typeface="Montserrat-SemiBold"/>
              </a:rPr>
              <a:t>AUTOMATED MANIFEST SYSTEM (AMS) </a:t>
            </a:r>
            <a:br>
              <a:rPr lang="en-US" sz="1000" b="1" dirty="0">
                <a:solidFill>
                  <a:srgbClr val="001691"/>
                </a:solidFill>
                <a:latin typeface="Montserrat" panose="00000500000000000000" pitchFamily="50" charset="0"/>
                <a:cs typeface="Montserrat-SemiBold"/>
              </a:rPr>
            </a:br>
            <a:r>
              <a:rPr lang="en-US" sz="1000" b="1" dirty="0">
                <a:solidFill>
                  <a:srgbClr val="001691"/>
                </a:solidFill>
                <a:latin typeface="Montserrat" panose="00000500000000000000" pitchFamily="50" charset="0"/>
                <a:cs typeface="Montserrat-SemiBold"/>
              </a:rPr>
              <a:t>AIR &amp; OCEAN  </a:t>
            </a:r>
          </a:p>
          <a:p>
            <a:pPr>
              <a:lnSpc>
                <a:spcPct val="110000"/>
              </a:lnSpc>
              <a:spcAft>
                <a:spcPts val="600"/>
              </a:spcAft>
            </a:pPr>
            <a:r>
              <a:rPr lang="en-US" sz="1000" dirty="0">
                <a:solidFill>
                  <a:srgbClr val="383B48"/>
                </a:solidFill>
                <a:latin typeface="Open Sans" panose="020B0606030504020204" pitchFamily="34" charset="0"/>
                <a:cs typeface="Open Sans" panose="020B0606030504020204" pitchFamily="34" charset="0"/>
              </a:rPr>
              <a:t>Comply with Customs’ 24-hour manifest regulation by sending your shipment data to Customs from your Magaya system. </a:t>
            </a:r>
          </a:p>
          <a:p>
            <a:pPr>
              <a:lnSpc>
                <a:spcPct val="110000"/>
              </a:lnSpc>
            </a:pPr>
            <a:r>
              <a:rPr lang="en-US" sz="1000" dirty="0">
                <a:solidFill>
                  <a:srgbClr val="383B48"/>
                </a:solidFill>
                <a:latin typeface="Open Sans" panose="020B0606030504020204" pitchFamily="34" charset="0"/>
                <a:cs typeface="Open Sans" panose="020B0606030504020204" pitchFamily="34" charset="0"/>
              </a:rPr>
              <a:t>Submit the required U.S. Customs information such as the Air Waybill for air import shipments before the shipment arrives in the United States.</a:t>
            </a:r>
          </a:p>
          <a:p>
            <a:pPr>
              <a:lnSpc>
                <a:spcPct val="110000"/>
              </a:lnSpc>
            </a:pPr>
            <a:endParaRPr lang="en-US" sz="1000" dirty="0">
              <a:solidFill>
                <a:srgbClr val="001691"/>
              </a:solidFill>
              <a:latin typeface="Open Sans" panose="020B0606030504020204" pitchFamily="34" charset="0"/>
              <a:cs typeface="Open Sans" panose="020B0606030504020204" pitchFamily="34" charset="0"/>
            </a:endParaRPr>
          </a:p>
          <a:p>
            <a:pPr>
              <a:lnSpc>
                <a:spcPct val="110000"/>
              </a:lnSpc>
              <a:spcAft>
                <a:spcPts val="600"/>
              </a:spcAft>
            </a:pPr>
            <a:r>
              <a:rPr lang="en-US" sz="1000" b="1" dirty="0">
                <a:solidFill>
                  <a:srgbClr val="001691"/>
                </a:solidFill>
                <a:latin typeface="Montserrat" panose="00000500000000000000" pitchFamily="50" charset="0"/>
                <a:cs typeface="Montserrat-SemiBold"/>
              </a:rPr>
              <a:t>CARGO INSURANCE</a:t>
            </a:r>
          </a:p>
          <a:p>
            <a:pPr>
              <a:lnSpc>
                <a:spcPct val="110000"/>
              </a:lnSpc>
            </a:pPr>
            <a:r>
              <a:rPr lang="en-US" sz="1000" dirty="0">
                <a:solidFill>
                  <a:srgbClr val="383B48"/>
                </a:solidFill>
                <a:latin typeface="Open Sans" panose="020B0606030504020204" pitchFamily="34" charset="0"/>
                <a:cs typeface="Open Sans" panose="020B0606030504020204" pitchFamily="34" charset="0"/>
              </a:rPr>
              <a:t>Easily process insurance requests by generating and saving declarations As well as issuing a certificate of insurance directly from the shipment.</a:t>
            </a:r>
          </a:p>
        </p:txBody>
      </p:sp>
      <p:sp>
        <p:nvSpPr>
          <p:cNvPr id="13"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 APPS &amp; EXTENSIONS</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Imports</a:t>
            </a:r>
            <a:endParaRPr lang="en-US" kern="0" dirty="0">
              <a:solidFill>
                <a:srgbClr val="383B48"/>
              </a:solidFill>
              <a:latin typeface="Montserrat" panose="00000500000000000000" pitchFamily="50" charset="0"/>
            </a:endParaRPr>
          </a:p>
        </p:txBody>
      </p:sp>
      <p:sp>
        <p:nvSpPr>
          <p:cNvPr id="11" name="object 9">
            <a:extLst>
              <a:ext uri="{FF2B5EF4-FFF2-40B4-BE49-F238E27FC236}">
                <a16:creationId xmlns:a16="http://schemas.microsoft.com/office/drawing/2014/main" id="{8283255D-DDFA-48FC-4390-1B874A81F282}"/>
              </a:ext>
            </a:extLst>
          </p:cNvPr>
          <p:cNvSpPr txBox="1"/>
          <p:nvPr/>
        </p:nvSpPr>
        <p:spPr>
          <a:xfrm>
            <a:off x="6858000" y="3581400"/>
            <a:ext cx="2895600" cy="3154710"/>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Open Sans" panose="020B0606030504020204" pitchFamily="34" charset="0"/>
              </a:rPr>
              <a:t>CONTAINER TRACKING</a:t>
            </a:r>
          </a:p>
          <a:p>
            <a:pPr algn="l" fontAlgn="base"/>
            <a:r>
              <a:rPr lang="en-US" sz="1000" b="0" i="0" dirty="0">
                <a:solidFill>
                  <a:srgbClr val="383B48"/>
                </a:solidFill>
                <a:effectLst/>
                <a:latin typeface="Open Sans" panose="020B0606030504020204" pitchFamily="34" charset="0"/>
                <a:ea typeface="Open Sans" panose="020B0606030504020204" pitchFamily="34" charset="0"/>
                <a:cs typeface="Open Sans" panose="020B0606030504020204" pitchFamily="34" charset="0"/>
              </a:rPr>
              <a:t>Track your containers worldwide across more than 100 sealines with just one click all </a:t>
            </a:r>
            <a:r>
              <a:rPr lang="en-US" sz="1000" dirty="0">
                <a:solidFill>
                  <a:srgbClr val="383B48"/>
                </a:solidFill>
                <a:latin typeface="Open Sans" panose="020B0606030504020204" pitchFamily="34" charset="0"/>
                <a:ea typeface="Open Sans" panose="020B0606030504020204" pitchFamily="34" charset="0"/>
                <a:cs typeface="Open Sans" panose="020B0606030504020204" pitchFamily="34" charset="0"/>
              </a:rPr>
              <a:t>within your Magaya Supply Chain system, </a:t>
            </a:r>
            <a:r>
              <a:rPr lang="en-US" sz="1000" b="0" i="0" dirty="0">
                <a:solidFill>
                  <a:srgbClr val="383B48"/>
                </a:solidFill>
                <a:effectLst/>
                <a:latin typeface="Open Sans" panose="020B0606030504020204" pitchFamily="34" charset="0"/>
                <a:ea typeface="Open Sans" panose="020B0606030504020204" pitchFamily="34" charset="0"/>
                <a:cs typeface="Open Sans" panose="020B0606030504020204" pitchFamily="34" charset="0"/>
              </a:rPr>
              <a:t>eliminating wasted time and manual processes. </a:t>
            </a:r>
          </a:p>
          <a:p>
            <a:pPr algn="l" fontAlgn="base"/>
            <a:endParaRPr lang="en-US" sz="100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algn="l" fontAlgn="base"/>
            <a:r>
              <a:rPr lang="en-US" sz="1000" dirty="0">
                <a:solidFill>
                  <a:srgbClr val="383B48"/>
                </a:solidFill>
                <a:latin typeface="Open Sans" panose="020B0606030504020204" pitchFamily="34" charset="0"/>
                <a:cs typeface="Open Sans" panose="020B0606030504020204" pitchFamily="34" charset="0"/>
              </a:rPr>
              <a:t>Easily share your tracked containers’ status updates as events in the Magaya Digital Freight Portal or LiveTrack Mobile App by Magaya for full self-serve, 24/7 visibility for your clients.</a:t>
            </a:r>
          </a:p>
          <a:p>
            <a:pPr algn="l" fontAlgn="base"/>
            <a:endParaRPr lang="en-US" sz="1000" dirty="0">
              <a:solidFill>
                <a:srgbClr val="383B48"/>
              </a:solidFill>
              <a:latin typeface="Open Sans" panose="020B0606030504020204" pitchFamily="34" charset="0"/>
              <a:cs typeface="Open Sans" panose="020B0606030504020204" pitchFamily="34" charset="0"/>
            </a:endParaRPr>
          </a:p>
          <a:p>
            <a:pPr>
              <a:lnSpc>
                <a:spcPct val="95000"/>
              </a:lnSpc>
              <a:spcAft>
                <a:spcPts val="600"/>
              </a:spcAft>
            </a:pPr>
            <a:r>
              <a:rPr lang="en-US" sz="1000" b="1" dirty="0">
                <a:solidFill>
                  <a:srgbClr val="001691"/>
                </a:solidFill>
                <a:latin typeface="Montserrat" panose="00000500000000000000" pitchFamily="50" charset="0"/>
                <a:cs typeface="Open Sans" panose="020B0606030504020204" pitchFamily="34" charset="0"/>
              </a:rPr>
              <a:t>PICKUP-DELIVERY ORDERS</a:t>
            </a:r>
          </a:p>
          <a:p>
            <a:pPr>
              <a:lnSpc>
                <a:spcPct val="95000"/>
              </a:lnSpc>
              <a:spcAft>
                <a:spcPts val="600"/>
              </a:spcAft>
            </a:pPr>
            <a:r>
              <a:rPr lang="en-US" sz="1000" dirty="0">
                <a:solidFill>
                  <a:srgbClr val="383B48"/>
                </a:solidFill>
                <a:latin typeface="Open Sans" panose="020B0606030504020204" pitchFamily="34" charset="0"/>
                <a:cs typeface="Open Sans" panose="020B0606030504020204" pitchFamily="34" charset="0"/>
              </a:rPr>
              <a:t>Manage your pickup and delivery charges </a:t>
            </a:r>
          </a:p>
          <a:p>
            <a:pPr>
              <a:lnSpc>
                <a:spcPct val="95000"/>
              </a:lnSpc>
              <a:spcAft>
                <a:spcPts val="600"/>
              </a:spcAft>
            </a:pPr>
            <a:r>
              <a:rPr lang="en-US" sz="1000" dirty="0">
                <a:solidFill>
                  <a:srgbClr val="383B48"/>
                </a:solidFill>
                <a:latin typeface="Open Sans" panose="020B0606030504020204" pitchFamily="34" charset="0"/>
                <a:cs typeface="Open Sans" panose="020B0606030504020204" pitchFamily="34" charset="0"/>
              </a:rPr>
              <a:t>Maintain delivery visibility with the Final Mile app for drivers. Proof of delivery date, time and electronic signatures are captured in real-time.</a:t>
            </a:r>
          </a:p>
          <a:p>
            <a:pPr>
              <a:lnSpc>
                <a:spcPct val="95000"/>
              </a:lnSpc>
              <a:spcAft>
                <a:spcPts val="600"/>
              </a:spcAft>
            </a:pPr>
            <a:r>
              <a:rPr lang="en-US" sz="1000" dirty="0">
                <a:solidFill>
                  <a:srgbClr val="383B48"/>
                </a:solidFill>
                <a:latin typeface="Open Sans" panose="020B0606030504020204" pitchFamily="34" charset="0"/>
                <a:cs typeface="Open Sans" panose="020B0606030504020204" pitchFamily="34" charset="0"/>
              </a:rPr>
              <a:t>Integrate with FEDEX/UPS/USPS, and manage rates, tracking numbers, labels and real- time status updates.</a:t>
            </a:r>
          </a:p>
        </p:txBody>
      </p:sp>
      <p:sp>
        <p:nvSpPr>
          <p:cNvPr id="17" name="object 9">
            <a:extLst>
              <a:ext uri="{FF2B5EF4-FFF2-40B4-BE49-F238E27FC236}">
                <a16:creationId xmlns:a16="http://schemas.microsoft.com/office/drawing/2014/main" id="{A3F5C608-3521-043E-1FF9-D4BF1F30BFDC}"/>
              </a:ext>
            </a:extLst>
          </p:cNvPr>
          <p:cNvSpPr txBox="1"/>
          <p:nvPr/>
        </p:nvSpPr>
        <p:spPr>
          <a:xfrm>
            <a:off x="560832" y="3581400"/>
            <a:ext cx="2895600" cy="3724096"/>
          </a:xfrm>
          <a:prstGeom prst="rect">
            <a:avLst/>
          </a:prstGeom>
        </p:spPr>
        <p:txBody>
          <a:bodyPr vert="horz" wrap="square" lIns="0" tIns="0" rIns="0" bIns="0" rtlCol="0">
            <a:spAutoFit/>
          </a:bodyPr>
          <a:lstStyle/>
          <a:p>
            <a:pPr>
              <a:lnSpc>
                <a:spcPct val="110000"/>
              </a:lnSpc>
              <a:spcAft>
                <a:spcPts val="600"/>
              </a:spcAft>
            </a:pPr>
            <a:r>
              <a:rPr lang="en-US" sz="1000" b="1" dirty="0">
                <a:solidFill>
                  <a:srgbClr val="001691"/>
                </a:solidFill>
                <a:latin typeface="Montserrat" panose="00000500000000000000" pitchFamily="50" charset="0"/>
                <a:cs typeface="Open Sans" panose="020B0606030504020204" pitchFamily="34" charset="0"/>
              </a:rPr>
              <a:t>AMS QUERY </a:t>
            </a:r>
          </a:p>
          <a:p>
            <a:pPr>
              <a:lnSpc>
                <a:spcPct val="110000"/>
              </a:lnSpc>
              <a:spcAft>
                <a:spcPts val="600"/>
              </a:spcAft>
            </a:pPr>
            <a:r>
              <a:rPr lang="en-US" sz="1000" dirty="0">
                <a:solidFill>
                  <a:srgbClr val="000000"/>
                </a:solidFill>
                <a:latin typeface="Open Sans" panose="020B0606030504020204" pitchFamily="34" charset="0"/>
                <a:cs typeface="Open Sans" panose="020B0606030504020204" pitchFamily="34" charset="0"/>
              </a:rPr>
              <a:t>Streamline and simplify the access to your manifest information of your Bill of Lading or Air Waybill, directly from your Magaya system. </a:t>
            </a:r>
          </a:p>
          <a:p>
            <a:pPr>
              <a:lnSpc>
                <a:spcPct val="110000"/>
              </a:lnSpc>
              <a:spcAft>
                <a:spcPts val="600"/>
              </a:spcAft>
            </a:pPr>
            <a:r>
              <a:rPr lang="en-US" sz="1000" dirty="0">
                <a:solidFill>
                  <a:srgbClr val="000000"/>
                </a:solidFill>
                <a:latin typeface="Open Sans" panose="020B0606030504020204" pitchFamily="34" charset="0"/>
                <a:cs typeface="Open Sans" panose="020B0606030504020204" pitchFamily="34" charset="0"/>
              </a:rPr>
              <a:t>Quickly access crucial information for your import operations.</a:t>
            </a:r>
          </a:p>
          <a:p>
            <a:pPr>
              <a:lnSpc>
                <a:spcPct val="110000"/>
              </a:lnSpc>
            </a:pPr>
            <a:r>
              <a:rPr lang="en-US" sz="1000" dirty="0">
                <a:solidFill>
                  <a:srgbClr val="000000"/>
                </a:solidFill>
                <a:latin typeface="Open Sans" panose="020B0606030504020204" pitchFamily="34" charset="0"/>
                <a:cs typeface="Open Sans" panose="020B0606030504020204" pitchFamily="34" charset="0"/>
              </a:rPr>
              <a:t>Understand the correct manifested information in order to match each subsequent filing.</a:t>
            </a:r>
          </a:p>
          <a:p>
            <a:pPr>
              <a:lnSpc>
                <a:spcPct val="110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90000"/>
              </a:lnSpc>
              <a:spcAft>
                <a:spcPts val="600"/>
              </a:spcAft>
            </a:pPr>
            <a:r>
              <a:rPr lang="en-US" sz="1000" b="1" dirty="0">
                <a:solidFill>
                  <a:srgbClr val="001691"/>
                </a:solidFill>
                <a:latin typeface="Montserrat" panose="00000500000000000000" pitchFamily="50" charset="0"/>
                <a:cs typeface="Montserrat-SemiBold"/>
              </a:rPr>
              <a:t>DENIED PARTY SCREENING</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Scan your shipments, entities, countries, vessels against restricted party databases to avoid liability.</a:t>
            </a:r>
            <a:br>
              <a:rPr lang="en-US" sz="1000" dirty="0">
                <a:solidFill>
                  <a:srgbClr val="000000"/>
                </a:solidFill>
                <a:latin typeface="Open Sans" panose="020B0606030504020204" pitchFamily="34" charset="0"/>
                <a:cs typeface="Open Sans" panose="020B0606030504020204" pitchFamily="34" charset="0"/>
              </a:rPr>
            </a:br>
            <a:endParaRPr lang="en-US" sz="1000" dirty="0">
              <a:solidFill>
                <a:srgbClr val="000000"/>
              </a:solidFill>
              <a:latin typeface="Open Sans" panose="020B0606030504020204" pitchFamily="34" charset="0"/>
              <a:cs typeface="Open Sans" panose="020B0606030504020204" pitchFamily="34" charset="0"/>
            </a:endParaRPr>
          </a:p>
          <a:p>
            <a:pPr>
              <a:lnSpc>
                <a:spcPct val="90000"/>
              </a:lnSpc>
              <a:spcAft>
                <a:spcPts val="600"/>
              </a:spcAft>
            </a:pPr>
            <a:r>
              <a:rPr lang="en-US" sz="1000" b="1" dirty="0">
                <a:solidFill>
                  <a:srgbClr val="001691"/>
                </a:solidFill>
                <a:latin typeface="Montserrat" panose="00000500000000000000" pitchFamily="50" charset="0"/>
                <a:cs typeface="Open Sans" panose="020B0606030504020204" pitchFamily="34" charset="0"/>
              </a:rPr>
              <a:t>VIN DECODER</a:t>
            </a:r>
          </a:p>
          <a:p>
            <a:pPr>
              <a:lnSpc>
                <a:spcPct val="90000"/>
              </a:lnSpc>
              <a:spcAft>
                <a:spcPts val="600"/>
              </a:spcAft>
            </a:pPr>
            <a:r>
              <a:rPr lang="en-US" sz="1000" dirty="0">
                <a:solidFill>
                  <a:srgbClr val="383B48"/>
                </a:solidFill>
                <a:latin typeface="Open Sans" panose="020B0606030504020204" pitchFamily="34" charset="0"/>
                <a:cs typeface="Open Sans" panose="020B0606030504020204" pitchFamily="34" charset="0"/>
              </a:rPr>
              <a:t>Avoid mistakes and increase efficiency by entering or scanning the VIN which populates data such as year, make, and model.</a:t>
            </a:r>
          </a:p>
          <a:p>
            <a:pPr>
              <a:lnSpc>
                <a:spcPct val="90000"/>
              </a:lnSpc>
            </a:pPr>
            <a:r>
              <a:rPr lang="en-US" sz="1000" dirty="0">
                <a:solidFill>
                  <a:srgbClr val="383B48"/>
                </a:solidFill>
                <a:latin typeface="Open Sans" panose="020B0606030504020204" pitchFamily="34" charset="0"/>
                <a:cs typeface="Open Sans" panose="020B0606030504020204" pitchFamily="34" charset="0"/>
              </a:rPr>
              <a:t>Allow your customer to use VIN decoder when sending an online pickup request.</a:t>
            </a:r>
          </a:p>
          <a:p>
            <a:pPr>
              <a:lnSpc>
                <a:spcPct val="90000"/>
              </a:lnSpc>
              <a:spcAft>
                <a:spcPts val="600"/>
              </a:spcAft>
            </a:pPr>
            <a:endParaRPr lang="en-US" sz="1000" dirty="0">
              <a:solidFill>
                <a:srgbClr val="383B48"/>
              </a:solidFill>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3273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239350"/>
            <a:ext cx="3218688" cy="4114800"/>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Warehousing for Import Operations</a:t>
            </a:r>
            <a:endParaRPr lang="en-US" kern="0" dirty="0">
              <a:solidFill>
                <a:srgbClr val="383B48"/>
              </a:solidFill>
              <a:latin typeface="Montserrat" panose="00000500000000000000" pitchFamily="50" charset="0"/>
            </a:endParaRPr>
          </a:p>
        </p:txBody>
      </p:sp>
      <p:sp>
        <p:nvSpPr>
          <p:cNvPr id="6" name="object 4"/>
          <p:cNvSpPr txBox="1"/>
          <p:nvPr/>
        </p:nvSpPr>
        <p:spPr>
          <a:xfrm>
            <a:off x="533400" y="1423110"/>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Optimize warehouse and distribution operations, manage </a:t>
            </a:r>
            <a:r>
              <a:rPr lang="en-US" sz="12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sales orders, </a:t>
            </a:r>
            <a:r>
              <a:rPr lang="en-US" sz="1200" spc="-20" dirty="0">
                <a:latin typeface="Open Sans" panose="020B0606030504020204" pitchFamily="34" charset="0"/>
                <a:ea typeface="Open Sans" panose="020B0606030504020204" pitchFamily="34" charset="0"/>
                <a:cs typeface="Open Sans" panose="020B0606030504020204" pitchFamily="34" charset="0"/>
              </a:rPr>
              <a:t>track inventory, and oversee the aspects of the supply chain that happen before and after the warehouse.</a:t>
            </a:r>
          </a:p>
        </p:txBody>
      </p:sp>
      <p:sp>
        <p:nvSpPr>
          <p:cNvPr id="7" name="object 6"/>
          <p:cNvSpPr txBox="1">
            <a:spLocks/>
          </p:cNvSpPr>
          <p:nvPr/>
        </p:nvSpPr>
        <p:spPr>
          <a:xfrm>
            <a:off x="533400" y="1981200"/>
            <a:ext cx="9296400" cy="1038746"/>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Turbocharge your receiving operations with cutting-edge warehouse automation solutions that save you time and money</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Optimize your warehouse operations by mapping out arrival locations, plus facilitating put away and picking, with a directed operations sequence</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Gain greater accuracy and visibility with a suite of integrated solutions designed to work with your Magaya Supply Chain system</a:t>
            </a:r>
          </a:p>
        </p:txBody>
      </p:sp>
      <p:sp>
        <p:nvSpPr>
          <p:cNvPr id="8" name="object 9"/>
          <p:cNvSpPr txBox="1"/>
          <p:nvPr/>
        </p:nvSpPr>
        <p:spPr>
          <a:xfrm>
            <a:off x="533400" y="3231975"/>
            <a:ext cx="2895600" cy="3296287"/>
          </a:xfrm>
          <a:prstGeom prst="rect">
            <a:avLst/>
          </a:prstGeom>
        </p:spPr>
        <p:txBody>
          <a:bodyPr vert="horz" wrap="square" lIns="0" tIns="0" rIns="0" bIns="0" rtlCol="0">
            <a:spAutoFit/>
          </a:bodyPr>
          <a:lstStyle/>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WAREHOUSE RECEIPTS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Process on-hand cargo directly from quotes, bookings, pickup orders or inbound shipments.</a:t>
            </a:r>
          </a:p>
          <a:p>
            <a:r>
              <a:rPr lang="en-US" sz="1000" dirty="0">
                <a:solidFill>
                  <a:srgbClr val="000000"/>
                </a:solidFill>
                <a:latin typeface="Open Sans" panose="020B0606030504020204" pitchFamily="34" charset="0"/>
                <a:cs typeface="Open Sans" panose="020B0606030504020204" pitchFamily="34" charset="0"/>
              </a:rPr>
              <a:t>Leverage seamless workflows between warehousing and shipping which enables cargo to be loaded directly onto outbound shipment.</a:t>
            </a:r>
          </a:p>
          <a:p>
            <a:pPr>
              <a:lnSpc>
                <a:spcPct val="88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SALES ORDER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sales orders from commerce quotes.</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Manage and create automated allocation rules.</a:t>
            </a:r>
          </a:p>
          <a:p>
            <a:pPr>
              <a:lnSpc>
                <a:spcPct val="88000"/>
              </a:lnSpc>
            </a:pPr>
            <a:r>
              <a:rPr lang="en-US" sz="1000" dirty="0">
                <a:solidFill>
                  <a:srgbClr val="000000"/>
                </a:solidFill>
                <a:latin typeface="Open Sans" panose="020B0606030504020204" pitchFamily="34" charset="0"/>
                <a:cs typeface="Open Sans" panose="020B0606030504020204" pitchFamily="34" charset="0"/>
              </a:rPr>
              <a:t>Create pricing rules and minimum price protection.</a:t>
            </a:r>
          </a:p>
          <a:p>
            <a:pPr>
              <a:lnSpc>
                <a:spcPct val="88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WAREHOUSE OPERATIONS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arrival and location of cargo, SKUs, serial numbers, lot numbers, and multiple stores.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your workday more efficiently with insights into real-time inventory, orders, and more.</a:t>
            </a:r>
          </a:p>
        </p:txBody>
      </p:sp>
      <p:sp>
        <p:nvSpPr>
          <p:cNvPr id="9" name="object 9"/>
          <p:cNvSpPr txBox="1"/>
          <p:nvPr/>
        </p:nvSpPr>
        <p:spPr>
          <a:xfrm>
            <a:off x="3675888" y="3250524"/>
            <a:ext cx="3029712" cy="3693319"/>
          </a:xfrm>
          <a:prstGeom prst="rect">
            <a:avLst/>
          </a:prstGeom>
        </p:spPr>
        <p:txBody>
          <a:bodyPr vert="horz" wrap="square" lIns="0" tIns="0" rIns="0" bIns="0" rtlCol="0">
            <a:spAutoFit/>
          </a:bodyPr>
          <a:lstStyle/>
          <a:p>
            <a:pPr>
              <a:spcAft>
                <a:spcPts val="600"/>
              </a:spcAft>
            </a:pPr>
            <a:r>
              <a:rPr lang="en-US" sz="1000" b="1" dirty="0">
                <a:solidFill>
                  <a:srgbClr val="001691"/>
                </a:solidFill>
                <a:latin typeface="Montserrat" panose="00000500000000000000" pitchFamily="50" charset="0"/>
                <a:cs typeface="Open Sans" panose="020B0606030504020204" pitchFamily="34" charset="0"/>
              </a:rPr>
              <a:t>SMART WAREHOUSE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inventory by part numbers, serial numbers, lot numbers, expiration dates.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inventory queue types supported: FIFO, LIFO, FEFO, LEFO.</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Direct the operators to the right locations in the warehouse using pick and put-away sequences.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Operate automatic replenishment with ease, from storage to pick locations.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multiple warehouses in one database.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on-hand cargo directly from quotes, bookings, pickup orders or inbound shipments.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Keep a record of arrival and location of cargo, SKU’s, serial numbers, lot numbers, and expiration date.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Define locations for receiving, storage, quality control, holding area, replenishments, etc.</a:t>
            </a:r>
          </a:p>
          <a:p>
            <a:pPr>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600"/>
              </a:spcAft>
            </a:pPr>
            <a:endParaRPr lang="en-US" sz="1000" dirty="0">
              <a:solidFill>
                <a:srgbClr val="000000"/>
              </a:solidFill>
              <a:latin typeface="Open Sans" panose="020B0606030504020204" pitchFamily="34" charset="0"/>
              <a:cs typeface="Open Sans" panose="020B0606030504020204" pitchFamily="34" charset="0"/>
            </a:endParaRPr>
          </a:p>
        </p:txBody>
      </p:sp>
      <p:sp>
        <p:nvSpPr>
          <p:cNvPr id="13" name="object 9">
            <a:extLst>
              <a:ext uri="{FF2B5EF4-FFF2-40B4-BE49-F238E27FC236}">
                <a16:creationId xmlns:a16="http://schemas.microsoft.com/office/drawing/2014/main" id="{F3B6EA66-7AF0-CB47-BB20-5057CFFFA959}"/>
              </a:ext>
            </a:extLst>
          </p:cNvPr>
          <p:cNvSpPr txBox="1"/>
          <p:nvPr/>
        </p:nvSpPr>
        <p:spPr>
          <a:xfrm>
            <a:off x="6897208" y="3235439"/>
            <a:ext cx="2895600" cy="4139595"/>
          </a:xfrm>
          <a:prstGeom prst="rect">
            <a:avLst/>
          </a:prstGeom>
        </p:spPr>
        <p:txBody>
          <a:bodyPr vert="horz" wrap="square" lIns="0" tIns="0" rIns="0" bIns="0" rtlCol="0">
            <a:spAutoFit/>
          </a:bodyPr>
          <a:lstStyle/>
          <a:p>
            <a:pPr>
              <a:lnSpc>
                <a:spcPct val="88000"/>
              </a:lnSpc>
            </a:pPr>
            <a:r>
              <a:rPr lang="en-US" sz="1000" b="1" dirty="0">
                <a:solidFill>
                  <a:srgbClr val="09A1FF"/>
                </a:solidFill>
                <a:latin typeface="Montserrat" panose="00000500000000000000" pitchFamily="50" charset="0"/>
                <a:cs typeface="Open Sans" panose="020B0606030504020204" pitchFamily="34" charset="0"/>
              </a:rPr>
              <a:t>MAGAYA SUPPLY CHAIN APPS &amp; EXTENSIONS FOR WAREHOUSE MANAGEMENT</a:t>
            </a:r>
          </a:p>
          <a:p>
            <a:pPr>
              <a:lnSpc>
                <a:spcPct val="88000"/>
              </a:lnSpc>
            </a:pPr>
            <a:endParaRPr lang="en-US" sz="1000" b="1" dirty="0">
              <a:solidFill>
                <a:srgbClr val="001691"/>
              </a:solidFill>
              <a:latin typeface="Montserrat" panose="00000500000000000000" pitchFamily="50"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PHOTOS WITH BINDER APP</a:t>
            </a:r>
          </a:p>
          <a:p>
            <a:pPr>
              <a:spcAft>
                <a:spcPts val="600"/>
              </a:spcAft>
            </a:pPr>
            <a:r>
              <a:rPr lang="en-US" sz="1000" dirty="0">
                <a:solidFill>
                  <a:srgbClr val="000000"/>
                </a:solidFill>
                <a:latin typeface="Open Sans" panose="020B0606030504020204" pitchFamily="34" charset="0"/>
                <a:cs typeface="Open Sans" panose="020B0606030504020204" pitchFamily="34" charset="0"/>
              </a:rPr>
              <a:t>Use your phone or tablet to capture and instantly upload photos of your parcels, cargo and more. </a:t>
            </a:r>
          </a:p>
          <a:p>
            <a:pPr>
              <a:spcAft>
                <a:spcPts val="600"/>
              </a:spcAft>
            </a:pPr>
            <a:r>
              <a:rPr lang="en-US" sz="1000" dirty="0">
                <a:solidFill>
                  <a:srgbClr val="000000"/>
                </a:solidFill>
                <a:latin typeface="Open Sans" panose="020B0606030504020204" pitchFamily="34" charset="0"/>
                <a:cs typeface="Open Sans" panose="020B0606030504020204" pitchFamily="34" charset="0"/>
              </a:rPr>
              <a:t>Easily find transactions or items by manual search or scanning a barcode. </a:t>
            </a:r>
          </a:p>
          <a:p>
            <a:pPr>
              <a:spcAft>
                <a:spcPts val="600"/>
              </a:spcAft>
            </a:pPr>
            <a:r>
              <a:rPr lang="en-US" sz="1000" dirty="0">
                <a:solidFill>
                  <a:srgbClr val="000000"/>
                </a:solidFill>
                <a:latin typeface="Open Sans" panose="020B0606030504020204" pitchFamily="34" charset="0"/>
                <a:cs typeface="Open Sans" panose="020B0606030504020204" pitchFamily="34" charset="0"/>
              </a:rPr>
              <a:t>Keep accurate records when processing warehouse receipts and shipments by attaching photos to the transaction.</a:t>
            </a:r>
          </a:p>
          <a:p>
            <a:pPr>
              <a:spcAft>
                <a:spcPts val="600"/>
              </a:spcAft>
            </a:pPr>
            <a:r>
              <a:rPr lang="en-US" sz="1000" b="1" dirty="0">
                <a:solidFill>
                  <a:srgbClr val="001691"/>
                </a:solidFill>
                <a:latin typeface="Montserrat" panose="00000500000000000000" pitchFamily="50" charset="0"/>
                <a:cs typeface="Open Sans" panose="020B0606030504020204" pitchFamily="34" charset="0"/>
              </a:rPr>
              <a:t>FLOW WMS MOBILE APP</a:t>
            </a:r>
          </a:p>
          <a:p>
            <a:pPr>
              <a:spcAft>
                <a:spcPts val="600"/>
              </a:spcAft>
            </a:pPr>
            <a:r>
              <a:rPr lang="en-US" sz="1000" dirty="0">
                <a:solidFill>
                  <a:srgbClr val="000000"/>
                </a:solidFill>
                <a:latin typeface="Open Sans" panose="020B0606030504020204" pitchFamily="34" charset="0"/>
                <a:cs typeface="Open Sans" panose="020B0606030504020204" pitchFamily="34" charset="0"/>
              </a:rPr>
              <a:t>Take complete control of your inventory, tasks, receiving and shipping process in real time with the Flow WMS app.</a:t>
            </a:r>
          </a:p>
          <a:p>
            <a:r>
              <a:rPr lang="en-US" sz="1000" dirty="0">
                <a:solidFill>
                  <a:srgbClr val="000000"/>
                </a:solidFill>
                <a:latin typeface="Open Sans" panose="020B0606030504020204" pitchFamily="34" charset="0"/>
                <a:cs typeface="Open Sans" panose="020B0606030504020204" pitchFamily="34" charset="0"/>
              </a:rPr>
              <a:t>Integrates with Dimensioner to truly optimize the receiving process.</a:t>
            </a:r>
          </a:p>
          <a:p>
            <a:endParaRPr lang="en-US" sz="1000" b="1" dirty="0">
              <a:solidFill>
                <a:srgbClr val="001691"/>
              </a:solidFill>
              <a:latin typeface="Montserrat" panose="00000500000000000000" pitchFamily="50"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PALLET AND PARCEL DIMENSIONER</a:t>
            </a:r>
          </a:p>
          <a:p>
            <a:r>
              <a:rPr lang="en-US" sz="1000" dirty="0">
                <a:solidFill>
                  <a:srgbClr val="383B48"/>
                </a:solidFill>
                <a:latin typeface="Open Sans" panose="020B0606030504020204" pitchFamily="34" charset="0"/>
                <a:cs typeface="Open Sans" panose="020B0606030504020204" pitchFamily="34" charset="0"/>
              </a:rPr>
              <a:t>Take fast and efficient measurements of pallets or parcels with sophisticated software algorithms, regardless of shape, size or material.</a:t>
            </a:r>
          </a:p>
        </p:txBody>
      </p:sp>
    </p:spTree>
    <p:extLst>
      <p:ext uri="{BB962C8B-B14F-4D97-AF65-F5344CB8AC3E}">
        <p14:creationId xmlns:p14="http://schemas.microsoft.com/office/powerpoint/2010/main" val="234894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814097"/>
            <a:ext cx="3218688" cy="2815303"/>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Accounting</a:t>
            </a:r>
            <a:endParaRPr lang="en-US" kern="0" dirty="0">
              <a:solidFill>
                <a:srgbClr val="383B48"/>
              </a:solidFill>
              <a:latin typeface="Montserrat" panose="00000500000000000000" pitchFamily="50" charset="0"/>
            </a:endParaRPr>
          </a:p>
        </p:txBody>
      </p:sp>
      <p:sp>
        <p:nvSpPr>
          <p:cNvPr id="6" name="object 4"/>
          <p:cNvSpPr txBox="1"/>
          <p:nvPr/>
        </p:nvSpPr>
        <p:spPr>
          <a:xfrm>
            <a:off x="533400" y="1573241"/>
            <a:ext cx="9296400" cy="720197"/>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Keep your operations and accounting synced on one platform and automate your workflows, including recurring billing and periodic invoices. Manage accounts receivable and accounts payable with ease and generate reports, providing clear insight into the financial health of your business.</a:t>
            </a:r>
          </a:p>
        </p:txBody>
      </p:sp>
      <p:sp>
        <p:nvSpPr>
          <p:cNvPr id="7" name="object 6"/>
          <p:cNvSpPr txBox="1">
            <a:spLocks/>
          </p:cNvSpPr>
          <p:nvPr/>
        </p:nvSpPr>
        <p:spPr>
          <a:xfrm>
            <a:off x="533400" y="2507491"/>
            <a:ext cx="9296400" cy="997709"/>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YOUR BENEFITS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Transfer your information between all your logistics transactions to create the necessary accounting records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Generate reports that provide you with the exact information you need </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Work with multiple currencies</a:t>
            </a:r>
          </a:p>
        </p:txBody>
      </p:sp>
      <p:sp>
        <p:nvSpPr>
          <p:cNvPr id="8" name="object 9"/>
          <p:cNvSpPr txBox="1"/>
          <p:nvPr/>
        </p:nvSpPr>
        <p:spPr>
          <a:xfrm>
            <a:off x="533400" y="3845401"/>
            <a:ext cx="2895600" cy="2926186"/>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INTEGRATED OPERATIONS AND ACCOUNTING</a:t>
            </a:r>
          </a:p>
          <a:p>
            <a:pPr>
              <a:lnSpc>
                <a:spcPct val="120000"/>
              </a:lnSpc>
              <a:spcAft>
                <a:spcPts val="600"/>
              </a:spcAft>
            </a:pPr>
            <a:r>
              <a:rPr lang="en-US" sz="1000" dirty="0">
                <a:latin typeface="Open Sans" panose="020B0606030504020204" pitchFamily="34" charset="0"/>
                <a:cs typeface="Open Sans" panose="020B0606030504020204" pitchFamily="34" charset="0"/>
              </a:rPr>
              <a:t>Liquidate operations (create accounting  </a:t>
            </a:r>
            <a:br>
              <a:rPr lang="en-US" sz="1000" dirty="0">
                <a:latin typeface="Open Sans" panose="020B0606030504020204" pitchFamily="34" charset="0"/>
                <a:cs typeface="Open Sans" panose="020B0606030504020204" pitchFamily="34" charset="0"/>
              </a:rPr>
            </a:br>
            <a:r>
              <a:rPr lang="en-US" sz="1000" dirty="0">
                <a:latin typeface="Open Sans" panose="020B0606030504020204" pitchFamily="34" charset="0"/>
                <a:cs typeface="Open Sans" panose="020B0606030504020204" pitchFamily="34" charset="0"/>
              </a:rPr>
              <a:t>transactions) with one click.</a:t>
            </a:r>
          </a:p>
          <a:p>
            <a:pPr>
              <a:lnSpc>
                <a:spcPct val="120000"/>
              </a:lnSpc>
              <a:spcAft>
                <a:spcPts val="600"/>
              </a:spcAft>
            </a:pPr>
            <a:r>
              <a:rPr lang="en-US" sz="1000" dirty="0">
                <a:latin typeface="Open Sans" panose="020B0606030504020204" pitchFamily="34" charset="0"/>
                <a:cs typeface="Open Sans" panose="020B0606030504020204" pitchFamily="34" charset="0"/>
              </a:rPr>
              <a:t>Maintain visibility as invoices and bills stay </a:t>
            </a:r>
            <a:br>
              <a:rPr lang="en-US" sz="1000" dirty="0">
                <a:latin typeface="Open Sans" panose="020B0606030504020204" pitchFamily="34" charset="0"/>
                <a:cs typeface="Open Sans" panose="020B0606030504020204" pitchFamily="34" charset="0"/>
              </a:rPr>
            </a:br>
            <a:r>
              <a:rPr lang="en-US" sz="1000" dirty="0">
                <a:latin typeface="Open Sans" panose="020B0606030504020204" pitchFamily="34" charset="0"/>
                <a:cs typeface="Open Sans" panose="020B0606030504020204" pitchFamily="34" charset="0"/>
              </a:rPr>
              <a:t>linked to operations and display reference info.</a:t>
            </a:r>
          </a:p>
          <a:p>
            <a:pPr>
              <a:lnSpc>
                <a:spcPct val="120000"/>
              </a:lnSpc>
              <a:spcAft>
                <a:spcPts val="600"/>
              </a:spcAft>
            </a:pPr>
            <a:r>
              <a:rPr lang="en-US" sz="1000" dirty="0">
                <a:latin typeface="Open Sans" panose="020B0606030504020204" pitchFamily="34" charset="0"/>
                <a:cs typeface="Open Sans" panose="020B0606030504020204" pitchFamily="34" charset="0"/>
              </a:rPr>
              <a:t>View Profit and Loss by Operation.</a:t>
            </a:r>
          </a:p>
          <a:p>
            <a:pPr>
              <a:lnSpc>
                <a:spcPct val="120000"/>
              </a:lnSpc>
              <a:spcAft>
                <a:spcPts val="600"/>
              </a:spcAft>
            </a:pPr>
            <a:r>
              <a:rPr lang="en-US" sz="1000" dirty="0">
                <a:latin typeface="Open Sans" panose="020B0606030504020204" pitchFamily="34" charset="0"/>
                <a:cs typeface="Open Sans" panose="020B0606030504020204" pitchFamily="34" charset="0"/>
              </a:rPr>
              <a:t>Assign role-based permissions to employees for greater flexibility, security, and control.</a:t>
            </a:r>
          </a:p>
          <a:p>
            <a:pPr>
              <a:lnSpc>
                <a:spcPct val="120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ONLINE PAYMENTS</a:t>
            </a:r>
          </a:p>
          <a:p>
            <a:pPr>
              <a:lnSpc>
                <a:spcPct val="120000"/>
              </a:lnSpc>
              <a:spcAft>
                <a:spcPts val="600"/>
              </a:spcAft>
            </a:pPr>
            <a:r>
              <a:rPr lang="en-US" sz="1000" dirty="0">
                <a:latin typeface="Open Sans" panose="020B0606030504020204" pitchFamily="34" charset="0"/>
                <a:cs typeface="Open Sans" panose="020B0606030504020204" pitchFamily="34" charset="0"/>
              </a:rPr>
              <a:t>Receive online payments via First Data </a:t>
            </a:r>
            <a:r>
              <a:rPr lang="en-US" sz="1000" dirty="0">
                <a:solidFill>
                  <a:srgbClr val="383B48"/>
                </a:solidFill>
                <a:latin typeface="Open Sans" panose="020B0606030504020204" pitchFamily="34" charset="0"/>
                <a:cs typeface="Open Sans" panose="020B0606030504020204" pitchFamily="34" charset="0"/>
              </a:rPr>
              <a:t>and Veem.</a:t>
            </a:r>
          </a:p>
        </p:txBody>
      </p:sp>
      <p:sp>
        <p:nvSpPr>
          <p:cNvPr id="9" name="object 9"/>
          <p:cNvSpPr txBox="1"/>
          <p:nvPr/>
        </p:nvSpPr>
        <p:spPr>
          <a:xfrm>
            <a:off x="3730752" y="3845401"/>
            <a:ext cx="2898648" cy="2569678"/>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ACCOUNTING TRANSACTIONS</a:t>
            </a:r>
          </a:p>
          <a:p>
            <a:pPr>
              <a:lnSpc>
                <a:spcPct val="120000"/>
              </a:lnSpc>
              <a:spcAft>
                <a:spcPts val="600"/>
              </a:spcAft>
            </a:pPr>
            <a:r>
              <a:rPr lang="en-US" sz="1000" dirty="0">
                <a:latin typeface="Open Sans" panose="020B0606030504020204" pitchFamily="34" charset="0"/>
                <a:cs typeface="Open Sans" panose="020B0606030504020204" pitchFamily="34" charset="0"/>
              </a:rPr>
              <a:t>Leverage integrated accounting functionality:</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General Ledger</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AR and AP with aging reports Profit and Loss reports</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Full suite of financial reports  </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Customer and Vendor Payments</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Bank reconciliation and fiscal year closing  Multicurrency accounting</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Automated recurring billing and periodic invoices</a:t>
            </a:r>
          </a:p>
        </p:txBody>
      </p:sp>
      <p:sp>
        <p:nvSpPr>
          <p:cNvPr id="10" name="object 9"/>
          <p:cNvSpPr txBox="1"/>
          <p:nvPr/>
        </p:nvSpPr>
        <p:spPr>
          <a:xfrm>
            <a:off x="6931152" y="3845401"/>
            <a:ext cx="2898648" cy="1707903"/>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QUICKBOOKS ONLINE EXTENSION</a:t>
            </a:r>
          </a:p>
          <a:p>
            <a:pPr>
              <a:lnSpc>
                <a:spcPct val="120000"/>
              </a:lnSpc>
              <a:spcAft>
                <a:spcPts val="600"/>
              </a:spcAft>
            </a:pPr>
            <a:r>
              <a:rPr lang="en-US" sz="1000" dirty="0">
                <a:latin typeface="Open Sans" panose="020B0606030504020204" pitchFamily="34" charset="0"/>
                <a:cs typeface="Open Sans" panose="020B0606030504020204" pitchFamily="34" charset="0"/>
              </a:rPr>
              <a:t>Connect your Magaya system to your QuickBooks Online account.</a:t>
            </a:r>
          </a:p>
          <a:p>
            <a:pPr>
              <a:lnSpc>
                <a:spcPct val="120000"/>
              </a:lnSpc>
              <a:spcAft>
                <a:spcPts val="600"/>
              </a:spcAft>
            </a:pPr>
            <a:r>
              <a:rPr lang="en-US" sz="1000" dirty="0">
                <a:latin typeface="Open Sans" panose="020B0606030504020204" pitchFamily="34" charset="0"/>
                <a:cs typeface="Open Sans" panose="020B0606030504020204" pitchFamily="34" charset="0"/>
              </a:rPr>
              <a:t>Sync your Magaya invoices, credit memos, bills, and bill credits between both systems. </a:t>
            </a:r>
          </a:p>
          <a:p>
            <a:pPr>
              <a:lnSpc>
                <a:spcPct val="120000"/>
              </a:lnSpc>
              <a:spcAft>
                <a:spcPts val="600"/>
              </a:spcAft>
            </a:pPr>
            <a:r>
              <a:rPr lang="en-US" sz="1000" dirty="0">
                <a:latin typeface="Open Sans" panose="020B0606030504020204" pitchFamily="34" charset="0"/>
                <a:cs typeface="Open Sans" panose="020B0606030504020204" pitchFamily="34" charset="0"/>
              </a:rPr>
              <a:t>Ensure data is consistent across platforms as information flows freely between Magaya and QuickBooks Online.</a:t>
            </a:r>
          </a:p>
        </p:txBody>
      </p:sp>
    </p:spTree>
    <p:extLst>
      <p:ext uri="{BB962C8B-B14F-4D97-AF65-F5344CB8AC3E}">
        <p14:creationId xmlns:p14="http://schemas.microsoft.com/office/powerpoint/2010/main" val="492478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991832"/>
            <a:ext cx="3218688" cy="2377440"/>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573241"/>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Leverage the branding of your business with our flexible options, including document templates and more. Our ecosystem of extensions and apps, coupled with our built-in features, are designed to make your business more productive.</a:t>
            </a:r>
          </a:p>
        </p:txBody>
      </p:sp>
      <p:sp>
        <p:nvSpPr>
          <p:cNvPr id="7" name="object 6"/>
          <p:cNvSpPr txBox="1">
            <a:spLocks/>
          </p:cNvSpPr>
          <p:nvPr/>
        </p:nvSpPr>
        <p:spPr>
          <a:xfrm>
            <a:off x="533400" y="2209800"/>
            <a:ext cx="9296400" cy="984885"/>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YOUR BENEFITS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Personalize your documents by using our adaptable templates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Leverage complex logic</a:t>
            </a:r>
          </a:p>
          <a:p>
            <a:pPr marL="171450" indent="-171450">
              <a:spcAft>
                <a:spcPts val="600"/>
              </a:spcAft>
              <a:buClr>
                <a:srgbClr val="09A1FF"/>
              </a:buClr>
              <a:buFont typeface="Arial" panose="020B0604020202020204" pitchFamily="34" charset="0"/>
              <a:buChar char="•"/>
            </a:pPr>
            <a:r>
              <a:rPr lang="en-US" sz="1100" dirty="0">
                <a:effectLst/>
                <a:latin typeface="Open Sans" panose="020B0606030504020204" pitchFamily="34" charset="0"/>
                <a:ea typeface="Open Sans" panose="020B0606030504020204" pitchFamily="34" charset="0"/>
                <a:cs typeface="Open Sans" panose="020B0606030504020204" pitchFamily="34" charset="0"/>
              </a:rPr>
              <a:t>Choose from a variety of connectivity options, including XML and EDI</a:t>
            </a:r>
          </a:p>
        </p:txBody>
      </p:sp>
      <p:sp>
        <p:nvSpPr>
          <p:cNvPr id="8" name="object 9"/>
          <p:cNvSpPr txBox="1"/>
          <p:nvPr/>
        </p:nvSpPr>
        <p:spPr>
          <a:xfrm>
            <a:off x="544286" y="4010991"/>
            <a:ext cx="2895600" cy="2618409"/>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JOBS</a:t>
            </a:r>
          </a:p>
          <a:p>
            <a:pPr>
              <a:lnSpc>
                <a:spcPct val="120000"/>
              </a:lnSpc>
            </a:pPr>
            <a:r>
              <a:rPr lang="en-US" sz="1000" dirty="0">
                <a:solidFill>
                  <a:srgbClr val="000000"/>
                </a:solidFill>
                <a:latin typeface="Open Sans" panose="020B0606030504020204" pitchFamily="34" charset="0"/>
                <a:cs typeface="Open Sans" panose="020B0606030504020204" pitchFamily="34" charset="0"/>
              </a:rPr>
              <a:t>Combine many transactions of different types into one project with its respective accounting and profitability tracking. Ideal for project cargo in shipping.</a:t>
            </a:r>
          </a:p>
          <a:p>
            <a:pPr>
              <a:lnSpc>
                <a:spcPct val="120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TASKS</a:t>
            </a:r>
          </a:p>
          <a:p>
            <a:pPr>
              <a:lnSpc>
                <a:spcPct val="120000"/>
              </a:lnSpc>
              <a:spcAft>
                <a:spcPts val="600"/>
              </a:spcAft>
            </a:pPr>
            <a:r>
              <a:rPr lang="en-US" sz="1000" dirty="0">
                <a:latin typeface="Open Sans" panose="020B0606030504020204" pitchFamily="34" charset="0"/>
                <a:cs typeface="Open Sans" panose="020B0606030504020204" pitchFamily="34" charset="0"/>
              </a:rPr>
              <a:t>Create reminders by email or on-screen popups.</a:t>
            </a:r>
          </a:p>
          <a:p>
            <a:pPr>
              <a:lnSpc>
                <a:spcPct val="120000"/>
              </a:lnSpc>
              <a:spcAft>
                <a:spcPts val="600"/>
              </a:spcAft>
            </a:pPr>
            <a:r>
              <a:rPr lang="en-US" sz="1000" dirty="0">
                <a:latin typeface="Open Sans" panose="020B0606030504020204" pitchFamily="34" charset="0"/>
                <a:cs typeface="Open Sans" panose="020B0606030504020204" pitchFamily="34" charset="0"/>
              </a:rPr>
              <a:t>Assign tasks to any user in the system.</a:t>
            </a:r>
          </a:p>
          <a:p>
            <a:pPr>
              <a:lnSpc>
                <a:spcPct val="120000"/>
              </a:lnSpc>
              <a:spcAft>
                <a:spcPts val="600"/>
              </a:spcAft>
            </a:pPr>
            <a:r>
              <a:rPr lang="en-US" sz="1000" dirty="0">
                <a:latin typeface="Open Sans" panose="020B0606030504020204" pitchFamily="34" charset="0"/>
                <a:cs typeface="Open Sans" panose="020B0606030504020204" pitchFamily="34" charset="0"/>
              </a:rPr>
              <a:t>Visibility into employee time to complete tasks.</a:t>
            </a:r>
          </a:p>
          <a:p>
            <a:pPr>
              <a:lnSpc>
                <a:spcPct val="90000"/>
              </a:lnSpc>
              <a:spcAft>
                <a:spcPts val="600"/>
              </a:spcAft>
            </a:pPr>
            <a:endParaRPr lang="en-US" sz="1000" b="1" dirty="0">
              <a:solidFill>
                <a:srgbClr val="001691"/>
              </a:solidFill>
              <a:latin typeface="Montserrat" panose="00000500000000000000" pitchFamily="50" charset="0"/>
              <a:cs typeface="Open Sans" panose="020B0606030504020204" pitchFamily="34" charset="0"/>
            </a:endParaRPr>
          </a:p>
          <a:p>
            <a:pPr>
              <a:lnSpc>
                <a:spcPct val="120000"/>
              </a:lnSpc>
              <a:spcAft>
                <a:spcPts val="600"/>
              </a:spcAft>
            </a:pPr>
            <a:endParaRPr lang="en-US" sz="1000" dirty="0">
              <a:latin typeface="Open Sans" panose="020B0606030504020204" pitchFamily="34" charset="0"/>
              <a:cs typeface="Open Sans" panose="020B0606030504020204" pitchFamily="34" charset="0"/>
            </a:endParaRPr>
          </a:p>
        </p:txBody>
      </p:sp>
      <p:sp>
        <p:nvSpPr>
          <p:cNvPr id="9" name="object 9"/>
          <p:cNvSpPr txBox="1"/>
          <p:nvPr/>
        </p:nvSpPr>
        <p:spPr>
          <a:xfrm>
            <a:off x="3741638" y="4010991"/>
            <a:ext cx="2898648" cy="2167260"/>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Send and receive documentation, transactions, and other data about shipments, through the 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View real-time, up-to-date information about shipments and more.</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a profile of your company to advertise your services on the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Find and connect with 2300+ agents and logistics  companies across 100 countries.</a:t>
            </a:r>
          </a:p>
        </p:txBody>
      </p:sp>
      <p:sp>
        <p:nvSpPr>
          <p:cNvPr id="10" name="object 9"/>
          <p:cNvSpPr txBox="1"/>
          <p:nvPr/>
        </p:nvSpPr>
        <p:spPr>
          <a:xfrm>
            <a:off x="6931152" y="4010991"/>
            <a:ext cx="2898648" cy="1720984"/>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DOCUMENT CONFIGURATION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Access and utilize hundreds of document templates for operations and accounting transaction.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Create and design multipage templates including your terms and conditions.</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Fully configure documents and even use JavaScript for more complex logic.</a:t>
            </a:r>
          </a:p>
        </p:txBody>
      </p:sp>
      <p:sp>
        <p:nvSpPr>
          <p:cNvPr id="11"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Productivity, Integration &amp; Configuration</a:t>
            </a:r>
            <a:endParaRPr lang="en-US" kern="0" dirty="0">
              <a:solidFill>
                <a:srgbClr val="383B48"/>
              </a:solidFill>
              <a:latin typeface="Montserrat" panose="00000500000000000000" pitchFamily="50" charset="0"/>
            </a:endParaRPr>
          </a:p>
        </p:txBody>
      </p:sp>
    </p:spTree>
    <p:extLst>
      <p:ext uri="{BB962C8B-B14F-4D97-AF65-F5344CB8AC3E}">
        <p14:creationId xmlns:p14="http://schemas.microsoft.com/office/powerpoint/2010/main" val="2394390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a:extLst>
              <a:ext uri="{FF2B5EF4-FFF2-40B4-BE49-F238E27FC236}">
                <a16:creationId xmlns:a16="http://schemas.microsoft.com/office/drawing/2014/main" id="{C5CAA35D-3EA2-4183-CB5F-2CD1DAAA6E15}"/>
              </a:ext>
            </a:extLst>
          </p:cNvPr>
          <p:cNvSpPr txBox="1">
            <a:spLocks/>
          </p:cNvSpPr>
          <p:nvPr/>
        </p:nvSpPr>
        <p:spPr>
          <a:xfrm>
            <a:off x="0" y="2209800"/>
            <a:ext cx="10363200" cy="1490152"/>
          </a:xfrm>
          <a:prstGeom prst="rect">
            <a:avLst/>
          </a:prstGeom>
        </p:spPr>
        <p:txBody>
          <a:bodyPr vert="horz" wrap="square" lIns="0" tIns="12700" rIns="0" bIns="0" rtlCol="0">
            <a:spAutoFit/>
          </a:bodyPr>
          <a:lstStyle>
            <a:lvl1pPr>
              <a:defRPr>
                <a:latin typeface="+mj-lt"/>
                <a:ea typeface="+mj-ea"/>
                <a:cs typeface="+mj-cs"/>
              </a:defRPr>
            </a:lvl1pPr>
          </a:lstStyle>
          <a:p>
            <a:pPr algn="ctr"/>
            <a:r>
              <a:rPr lang="en-CA" sz="4800" b="1" dirty="0">
                <a:solidFill>
                  <a:srgbClr val="001691"/>
                </a:solidFill>
                <a:latin typeface="Montserrat" panose="00000500000000000000" pitchFamily="50" charset="0"/>
              </a:rPr>
              <a:t>MAGAYA </a:t>
            </a:r>
            <a:r>
              <a:rPr lang="en-CA" sz="4800" b="1" dirty="0">
                <a:solidFill>
                  <a:srgbClr val="09A1FF"/>
                </a:solidFill>
                <a:latin typeface="Montserrat" panose="00000500000000000000" pitchFamily="50" charset="0"/>
              </a:rPr>
              <a:t>SUPPLY CHAIN</a:t>
            </a:r>
            <a:br>
              <a:rPr lang="en-CA" sz="4800" b="1" dirty="0">
                <a:solidFill>
                  <a:srgbClr val="001691"/>
                </a:solidFill>
                <a:latin typeface="Montserrat" panose="00000500000000000000" pitchFamily="50" charset="0"/>
              </a:rPr>
            </a:br>
            <a:r>
              <a:rPr lang="en-CA" sz="4800" dirty="0">
                <a:solidFill>
                  <a:srgbClr val="383B48"/>
                </a:solidFill>
                <a:latin typeface="Montserrat" panose="00000500000000000000" pitchFamily="50" charset="0"/>
              </a:rPr>
              <a:t>Exports</a:t>
            </a:r>
            <a:endParaRPr lang="en-US" sz="4800" kern="0" dirty="0">
              <a:solidFill>
                <a:srgbClr val="383B48"/>
              </a:solidFill>
              <a:latin typeface="Montserrat" panose="00000500000000000000" pitchFamily="50" charset="0"/>
            </a:endParaRPr>
          </a:p>
        </p:txBody>
      </p:sp>
      <p:pic>
        <p:nvPicPr>
          <p:cNvPr id="3" name="Picture 2">
            <a:extLst>
              <a:ext uri="{FF2B5EF4-FFF2-40B4-BE49-F238E27FC236}">
                <a16:creationId xmlns:a16="http://schemas.microsoft.com/office/drawing/2014/main" id="{453EBC88-A032-C4DA-72E6-7C5DA34D41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087108"/>
            <a:ext cx="4267200" cy="2451507"/>
          </a:xfrm>
          <a:prstGeom prst="rect">
            <a:avLst/>
          </a:prstGeom>
        </p:spPr>
      </p:pic>
    </p:spTree>
    <p:extLst>
      <p:ext uri="{BB962C8B-B14F-4D97-AF65-F5344CB8AC3E}">
        <p14:creationId xmlns:p14="http://schemas.microsoft.com/office/powerpoint/2010/main" val="3349713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023360" y="3103071"/>
            <a:ext cx="3063240" cy="4267201"/>
            <a:chOff x="3456432" y="2823696"/>
            <a:chExt cx="3063240" cy="4005073"/>
          </a:xfrm>
        </p:grpSpPr>
        <p:cxnSp>
          <p:nvCxnSpPr>
            <p:cNvPr id="3" name="Straight Connector 2"/>
            <p:cNvCxnSpPr/>
            <p:nvPr/>
          </p:nvCxnSpPr>
          <p:spPr>
            <a:xfrm>
              <a:off x="3456432" y="2823696"/>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519672" y="2823697"/>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439757"/>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Accelerate export shipping workflows and save time on manual processes with Magaya. You can also avoid double data entry by creating bookings, pickup orders, warehouse receipts, shipments, and invoices, directly from the quotes feature.</a:t>
            </a:r>
          </a:p>
        </p:txBody>
      </p:sp>
      <p:sp>
        <p:nvSpPr>
          <p:cNvPr id="7" name="object 6"/>
          <p:cNvSpPr txBox="1">
            <a:spLocks/>
          </p:cNvSpPr>
          <p:nvPr/>
        </p:nvSpPr>
        <p:spPr>
          <a:xfrm>
            <a:off x="587829" y="2049357"/>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b="0" i="0" dirty="0">
                <a:effectLst/>
                <a:latin typeface="Open Sans" panose="020B0606030504020204" pitchFamily="34" charset="0"/>
                <a:ea typeface="Open Sans" panose="020B0606030504020204" pitchFamily="34" charset="0"/>
                <a:cs typeface="Open Sans" panose="020B0606030504020204" pitchFamily="34" charset="0"/>
              </a:rPr>
              <a:t>Leverage visibility and automation needed to compete in today’s competitive global shipping market</a:t>
            </a:r>
          </a:p>
          <a:p>
            <a:pPr marL="171450" indent="-171450">
              <a:spcAft>
                <a:spcPts val="300"/>
              </a:spcAft>
              <a:buClr>
                <a:srgbClr val="09A1FF"/>
              </a:buClr>
              <a:buFont typeface="Arial" panose="020B0604020202020204" pitchFamily="34" charset="0"/>
              <a:buChar char="•"/>
            </a:pPr>
            <a:r>
              <a:rPr lang="en-US" sz="1100" spc="-20" dirty="0">
                <a:latin typeface="Open Sans" panose="020B0606030504020204" pitchFamily="34" charset="0"/>
                <a:ea typeface="Open Sans" panose="020B0606030504020204" pitchFamily="34" charset="0"/>
                <a:cs typeface="Open Sans" panose="020B0606030504020204" pitchFamily="34" charset="0"/>
              </a:rPr>
              <a:t>Have seamless workflows dedicated to transfer all important documents and processes for your export tasks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Streamline operations with all data stored in a single system, allowing for up-to-date information on all tasks</a:t>
            </a:r>
          </a:p>
        </p:txBody>
      </p:sp>
      <p:sp>
        <p:nvSpPr>
          <p:cNvPr id="9" name="object 9"/>
          <p:cNvSpPr txBox="1"/>
          <p:nvPr/>
        </p:nvSpPr>
        <p:spPr>
          <a:xfrm>
            <a:off x="4148328" y="3116157"/>
            <a:ext cx="2898648" cy="3831818"/>
          </a:xfrm>
          <a:prstGeom prst="rect">
            <a:avLst/>
          </a:prstGeom>
        </p:spPr>
        <p:txBody>
          <a:bodyPr vert="horz" wrap="square" lIns="0" tIns="0" rIns="0" bIns="0" rtlCol="0">
            <a:spAutoFit/>
          </a:bodyPr>
          <a:lstStyle/>
          <a:p>
            <a:pPr>
              <a:lnSpc>
                <a:spcPct val="95000"/>
              </a:lnSpc>
              <a:spcAft>
                <a:spcPts val="600"/>
              </a:spcAft>
            </a:pPr>
            <a:r>
              <a:rPr lang="en-US" sz="1000" b="1" dirty="0">
                <a:solidFill>
                  <a:srgbClr val="001691"/>
                </a:solidFill>
                <a:latin typeface="Montserrat" panose="00000500000000000000" pitchFamily="50" charset="0"/>
                <a:cs typeface="Open Sans" panose="020B0606030504020204" pitchFamily="34" charset="0"/>
              </a:rPr>
              <a:t>ACCOUNTING</a:t>
            </a:r>
          </a:p>
          <a:p>
            <a:pPr>
              <a:lnSpc>
                <a:spcPct val="95000"/>
              </a:lnSpc>
              <a:spcAft>
                <a:spcPts val="600"/>
              </a:spcAft>
            </a:pPr>
            <a:r>
              <a:rPr lang="en-US" sz="1000" b="1" dirty="0">
                <a:latin typeface="Open Sans" panose="020B0606030504020204" pitchFamily="34" charset="0"/>
                <a:cs typeface="Open Sans" panose="020B0606030504020204" pitchFamily="34" charset="0"/>
              </a:rPr>
              <a:t>Integrated Operations and Accounting</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Invoices and bills stay linked to operations and display reference info.</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View profit and loss by operation.</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Accounting integration with the QuickBooks Online extension</a:t>
            </a:r>
          </a:p>
          <a:p>
            <a:pPr>
              <a:lnSpc>
                <a:spcPct val="95000"/>
              </a:lnSpc>
              <a:spcAft>
                <a:spcPts val="600"/>
              </a:spcAft>
            </a:pPr>
            <a:r>
              <a:rPr lang="en-US" sz="1000" b="1" dirty="0">
                <a:latin typeface="Open Sans" panose="020B0606030504020204" pitchFamily="34" charset="0"/>
                <a:cs typeface="Open Sans" panose="020B0606030504020204" pitchFamily="34" charset="0"/>
              </a:rPr>
              <a:t>Online Payments</a:t>
            </a:r>
          </a:p>
          <a:p>
            <a:pPr>
              <a:lnSpc>
                <a:spcPct val="95000"/>
              </a:lnSpc>
              <a:spcAft>
                <a:spcPts val="600"/>
              </a:spcAft>
            </a:pPr>
            <a:r>
              <a:rPr lang="en-US" sz="1000" dirty="0">
                <a:solidFill>
                  <a:srgbClr val="000000"/>
                </a:solidFill>
                <a:latin typeface="Open Sans" panose="020B0606030504020204" pitchFamily="34" charset="0"/>
                <a:cs typeface="Open Sans" panose="020B0606030504020204" pitchFamily="34" charset="0"/>
              </a:rPr>
              <a:t>Receive online payments via First Data and </a:t>
            </a:r>
            <a:r>
              <a:rPr lang="en-US" sz="1000" dirty="0" err="1">
                <a:solidFill>
                  <a:srgbClr val="383B48"/>
                </a:solidFill>
                <a:latin typeface="Open Sans" panose="020B0606030504020204" pitchFamily="34" charset="0"/>
                <a:cs typeface="Open Sans" panose="020B0606030504020204" pitchFamily="34" charset="0"/>
              </a:rPr>
              <a:t>Veem</a:t>
            </a:r>
            <a:endParaRPr lang="en-US" sz="1000" dirty="0">
              <a:solidFill>
                <a:srgbClr val="383B48"/>
              </a:solidFill>
              <a:latin typeface="Open Sans" panose="020B0606030504020204" pitchFamily="34" charset="0"/>
              <a:cs typeface="Open Sans" panose="020B0606030504020204" pitchFamily="34" charset="0"/>
            </a:endParaRPr>
          </a:p>
          <a:p>
            <a:pPr>
              <a:lnSpc>
                <a:spcPct val="95000"/>
              </a:lnSpc>
              <a:spcAft>
                <a:spcPts val="600"/>
              </a:spcAft>
            </a:pPr>
            <a:endParaRPr lang="en-US" sz="1000" dirty="0">
              <a:solidFill>
                <a:srgbClr val="383B48"/>
              </a:solidFill>
              <a:latin typeface="Open Sans" panose="020B0606030504020204" pitchFamily="34"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PICK-UP ORDER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Facilitate local pickups or drayage.</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Send pickup tasks to drivers, capture pictures and signatures, via the Final Mile app.</a:t>
            </a:r>
          </a:p>
          <a:p>
            <a:pPr>
              <a:lnSpc>
                <a:spcPct val="88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lnSpc>
                <a:spcPct val="90000"/>
              </a:lnSpc>
              <a:spcAft>
                <a:spcPts val="600"/>
              </a:spcAft>
            </a:pPr>
            <a:r>
              <a:rPr lang="en-US" sz="1000" b="1" dirty="0">
                <a:solidFill>
                  <a:srgbClr val="001691"/>
                </a:solidFill>
                <a:latin typeface="Montserrat" panose="00000500000000000000" pitchFamily="50" charset="0"/>
                <a:cs typeface="Montserrat-SemiBold"/>
              </a:rPr>
              <a:t>FREIGHT QUOTES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Magaya Rate Management integration makes it easy to create bookings, pickup  orders, warehouse receipts, shipments, invoices from quotes.</a:t>
            </a:r>
          </a:p>
        </p:txBody>
      </p:sp>
      <p:sp>
        <p:nvSpPr>
          <p:cNvPr id="10" name="object 9"/>
          <p:cNvSpPr txBox="1"/>
          <p:nvPr/>
        </p:nvSpPr>
        <p:spPr>
          <a:xfrm>
            <a:off x="667948" y="3116157"/>
            <a:ext cx="3197352" cy="4447371"/>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Montserrat-SemiBold"/>
              </a:rPr>
              <a:t>BOOKINGS &amp; SHIPMENTS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bookings or shipments for export, import, or domestic transactions.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Access workflows for air, ocean, or ground shipments.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Manage consolidations, LCL, FCL.</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Accept online booking requests from your customers via the Magaya Digital Freight Porta or LiveTrack Mobile App by Magaya.</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Send ocean booking requests and shipping instructions to carriers via INTTRA and send electronic AWB to the airlines.</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Track all your containers with the Container Tracking extension, receiving updates through events in your Magaya system, Magaya Digital Freight Portal and LiveTrack Mobile App.</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Get cargo insurance directly on the shipment in Magaya.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Liquidate shipments (create accounting transactions) for entire consolidations with one click.</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shipments and print labels with FedEx, UPS, USPS directly from the system.</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Take advantage of hundreds of industry-standard shipping document templates.</a:t>
            </a:r>
          </a:p>
          <a:p>
            <a:pPr>
              <a:lnSpc>
                <a:spcPct val="90000"/>
              </a:lnSpc>
              <a:spcAft>
                <a:spcPts val="600"/>
              </a:spcAft>
            </a:pPr>
            <a:r>
              <a:rPr lang="en-US" sz="1000" b="0" i="0" dirty="0">
                <a:effectLst/>
                <a:latin typeface="Open Sans" panose="020B0606030504020204" pitchFamily="34" charset="0"/>
                <a:ea typeface="Open Sans" panose="020B0606030504020204" pitchFamily="34" charset="0"/>
                <a:cs typeface="Open Sans" panose="020B0606030504020204" pitchFamily="34" charset="0"/>
              </a:rPr>
              <a:t>Shipment Transfer and Receipt in Destination Database via Magaya Network (if dest</a:t>
            </a:r>
            <a:r>
              <a:rPr lang="en-US" sz="1000" dirty="0">
                <a:latin typeface="Open Sans" panose="020B0606030504020204" pitchFamily="34" charset="0"/>
                <a:ea typeface="Open Sans" panose="020B0606030504020204" pitchFamily="34" charset="0"/>
                <a:cs typeface="Open Sans" panose="020B0606030504020204" pitchFamily="34" charset="0"/>
              </a:rPr>
              <a:t>ination</a:t>
            </a:r>
            <a:r>
              <a:rPr lang="en-US" sz="1000" b="0" i="0" dirty="0">
                <a:effectLst/>
                <a:latin typeface="Open Sans" panose="020B0606030504020204" pitchFamily="34" charset="0"/>
                <a:ea typeface="Open Sans" panose="020B0606030504020204" pitchFamily="34" charset="0"/>
                <a:cs typeface="Open Sans" panose="020B0606030504020204" pitchFamily="34" charset="0"/>
              </a:rPr>
              <a:t> Agent has Magaya)</a:t>
            </a:r>
          </a:p>
        </p:txBody>
      </p:sp>
      <p:sp>
        <p:nvSpPr>
          <p:cNvPr id="13"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Exports</a:t>
            </a:r>
            <a:endParaRPr lang="en-US" kern="0" dirty="0">
              <a:solidFill>
                <a:srgbClr val="383B48"/>
              </a:solidFill>
              <a:latin typeface="Montserrat" panose="00000500000000000000" pitchFamily="50" charset="0"/>
            </a:endParaRPr>
          </a:p>
        </p:txBody>
      </p:sp>
      <p:sp>
        <p:nvSpPr>
          <p:cNvPr id="14" name="object 9">
            <a:extLst>
              <a:ext uri="{FF2B5EF4-FFF2-40B4-BE49-F238E27FC236}">
                <a16:creationId xmlns:a16="http://schemas.microsoft.com/office/drawing/2014/main" id="{02ECBDF1-D98F-1A55-6529-6B7AA5E6FB46}"/>
              </a:ext>
            </a:extLst>
          </p:cNvPr>
          <p:cNvSpPr txBox="1"/>
          <p:nvPr/>
        </p:nvSpPr>
        <p:spPr>
          <a:xfrm>
            <a:off x="7248143" y="3137928"/>
            <a:ext cx="2657857" cy="3837974"/>
          </a:xfrm>
          <a:prstGeom prst="rect">
            <a:avLst/>
          </a:prstGeom>
        </p:spPr>
        <p:txBody>
          <a:bodyPr vert="horz" wrap="square" lIns="0" tIns="0" rIns="0" bIns="0" rtlCol="0">
            <a:spAutoFit/>
          </a:bodyPr>
          <a:lstStyle/>
          <a:p>
            <a:pPr>
              <a:lnSpc>
                <a:spcPct val="90000"/>
              </a:lnSpc>
              <a:spcAft>
                <a:spcPts val="600"/>
              </a:spcAft>
            </a:pPr>
            <a:r>
              <a:rPr lang="en-US" sz="1000" dirty="0">
                <a:latin typeface="Open Sans" panose="020B0606030504020204" pitchFamily="34" charset="0"/>
                <a:cs typeface="Open Sans" panose="020B0606030504020204" pitchFamily="34" charset="0"/>
              </a:rPr>
              <a:t>Leverage the best air cargo rates in the market within a single system to supercharge your quoting and procurement process. </a:t>
            </a:r>
          </a:p>
          <a:p>
            <a:pPr>
              <a:lnSpc>
                <a:spcPct val="90000"/>
              </a:lnSpc>
              <a:spcAft>
                <a:spcPts val="600"/>
              </a:spcAft>
            </a:pPr>
            <a:r>
              <a:rPr lang="en-US" sz="1000" dirty="0">
                <a:latin typeface="Open Sans" panose="020B0606030504020204" pitchFamily="34" charset="0"/>
                <a:cs typeface="Open Sans" panose="020B0606030504020204" pitchFamily="34" charset="0"/>
              </a:rPr>
              <a:t>Stay up to date with real-time status and event updates directly from within the events tab of your Magaya Supply Chain booking or shipment.</a:t>
            </a:r>
          </a:p>
          <a:p>
            <a:pPr>
              <a:lnSpc>
                <a:spcPct val="90000"/>
              </a:lnSpc>
              <a:spcAft>
                <a:spcPts val="600"/>
              </a:spcAft>
            </a:pPr>
            <a:endParaRPr lang="en-US" sz="1000" b="1" dirty="0">
              <a:solidFill>
                <a:srgbClr val="001691"/>
              </a:solidFill>
              <a:latin typeface="Montserrat" panose="00000500000000000000" pitchFamily="50" charset="0"/>
              <a:cs typeface="Open Sans" panose="020B0606030504020204" pitchFamily="34" charset="0"/>
            </a:endParaRPr>
          </a:p>
          <a:p>
            <a:pPr>
              <a:lnSpc>
                <a:spcPct val="88000"/>
              </a:lnSpc>
              <a:spcAft>
                <a:spcPts val="600"/>
              </a:spcAft>
            </a:pPr>
            <a:r>
              <a:rPr lang="en-US" sz="1000" b="1" dirty="0">
                <a:solidFill>
                  <a:srgbClr val="001691"/>
                </a:solidFill>
                <a:latin typeface="Montserrat" panose="00000500000000000000" pitchFamily="50" charset="0"/>
                <a:cs typeface="Open Sans" panose="020B0606030504020204" pitchFamily="34" charset="0"/>
              </a:rPr>
              <a:t>PO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Automate replenishment based on Safety Stock and seasonality.</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Calculate the average cost and landed cost, and control backorder management.</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Manage your POs via EDI into inbound shipments in your Magaya system either fully or partially.</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Send your shipments to final destination, cross-docking, or received in your warehouse.</a:t>
            </a:r>
          </a:p>
          <a:p>
            <a:pPr>
              <a:lnSpc>
                <a:spcPct val="88000"/>
              </a:lnSpc>
              <a:spcAft>
                <a:spcPts val="600"/>
              </a:spcAft>
            </a:pPr>
            <a:r>
              <a:rPr lang="en-US" sz="1000" dirty="0">
                <a:solidFill>
                  <a:srgbClr val="000000"/>
                </a:solidFill>
                <a:latin typeface="Open Sans" panose="020B0606030504020204" pitchFamily="34" charset="0"/>
                <a:cs typeface="Open Sans" panose="020B0606030504020204" pitchFamily="34" charset="0"/>
              </a:rPr>
              <a:t>Provide reports to your customer on a line item level status of the PO.</a:t>
            </a:r>
          </a:p>
          <a:p>
            <a:pPr>
              <a:lnSpc>
                <a:spcPct val="90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39652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505200" y="3505200"/>
            <a:ext cx="3124200" cy="3493264"/>
            <a:chOff x="3505200" y="3352800"/>
            <a:chExt cx="3124200" cy="4023360"/>
          </a:xfrm>
        </p:grpSpPr>
        <p:cxnSp>
          <p:nvCxnSpPr>
            <p:cNvPr id="3" name="Straight Connector 2"/>
            <p:cNvCxnSpPr/>
            <p:nvPr/>
          </p:nvCxnSpPr>
          <p:spPr>
            <a:xfrm>
              <a:off x="3505200" y="3352800"/>
              <a:ext cx="0" cy="402336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629400" y="3352800"/>
              <a:ext cx="0" cy="402336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524000"/>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Accelerate export shipping workflows and save time on manual processes with Magaya. You can also avoid double data entry by creating bookings, pickup orders, warehouse receipts, shipments, and invoices, directly from the quotes feature.</a:t>
            </a:r>
          </a:p>
        </p:txBody>
      </p:sp>
      <p:sp>
        <p:nvSpPr>
          <p:cNvPr id="7" name="object 6"/>
          <p:cNvSpPr txBox="1">
            <a:spLocks/>
          </p:cNvSpPr>
          <p:nvPr/>
        </p:nvSpPr>
        <p:spPr>
          <a:xfrm>
            <a:off x="533400" y="2209800"/>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Monitor the different stages of the logistics and transportation process, including details of the status changes of your containers</a:t>
            </a:r>
          </a:p>
          <a:p>
            <a:pPr marL="171450" indent="-171450">
              <a:spcAft>
                <a:spcPts val="300"/>
              </a:spcAft>
              <a:buClr>
                <a:srgbClr val="09A1FF"/>
              </a:buClr>
              <a:buFont typeface="Arial" panose="020B0604020202020204" pitchFamily="34" charset="0"/>
              <a:buChar char="•"/>
            </a:pPr>
            <a:r>
              <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Navigate customs and trade requirements quickly and easily, all from a single platform</a:t>
            </a:r>
          </a:p>
          <a:p>
            <a:pPr marL="171450" indent="-171450">
              <a:spcAft>
                <a:spcPts val="300"/>
              </a:spcAft>
              <a:buClr>
                <a:srgbClr val="09A1FF"/>
              </a:buClr>
              <a:buFont typeface="Arial" panose="020B0604020202020204" pitchFamily="34" charset="0"/>
              <a:buChar char="•"/>
            </a:pPr>
            <a:r>
              <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Have seamless workflows dedicated to transfer all important documents and processes for your export tasks</a:t>
            </a:r>
          </a:p>
        </p:txBody>
      </p:sp>
      <p:sp>
        <p:nvSpPr>
          <p:cNvPr id="9" name="object 9"/>
          <p:cNvSpPr txBox="1"/>
          <p:nvPr/>
        </p:nvSpPr>
        <p:spPr>
          <a:xfrm>
            <a:off x="3654552" y="3505200"/>
            <a:ext cx="2898648" cy="3961084"/>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Open Sans" panose="020B0606030504020204" pitchFamily="34" charset="0"/>
              </a:rPr>
              <a:t>VIN DECODER</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Avoid mistakes and increase efficiency by entering or scanning the VIN which populates data such as year, make, and model. </a:t>
            </a:r>
          </a:p>
          <a:p>
            <a:pPr>
              <a:lnSpc>
                <a:spcPct val="90000"/>
              </a:lnSpc>
              <a:spcAft>
                <a:spcPts val="600"/>
              </a:spcAft>
            </a:pPr>
            <a:br>
              <a:rPr lang="en-US" sz="1000" b="1" dirty="0">
                <a:solidFill>
                  <a:srgbClr val="000000"/>
                </a:solidFill>
                <a:latin typeface="Open Sans" panose="020B0606030504020204" pitchFamily="34" charset="0"/>
                <a:cs typeface="Open Sans" panose="020B0606030504020204" pitchFamily="34" charset="0"/>
              </a:rPr>
            </a:br>
            <a:r>
              <a:rPr lang="en-US" sz="1000" b="1" dirty="0">
                <a:solidFill>
                  <a:srgbClr val="001691"/>
                </a:solidFill>
                <a:latin typeface="Montserrat" panose="00000500000000000000" pitchFamily="50" charset="0"/>
                <a:cs typeface="Open Sans" panose="020B0606030504020204" pitchFamily="34" charset="0"/>
              </a:rPr>
              <a:t>COURIER SHIPPING </a:t>
            </a:r>
          </a:p>
          <a:p>
            <a:pPr>
              <a:lnSpc>
                <a:spcPct val="90000"/>
              </a:lnSpc>
            </a:pPr>
            <a:r>
              <a:rPr lang="en-US" sz="1000" dirty="0">
                <a:solidFill>
                  <a:srgbClr val="383B48"/>
                </a:solidFill>
                <a:latin typeface="Open Sans" panose="020B0606030504020204" pitchFamily="34" charset="0"/>
                <a:cs typeface="Open Sans" panose="020B0606030504020204" pitchFamily="34" charset="0"/>
              </a:rPr>
              <a:t>The Courier Connections extension gives you complete, end-to-end shipping order management including label printing and shipment tracking with connections to DHL, USPS, FedEx, UPS, and so many more.</a:t>
            </a:r>
            <a:br>
              <a:rPr lang="en-US" sz="1000" dirty="0">
                <a:solidFill>
                  <a:srgbClr val="383B48"/>
                </a:solidFill>
                <a:latin typeface="Open Sans" panose="020B0606030504020204" pitchFamily="34" charset="0"/>
                <a:cs typeface="Open Sans" panose="020B0606030504020204" pitchFamily="34" charset="0"/>
              </a:rPr>
            </a:br>
            <a:endParaRPr lang="en-US" sz="1000" dirty="0">
              <a:solidFill>
                <a:srgbClr val="383B48"/>
              </a:solidFill>
              <a:latin typeface="Open Sans" panose="020B0606030504020204" pitchFamily="34"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2" charset="0"/>
                <a:ea typeface="Open Sans" panose="020B0606030504020204" pitchFamily="34" charset="0"/>
                <a:cs typeface="Open Sans" panose="020B0606030504020204" pitchFamily="34" charset="0"/>
              </a:rPr>
              <a:t>INTTRA</a:t>
            </a:r>
          </a:p>
          <a:p>
            <a:r>
              <a:rPr lang="en-US" sz="1000" dirty="0">
                <a:latin typeface="Open Sans" panose="020B0606030504020204" pitchFamily="34" charset="0"/>
                <a:ea typeface="Open Sans" panose="020B0606030504020204" pitchFamily="34" charset="0"/>
                <a:cs typeface="Open Sans" panose="020B0606030504020204" pitchFamily="34" charset="0"/>
              </a:rPr>
              <a:t>The INTTRA and Magaya connection provides the opportunity to send bookings to ocean carriers and receive shipping instructions directly from Magaya Supply Chain.</a:t>
            </a:r>
          </a:p>
          <a:p>
            <a:endParaRPr lang="en-US" sz="1000" dirty="0">
              <a:latin typeface="Open Sans" panose="020B0606030504020204" pitchFamily="34" charset="0"/>
              <a:ea typeface="Open Sans" panose="020B0606030504020204" pitchFamily="34" charset="0"/>
              <a:cs typeface="Open Sans" panose="020B0606030504020204" pitchFamily="34" charset="0"/>
            </a:endParaRPr>
          </a:p>
          <a:p>
            <a:endParaRPr lang="en-US" sz="1000" dirty="0">
              <a:latin typeface="Open Sans" panose="020B0606030504020204" pitchFamily="34" charset="0"/>
              <a:ea typeface="Open Sans" panose="020B0606030504020204" pitchFamily="34" charset="0"/>
              <a:cs typeface="Open Sans" panose="020B0606030504020204" pitchFamily="34" charset="0"/>
            </a:endParaRPr>
          </a:p>
          <a:p>
            <a:pPr>
              <a:lnSpc>
                <a:spcPct val="110000"/>
              </a:lnSpc>
              <a:spcAft>
                <a:spcPts val="600"/>
              </a:spcAft>
            </a:pPr>
            <a:r>
              <a:rPr lang="en-US" sz="1000" b="1" dirty="0">
                <a:solidFill>
                  <a:srgbClr val="001691"/>
                </a:solidFill>
                <a:latin typeface="Montserrat" panose="00000500000000000000" pitchFamily="50" charset="0"/>
                <a:cs typeface="Montserrat-SemiBold"/>
              </a:rPr>
              <a:t>CARGO INSURANCE</a:t>
            </a:r>
          </a:p>
          <a:p>
            <a:pPr>
              <a:lnSpc>
                <a:spcPct val="110000"/>
              </a:lnSpc>
            </a:pPr>
            <a:r>
              <a:rPr lang="en-US" sz="1000" dirty="0">
                <a:solidFill>
                  <a:srgbClr val="383B48"/>
                </a:solidFill>
                <a:latin typeface="Open Sans" panose="020B0606030504020204" pitchFamily="34" charset="0"/>
                <a:cs typeface="Open Sans" panose="020B0606030504020204" pitchFamily="34" charset="0"/>
              </a:rPr>
              <a:t>Easily process insurance requests by generating and saving declarations As well as issuing a certificate of insurance directly from the shipment.</a:t>
            </a:r>
          </a:p>
        </p:txBody>
      </p:sp>
      <p:sp>
        <p:nvSpPr>
          <p:cNvPr id="13"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 APPS &amp; EXTENSIONS</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Exports</a:t>
            </a:r>
            <a:endParaRPr lang="en-US" kern="0" dirty="0">
              <a:solidFill>
                <a:srgbClr val="383B48"/>
              </a:solidFill>
              <a:latin typeface="Montserrat" panose="00000500000000000000" pitchFamily="50" charset="0"/>
            </a:endParaRPr>
          </a:p>
        </p:txBody>
      </p:sp>
      <p:sp>
        <p:nvSpPr>
          <p:cNvPr id="8" name="object 9">
            <a:extLst>
              <a:ext uri="{FF2B5EF4-FFF2-40B4-BE49-F238E27FC236}">
                <a16:creationId xmlns:a16="http://schemas.microsoft.com/office/drawing/2014/main" id="{36992C75-0A7F-1665-136A-CBBA40381362}"/>
              </a:ext>
            </a:extLst>
          </p:cNvPr>
          <p:cNvSpPr txBox="1"/>
          <p:nvPr/>
        </p:nvSpPr>
        <p:spPr>
          <a:xfrm>
            <a:off x="533400" y="3505200"/>
            <a:ext cx="2895600" cy="2714589"/>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Montserrat-SemiBold"/>
              </a:rPr>
              <a:t>DENIED PARTY SCREENING</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Scan your shipments, entities, countries, vessels against restricted party databases to avoid liability.</a:t>
            </a:r>
            <a:br>
              <a:rPr lang="en-US" sz="1000" dirty="0">
                <a:solidFill>
                  <a:srgbClr val="000000"/>
                </a:solidFill>
                <a:latin typeface="Open Sans" panose="020B0606030504020204" pitchFamily="34" charset="0"/>
                <a:cs typeface="Open Sans" panose="020B0606030504020204" pitchFamily="34" charset="0"/>
              </a:rPr>
            </a:br>
            <a:br>
              <a:rPr lang="en-US" sz="1000" dirty="0">
                <a:solidFill>
                  <a:srgbClr val="000000"/>
                </a:solidFill>
                <a:latin typeface="Open Sans" panose="020B0606030504020204" pitchFamily="34" charset="0"/>
                <a:cs typeface="Open Sans" panose="020B0606030504020204" pitchFamily="34" charset="0"/>
              </a:rPr>
            </a:br>
            <a:r>
              <a:rPr lang="en-US" sz="1000" b="1" dirty="0">
                <a:solidFill>
                  <a:srgbClr val="001691"/>
                </a:solidFill>
                <a:latin typeface="Montserrat" panose="00000500000000000000" pitchFamily="50" charset="0"/>
                <a:cs typeface="Open Sans" panose="020B0606030504020204" pitchFamily="34" charset="0"/>
              </a:rPr>
              <a:t>AUTOMATED COMMERCIAL ENVIRONMENT (ACE) OR (AES)</a:t>
            </a:r>
          </a:p>
          <a:p>
            <a:pPr>
              <a:lnSpc>
                <a:spcPct val="110000"/>
              </a:lnSpc>
              <a:spcAft>
                <a:spcPts val="600"/>
              </a:spcAft>
            </a:pPr>
            <a:r>
              <a:rPr lang="en-US" sz="1000" dirty="0">
                <a:solidFill>
                  <a:srgbClr val="000000"/>
                </a:solidFill>
                <a:latin typeface="Open Sans" panose="020B0606030504020204" pitchFamily="34" charset="0"/>
                <a:cs typeface="Open Sans" panose="020B0606030504020204" pitchFamily="34" charset="0"/>
              </a:rPr>
              <a:t>Send the Electronic Export Information (EEI), formerly called the Shipper’s Export Declaration (SED), to the U.S. Customs ACE portal and receive  confirmation back into your Magaya system. </a:t>
            </a:r>
          </a:p>
          <a:p>
            <a:pPr>
              <a:lnSpc>
                <a:spcPct val="110000"/>
              </a:lnSpc>
              <a:spcAft>
                <a:spcPts val="600"/>
              </a:spcAft>
            </a:pPr>
            <a:r>
              <a:rPr lang="en-US" sz="1000" dirty="0">
                <a:solidFill>
                  <a:srgbClr val="000000"/>
                </a:solidFill>
                <a:latin typeface="Open Sans" panose="020B0606030504020204" pitchFamily="34" charset="0"/>
                <a:cs typeface="Open Sans" panose="020B0606030504020204" pitchFamily="34" charset="0"/>
              </a:rPr>
              <a:t>Comply with U.S. Customs filing requirements stating that your export shipment documentation must be sent electronically to U.S. Customs if the value of the cargo is greater than $2,500.</a:t>
            </a:r>
          </a:p>
        </p:txBody>
      </p:sp>
      <p:sp>
        <p:nvSpPr>
          <p:cNvPr id="18" name="object 9">
            <a:extLst>
              <a:ext uri="{FF2B5EF4-FFF2-40B4-BE49-F238E27FC236}">
                <a16:creationId xmlns:a16="http://schemas.microsoft.com/office/drawing/2014/main" id="{3A9BE7EB-711E-4544-7544-CF3B8568080F}"/>
              </a:ext>
            </a:extLst>
          </p:cNvPr>
          <p:cNvSpPr txBox="1"/>
          <p:nvPr/>
        </p:nvSpPr>
        <p:spPr>
          <a:xfrm>
            <a:off x="6781800" y="3520439"/>
            <a:ext cx="3048000" cy="2877711"/>
          </a:xfrm>
          <a:prstGeom prst="rect">
            <a:avLst/>
          </a:prstGeom>
        </p:spPr>
        <p:txBody>
          <a:bodyPr vert="horz" wrap="square" lIns="0" tIns="0" rIns="0" bIns="0" rtlCol="0">
            <a:spAutoFit/>
          </a:bodyPr>
          <a:lstStyle/>
          <a:p>
            <a:pPr>
              <a:lnSpc>
                <a:spcPct val="90000"/>
              </a:lnSpc>
              <a:spcAft>
                <a:spcPts val="600"/>
              </a:spcAft>
            </a:pPr>
            <a:r>
              <a:rPr lang="en-US" sz="1000" b="1" dirty="0">
                <a:solidFill>
                  <a:srgbClr val="001691"/>
                </a:solidFill>
                <a:latin typeface="Montserrat" panose="00000500000000000000" pitchFamily="50" charset="0"/>
                <a:cs typeface="Open Sans" panose="020B0606030504020204" pitchFamily="34" charset="0"/>
              </a:rPr>
              <a:t>CONTAINER TRACKING</a:t>
            </a:r>
          </a:p>
          <a:p>
            <a:pPr algn="l" fontAlgn="base"/>
            <a:r>
              <a:rPr lang="en-US" sz="1000" b="0" i="0" dirty="0">
                <a:solidFill>
                  <a:srgbClr val="383B48"/>
                </a:solidFill>
                <a:effectLst/>
                <a:latin typeface="Open Sans" panose="020B0606030504020204" pitchFamily="34" charset="0"/>
                <a:ea typeface="Open Sans" panose="020B0606030504020204" pitchFamily="34" charset="0"/>
                <a:cs typeface="Open Sans" panose="020B0606030504020204" pitchFamily="34" charset="0"/>
              </a:rPr>
              <a:t>Track your containers worldwide across more than 100 sealines with just one click all </a:t>
            </a:r>
            <a:r>
              <a:rPr lang="en-US" sz="1000" dirty="0">
                <a:solidFill>
                  <a:srgbClr val="383B48"/>
                </a:solidFill>
                <a:latin typeface="Open Sans" panose="020B0606030504020204" pitchFamily="34" charset="0"/>
                <a:ea typeface="Open Sans" panose="020B0606030504020204" pitchFamily="34" charset="0"/>
                <a:cs typeface="Open Sans" panose="020B0606030504020204" pitchFamily="34" charset="0"/>
              </a:rPr>
              <a:t>within your Magaya Supply Chain system, </a:t>
            </a:r>
            <a:r>
              <a:rPr lang="en-US" sz="1000" b="0" i="0" dirty="0">
                <a:solidFill>
                  <a:srgbClr val="383B48"/>
                </a:solidFill>
                <a:effectLst/>
                <a:latin typeface="Open Sans" panose="020B0606030504020204" pitchFamily="34" charset="0"/>
                <a:ea typeface="Open Sans" panose="020B0606030504020204" pitchFamily="34" charset="0"/>
                <a:cs typeface="Open Sans" panose="020B0606030504020204" pitchFamily="34" charset="0"/>
              </a:rPr>
              <a:t>eliminating wasted time and manual processes. </a:t>
            </a:r>
          </a:p>
          <a:p>
            <a:pPr algn="l" fontAlgn="base"/>
            <a:endParaRPr lang="en-US" sz="100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algn="l" fontAlgn="base"/>
            <a:r>
              <a:rPr lang="en-US" sz="1000" dirty="0">
                <a:solidFill>
                  <a:srgbClr val="383B48"/>
                </a:solidFill>
                <a:latin typeface="Open Sans" panose="020B0606030504020204" pitchFamily="34" charset="0"/>
                <a:cs typeface="Open Sans" panose="020B0606030504020204" pitchFamily="34" charset="0"/>
              </a:rPr>
              <a:t>Easily share your tracked containers’ status updates as events in the Magaya Digital Freight Portal or LiveTrack Mobile App by Magaya for full self-serve, 24/7 visibility for your clients.</a:t>
            </a:r>
            <a:endParaRPr lang="en-US" sz="1000" dirty="0">
              <a:solidFill>
                <a:srgbClr val="FF0000"/>
              </a:solidFill>
              <a:latin typeface="Open Sans" panose="020B0606030504020204" pitchFamily="34" charset="0"/>
              <a:cs typeface="Open Sans" panose="020B0606030504020204" pitchFamily="34" charset="0"/>
            </a:endParaRPr>
          </a:p>
          <a:p>
            <a:endParaRPr lang="en-US" sz="1000" dirty="0">
              <a:latin typeface="Open Sans" panose="020B0606030504020204" pitchFamily="34" charset="0"/>
              <a:ea typeface="Open Sans" panose="020B0606030504020204" pitchFamily="34" charset="0"/>
              <a:cs typeface="Open Sans" panose="020B0606030504020204" pitchFamily="34" charset="0"/>
            </a:endParaRPr>
          </a:p>
          <a:p>
            <a:pPr>
              <a:lnSpc>
                <a:spcPct val="90000"/>
              </a:lnSpc>
              <a:spcAft>
                <a:spcPts val="600"/>
              </a:spcAft>
            </a:pPr>
            <a:r>
              <a:rPr lang="en-US" sz="1000" b="1" dirty="0">
                <a:solidFill>
                  <a:srgbClr val="001691"/>
                </a:solidFill>
                <a:latin typeface="Montserrat" panose="00000500000000000000" pitchFamily="50" charset="0"/>
                <a:cs typeface="Open Sans" panose="020B0606030504020204" pitchFamily="34" charset="0"/>
              </a:rPr>
              <a:t>ELECTRONIC AIR WAYBILL (EAWB)</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Access connections to 100+ airlines and communicate electronically between airlines and logistics providers such as freight forwarders. </a:t>
            </a:r>
          </a:p>
          <a:p>
            <a:pPr>
              <a:lnSpc>
                <a:spcPct val="90000"/>
              </a:lnSpc>
              <a:spcAft>
                <a:spcPts val="600"/>
              </a:spcAft>
            </a:pPr>
            <a:r>
              <a:rPr lang="en-US" sz="1000" dirty="0">
                <a:solidFill>
                  <a:srgbClr val="000000"/>
                </a:solidFill>
                <a:latin typeface="Open Sans" panose="020B0606030504020204" pitchFamily="34" charset="0"/>
                <a:cs typeface="Open Sans" panose="020B0606030504020204" pitchFamily="34" charset="0"/>
              </a:rPr>
              <a:t>Send AWB data from your Magaya system to the airline and receive confirmation directly into your Magaya system.</a:t>
            </a:r>
          </a:p>
        </p:txBody>
      </p:sp>
    </p:spTree>
    <p:extLst>
      <p:ext uri="{BB962C8B-B14F-4D97-AF65-F5344CB8AC3E}">
        <p14:creationId xmlns:p14="http://schemas.microsoft.com/office/powerpoint/2010/main" val="1842278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429000"/>
            <a:ext cx="3218688" cy="3523445"/>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Warehousing for Export Operations</a:t>
            </a:r>
            <a:endParaRPr lang="en-US" kern="0" dirty="0">
              <a:solidFill>
                <a:srgbClr val="383B48"/>
              </a:solidFill>
              <a:latin typeface="Montserrat" panose="00000500000000000000" pitchFamily="50" charset="0"/>
            </a:endParaRPr>
          </a:p>
        </p:txBody>
      </p:sp>
      <p:sp>
        <p:nvSpPr>
          <p:cNvPr id="6" name="object 4"/>
          <p:cNvSpPr txBox="1"/>
          <p:nvPr/>
        </p:nvSpPr>
        <p:spPr>
          <a:xfrm>
            <a:off x="533400" y="1584706"/>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Optimize warehouse and distribution operations, manage </a:t>
            </a:r>
            <a:r>
              <a:rPr lang="en-US" sz="12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sales orders, </a:t>
            </a:r>
            <a:r>
              <a:rPr lang="en-US" sz="1200" spc="-20" dirty="0">
                <a:latin typeface="Open Sans" panose="020B0606030504020204" pitchFamily="34" charset="0"/>
                <a:ea typeface="Open Sans" panose="020B0606030504020204" pitchFamily="34" charset="0"/>
                <a:cs typeface="Open Sans" panose="020B0606030504020204" pitchFamily="34" charset="0"/>
              </a:rPr>
              <a:t>track inventory, and oversee the aspects of the supply chain that happen before and after the warehouse.</a:t>
            </a:r>
          </a:p>
        </p:txBody>
      </p:sp>
      <p:sp>
        <p:nvSpPr>
          <p:cNvPr id="7" name="object 6"/>
          <p:cNvSpPr txBox="1">
            <a:spLocks/>
          </p:cNvSpPr>
          <p:nvPr/>
        </p:nvSpPr>
        <p:spPr>
          <a:xfrm>
            <a:off x="533400" y="2211130"/>
            <a:ext cx="9296400" cy="869469"/>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YOUR BENEFITS</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Enable seamless workflows between warehousing and shipping, allowing cargo to be loaded directly to outbound shipments</a:t>
            </a:r>
          </a:p>
          <a:p>
            <a:pPr marL="171450" indent="-171450">
              <a:spcAft>
                <a:spcPts val="300"/>
              </a:spcAft>
              <a:buClr>
                <a:srgbClr val="09A1FF"/>
              </a:buClr>
              <a:buFont typeface="Arial" panose="020B0604020202020204" pitchFamily="34" charset="0"/>
              <a:buChar char="•"/>
            </a:pPr>
            <a:r>
              <a:rPr lang="en-US" sz="1100" spc="-5" dirty="0">
                <a:solidFill>
                  <a:srgbClr val="383B48"/>
                </a:solidFill>
                <a:latin typeface="Open Sans" panose="020B0606030504020204" pitchFamily="34" charset="0"/>
                <a:cs typeface="Open Sans" panose="020B0606030504020204" pitchFamily="34" charset="0"/>
              </a:rPr>
              <a:t>Optimize your warehouse productivity, enabling you to run a profitable warehouse without the expense of a third-party WMS solution</a:t>
            </a:r>
          </a:p>
          <a:p>
            <a:pPr marL="171450" indent="-171450">
              <a:spcAft>
                <a:spcPts val="3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Easily send tracking numbers and inventory updates to the online sales channel the moment you ship the order</a:t>
            </a:r>
          </a:p>
        </p:txBody>
      </p:sp>
      <p:sp>
        <p:nvSpPr>
          <p:cNvPr id="8" name="object 9"/>
          <p:cNvSpPr txBox="1"/>
          <p:nvPr/>
        </p:nvSpPr>
        <p:spPr>
          <a:xfrm>
            <a:off x="533400" y="3489959"/>
            <a:ext cx="2895600" cy="3462486"/>
          </a:xfrm>
          <a:prstGeom prst="rect">
            <a:avLst/>
          </a:prstGeom>
        </p:spPr>
        <p:txBody>
          <a:bodyPr vert="horz" wrap="square" lIns="0" tIns="0" rIns="0" bIns="0" rtlCol="0">
            <a:spAutoFit/>
          </a:bodyPr>
          <a:lstStyle/>
          <a:p>
            <a:pPr>
              <a:spcAft>
                <a:spcPts val="600"/>
              </a:spcAft>
            </a:pPr>
            <a:r>
              <a:rPr lang="en-US" sz="1000" b="1" dirty="0">
                <a:solidFill>
                  <a:srgbClr val="001691"/>
                </a:solidFill>
                <a:latin typeface="Montserrat" panose="00000500000000000000" pitchFamily="50" charset="0"/>
                <a:cs typeface="Open Sans" panose="020B0606030504020204" pitchFamily="34" charset="0"/>
              </a:rPr>
              <a:t>WAREHOUSE RECEIPTS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Process on-hand cargo directly from quotes, bookings, pickup orders or inbound shipments.</a:t>
            </a:r>
          </a:p>
          <a:p>
            <a:r>
              <a:rPr lang="en-US" sz="1000" dirty="0">
                <a:solidFill>
                  <a:srgbClr val="000000"/>
                </a:solidFill>
                <a:latin typeface="Open Sans" panose="020B0606030504020204" pitchFamily="34" charset="0"/>
                <a:cs typeface="Open Sans" panose="020B0606030504020204" pitchFamily="34" charset="0"/>
              </a:rPr>
              <a:t>Leverage seamless workflows between warehousing and shipping which enables cargo to be loaded directly onto outbound shipment.</a:t>
            </a:r>
          </a:p>
          <a:p>
            <a:endParaRPr lang="en-US" sz="1000" dirty="0">
              <a:solidFill>
                <a:srgbClr val="000000"/>
              </a:solidFill>
              <a:latin typeface="Open Sans" panose="020B0606030504020204" pitchFamily="34"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SALES ORDER MANAGEMENT</a:t>
            </a:r>
          </a:p>
          <a:p>
            <a:pPr>
              <a:spcAft>
                <a:spcPts val="600"/>
              </a:spcAft>
            </a:pPr>
            <a:r>
              <a:rPr lang="en-US" sz="1000" dirty="0">
                <a:solidFill>
                  <a:srgbClr val="000000"/>
                </a:solidFill>
                <a:latin typeface="Open Sans" panose="020B0606030504020204" pitchFamily="34" charset="0"/>
                <a:cs typeface="Open Sans" panose="020B0606030504020204" pitchFamily="34" charset="0"/>
              </a:rPr>
              <a:t>Create Sales Orders from Commerce Quotes.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and create automated allocation rules.</a:t>
            </a:r>
          </a:p>
          <a:p>
            <a:r>
              <a:rPr lang="en-US" sz="1000" dirty="0">
                <a:solidFill>
                  <a:srgbClr val="000000"/>
                </a:solidFill>
                <a:latin typeface="Open Sans" panose="020B0606030504020204" pitchFamily="34" charset="0"/>
                <a:cs typeface="Open Sans" panose="020B0606030504020204" pitchFamily="34" charset="0"/>
              </a:rPr>
              <a:t>Create pricing rules and minimum price protection.</a:t>
            </a:r>
          </a:p>
          <a:p>
            <a:endParaRPr lang="en-US" sz="1000" dirty="0">
              <a:solidFill>
                <a:srgbClr val="000000"/>
              </a:solidFill>
              <a:latin typeface="Open Sans" panose="020B0606030504020204" pitchFamily="34"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WAREHOUSE OPERATIONS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arrival and location of cargo, SKUs, serial numbers, lot numbers, and multiple stores.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your workday more efficiently with insights into real-time inventory, orders, and more.</a:t>
            </a:r>
          </a:p>
        </p:txBody>
      </p:sp>
      <p:sp>
        <p:nvSpPr>
          <p:cNvPr id="9" name="object 9"/>
          <p:cNvSpPr txBox="1"/>
          <p:nvPr/>
        </p:nvSpPr>
        <p:spPr>
          <a:xfrm>
            <a:off x="3675888" y="3489959"/>
            <a:ext cx="3029712" cy="3231654"/>
          </a:xfrm>
          <a:prstGeom prst="rect">
            <a:avLst/>
          </a:prstGeom>
        </p:spPr>
        <p:txBody>
          <a:bodyPr vert="horz" wrap="square" lIns="0" tIns="0" rIns="0" bIns="0" rtlCol="0">
            <a:spAutoFit/>
          </a:bodyPr>
          <a:lstStyle/>
          <a:p>
            <a:pPr>
              <a:spcAft>
                <a:spcPts val="600"/>
              </a:spcAft>
            </a:pPr>
            <a:r>
              <a:rPr lang="en-US" sz="1000" b="1" dirty="0">
                <a:solidFill>
                  <a:srgbClr val="001691"/>
                </a:solidFill>
                <a:latin typeface="Montserrat" panose="00000500000000000000" pitchFamily="50" charset="0"/>
                <a:cs typeface="Open Sans" panose="020B0606030504020204" pitchFamily="34" charset="0"/>
              </a:rPr>
              <a:t>SMART WAREHOUSE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inventory by part numbers, serial numbers, lot numbers, expiration dates.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Access inventory queue types supported: FIFO, LIFO, FEFO, LEFO.</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Direct the operators to the right locations in the warehouse using pick and put-away sequences.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Operate automatic replenishment with ease, from storage to pick locations.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multiple warehouses in one database.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Manage on-hand cargo directly from quotes, bookings, pickup orders or inbound shipments.</a:t>
            </a:r>
          </a:p>
          <a:p>
            <a:pPr>
              <a:spcAft>
                <a:spcPts val="600"/>
              </a:spcAft>
            </a:pPr>
            <a:r>
              <a:rPr lang="en-US" sz="1000" dirty="0">
                <a:solidFill>
                  <a:srgbClr val="000000"/>
                </a:solidFill>
                <a:latin typeface="Open Sans" panose="020B0606030504020204" pitchFamily="34" charset="0"/>
                <a:cs typeface="Open Sans" panose="020B0606030504020204" pitchFamily="34" charset="0"/>
              </a:rPr>
              <a:t>Keep a record of arrival and location of cargo, SKU’s, serial numbers, lot numbers, and expiration date.</a:t>
            </a:r>
          </a:p>
          <a:p>
            <a:pPr>
              <a:spcAft>
                <a:spcPts val="600"/>
              </a:spcAft>
            </a:pPr>
            <a:r>
              <a:rPr lang="en-US" sz="1000" dirty="0">
                <a:solidFill>
                  <a:srgbClr val="000000"/>
                </a:solidFill>
                <a:latin typeface="Open Sans" panose="020B0606030504020204" pitchFamily="34" charset="0"/>
                <a:cs typeface="Open Sans" panose="020B0606030504020204" pitchFamily="34" charset="0"/>
              </a:rPr>
              <a:t>Define locations for receiving, storage, quality control, holding area, replenishments, etc.</a:t>
            </a:r>
          </a:p>
        </p:txBody>
      </p:sp>
      <p:sp>
        <p:nvSpPr>
          <p:cNvPr id="13" name="object 9">
            <a:extLst>
              <a:ext uri="{FF2B5EF4-FFF2-40B4-BE49-F238E27FC236}">
                <a16:creationId xmlns:a16="http://schemas.microsoft.com/office/drawing/2014/main" id="{F3B6EA66-7AF0-CB47-BB20-5057CFFFA959}"/>
              </a:ext>
            </a:extLst>
          </p:cNvPr>
          <p:cNvSpPr txBox="1"/>
          <p:nvPr/>
        </p:nvSpPr>
        <p:spPr>
          <a:xfrm>
            <a:off x="6897208" y="3493423"/>
            <a:ext cx="2895600" cy="2539157"/>
          </a:xfrm>
          <a:prstGeom prst="rect">
            <a:avLst/>
          </a:prstGeom>
        </p:spPr>
        <p:txBody>
          <a:bodyPr vert="horz" wrap="square" lIns="0" tIns="0" rIns="0" bIns="0" rtlCol="0">
            <a:spAutoFit/>
          </a:bodyPr>
          <a:lstStyle/>
          <a:p>
            <a:r>
              <a:rPr lang="en-US" sz="1000" b="1" dirty="0">
                <a:solidFill>
                  <a:srgbClr val="09A1FF"/>
                </a:solidFill>
                <a:latin typeface="Montserrat" panose="00000500000000000000" pitchFamily="50" charset="0"/>
                <a:cs typeface="Open Sans" panose="020B0606030504020204" pitchFamily="34" charset="0"/>
              </a:rPr>
              <a:t>MAGAYA SUPPLY CHAIN APPS &amp; EXTENSIONS FOR WAREHOUSE MANAGEMENT</a:t>
            </a:r>
          </a:p>
          <a:p>
            <a:endParaRPr lang="en-US" sz="1000" b="1" dirty="0">
              <a:solidFill>
                <a:srgbClr val="001691"/>
              </a:solidFill>
              <a:latin typeface="Montserrat" panose="00000500000000000000" pitchFamily="50"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FLOW WMS MOBILE APP</a:t>
            </a:r>
          </a:p>
          <a:p>
            <a:pPr>
              <a:spcAft>
                <a:spcPts val="600"/>
              </a:spcAft>
            </a:pPr>
            <a:r>
              <a:rPr lang="en-US" sz="1000" dirty="0">
                <a:solidFill>
                  <a:srgbClr val="000000"/>
                </a:solidFill>
                <a:latin typeface="Open Sans" panose="020B0606030504020204" pitchFamily="34" charset="0"/>
                <a:cs typeface="Open Sans" panose="020B0606030504020204" pitchFamily="34" charset="0"/>
              </a:rPr>
              <a:t>Take complete control of your inventory, tasks, receiving and shipping process in real time with the Flow WMS app.</a:t>
            </a:r>
          </a:p>
          <a:p>
            <a:r>
              <a:rPr lang="en-US" sz="1000" dirty="0">
                <a:solidFill>
                  <a:srgbClr val="000000"/>
                </a:solidFill>
                <a:latin typeface="Open Sans" panose="020B0606030504020204" pitchFamily="34" charset="0"/>
                <a:cs typeface="Open Sans" panose="020B0606030504020204" pitchFamily="34" charset="0"/>
              </a:rPr>
              <a:t>Integrates with Dimensioner to truly optimize the pick and pack process.</a:t>
            </a:r>
          </a:p>
          <a:p>
            <a:endParaRPr lang="en-US" sz="1000" b="1" dirty="0">
              <a:solidFill>
                <a:srgbClr val="001691"/>
              </a:solidFill>
              <a:latin typeface="Montserrat" panose="00000500000000000000" pitchFamily="50" charset="0"/>
              <a:cs typeface="Open Sans" panose="020B0606030504020204" pitchFamily="34" charset="0"/>
            </a:endParaRPr>
          </a:p>
          <a:p>
            <a:pPr>
              <a:spcAft>
                <a:spcPts val="600"/>
              </a:spcAft>
            </a:pPr>
            <a:r>
              <a:rPr lang="en-US" sz="1000" b="1" dirty="0">
                <a:solidFill>
                  <a:srgbClr val="001691"/>
                </a:solidFill>
                <a:latin typeface="Montserrat" panose="00000500000000000000" pitchFamily="50" charset="0"/>
                <a:cs typeface="Open Sans" panose="020B0606030504020204" pitchFamily="34" charset="0"/>
              </a:rPr>
              <a:t>PALLET AND PAREL DIMENSIONER</a:t>
            </a:r>
          </a:p>
          <a:p>
            <a:r>
              <a:rPr lang="en-US" sz="1000" dirty="0">
                <a:solidFill>
                  <a:srgbClr val="383B48"/>
                </a:solidFill>
                <a:latin typeface="Open Sans" panose="020B0606030504020204" pitchFamily="34" charset="0"/>
                <a:cs typeface="Open Sans" panose="020B0606030504020204" pitchFamily="34" charset="0"/>
              </a:rPr>
              <a:t>Take fast and efficient measurements of pallets or parcels, regardless of shape, size or material with sophisticated software algorithms.</a:t>
            </a:r>
          </a:p>
        </p:txBody>
      </p:sp>
    </p:spTree>
    <p:extLst>
      <p:ext uri="{BB962C8B-B14F-4D97-AF65-F5344CB8AC3E}">
        <p14:creationId xmlns:p14="http://schemas.microsoft.com/office/powerpoint/2010/main" val="2026245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814097"/>
            <a:ext cx="3218688" cy="2815303"/>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Accounting</a:t>
            </a:r>
            <a:endParaRPr lang="en-US" kern="0" dirty="0">
              <a:solidFill>
                <a:srgbClr val="383B48"/>
              </a:solidFill>
              <a:latin typeface="Montserrat" panose="00000500000000000000" pitchFamily="50" charset="0"/>
            </a:endParaRPr>
          </a:p>
        </p:txBody>
      </p:sp>
      <p:sp>
        <p:nvSpPr>
          <p:cNvPr id="6" name="object 4"/>
          <p:cNvSpPr txBox="1"/>
          <p:nvPr/>
        </p:nvSpPr>
        <p:spPr>
          <a:xfrm>
            <a:off x="533400" y="1573241"/>
            <a:ext cx="9296400" cy="720197"/>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Keep your operations and accounting synced on one platform and automate your workflows, including recurring billing and periodic invoices. Manage accounts receivable and accounts payable with ease, as well as generate reports, providing clear insight into the financial health of your business.</a:t>
            </a:r>
          </a:p>
        </p:txBody>
      </p:sp>
      <p:sp>
        <p:nvSpPr>
          <p:cNvPr id="7" name="object 6"/>
          <p:cNvSpPr txBox="1">
            <a:spLocks/>
          </p:cNvSpPr>
          <p:nvPr/>
        </p:nvSpPr>
        <p:spPr>
          <a:xfrm>
            <a:off x="533400" y="2507491"/>
            <a:ext cx="9296400" cy="997709"/>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YOUR BENEFITS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Transfer your information between all your logistics transactions to create the necessary accounting records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Generate reports that provide you with the exact information you need </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cs typeface="Open Sans" panose="020B0606030504020204" pitchFamily="34" charset="0"/>
              </a:rPr>
              <a:t>Work with multiple currencies</a:t>
            </a:r>
          </a:p>
        </p:txBody>
      </p:sp>
      <p:sp>
        <p:nvSpPr>
          <p:cNvPr id="8" name="object 9"/>
          <p:cNvSpPr txBox="1"/>
          <p:nvPr/>
        </p:nvSpPr>
        <p:spPr>
          <a:xfrm>
            <a:off x="533400" y="3845401"/>
            <a:ext cx="2895600" cy="2926186"/>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INTEGRATED OPERATIONS AND ACCOUNTING</a:t>
            </a:r>
          </a:p>
          <a:p>
            <a:pPr>
              <a:lnSpc>
                <a:spcPct val="120000"/>
              </a:lnSpc>
              <a:spcAft>
                <a:spcPts val="600"/>
              </a:spcAft>
            </a:pPr>
            <a:r>
              <a:rPr lang="en-US" sz="1000" dirty="0">
                <a:latin typeface="Open Sans" panose="020B0606030504020204" pitchFamily="34" charset="0"/>
                <a:cs typeface="Open Sans" panose="020B0606030504020204" pitchFamily="34" charset="0"/>
              </a:rPr>
              <a:t>Liquidate operations (create accounting  </a:t>
            </a:r>
            <a:br>
              <a:rPr lang="en-US" sz="1000" dirty="0">
                <a:latin typeface="Open Sans" panose="020B0606030504020204" pitchFamily="34" charset="0"/>
                <a:cs typeface="Open Sans" panose="020B0606030504020204" pitchFamily="34" charset="0"/>
              </a:rPr>
            </a:br>
            <a:r>
              <a:rPr lang="en-US" sz="1000" dirty="0">
                <a:latin typeface="Open Sans" panose="020B0606030504020204" pitchFamily="34" charset="0"/>
                <a:cs typeface="Open Sans" panose="020B0606030504020204" pitchFamily="34" charset="0"/>
              </a:rPr>
              <a:t>transactions) with one click.</a:t>
            </a:r>
          </a:p>
          <a:p>
            <a:pPr>
              <a:lnSpc>
                <a:spcPct val="120000"/>
              </a:lnSpc>
              <a:spcAft>
                <a:spcPts val="600"/>
              </a:spcAft>
            </a:pPr>
            <a:r>
              <a:rPr lang="en-US" sz="1000" dirty="0">
                <a:latin typeface="Open Sans" panose="020B0606030504020204" pitchFamily="34" charset="0"/>
                <a:cs typeface="Open Sans" panose="020B0606030504020204" pitchFamily="34" charset="0"/>
              </a:rPr>
              <a:t>Maintain visibility as invoices and bills stay </a:t>
            </a:r>
            <a:br>
              <a:rPr lang="en-US" sz="1000" dirty="0">
                <a:latin typeface="Open Sans" panose="020B0606030504020204" pitchFamily="34" charset="0"/>
                <a:cs typeface="Open Sans" panose="020B0606030504020204" pitchFamily="34" charset="0"/>
              </a:rPr>
            </a:br>
            <a:r>
              <a:rPr lang="en-US" sz="1000" dirty="0">
                <a:latin typeface="Open Sans" panose="020B0606030504020204" pitchFamily="34" charset="0"/>
                <a:cs typeface="Open Sans" panose="020B0606030504020204" pitchFamily="34" charset="0"/>
              </a:rPr>
              <a:t>linked to operations and display reference info.</a:t>
            </a:r>
          </a:p>
          <a:p>
            <a:pPr>
              <a:lnSpc>
                <a:spcPct val="120000"/>
              </a:lnSpc>
              <a:spcAft>
                <a:spcPts val="600"/>
              </a:spcAft>
            </a:pPr>
            <a:r>
              <a:rPr lang="en-US" sz="1000" dirty="0">
                <a:latin typeface="Open Sans" panose="020B0606030504020204" pitchFamily="34" charset="0"/>
                <a:cs typeface="Open Sans" panose="020B0606030504020204" pitchFamily="34" charset="0"/>
              </a:rPr>
              <a:t>View Profit and Loss by Operation.</a:t>
            </a:r>
          </a:p>
          <a:p>
            <a:pPr>
              <a:lnSpc>
                <a:spcPct val="120000"/>
              </a:lnSpc>
              <a:spcAft>
                <a:spcPts val="600"/>
              </a:spcAft>
            </a:pPr>
            <a:r>
              <a:rPr lang="en-US" sz="1000" dirty="0">
                <a:latin typeface="Open Sans" panose="020B0606030504020204" pitchFamily="34" charset="0"/>
                <a:cs typeface="Open Sans" panose="020B0606030504020204" pitchFamily="34" charset="0"/>
              </a:rPr>
              <a:t>Assign role-based permissions to employees for greater flexibility, security, and control.</a:t>
            </a:r>
          </a:p>
          <a:p>
            <a:pPr>
              <a:lnSpc>
                <a:spcPct val="120000"/>
              </a:lnSpc>
              <a:spcAft>
                <a:spcPts val="600"/>
              </a:spcAft>
            </a:pPr>
            <a:endParaRPr lang="en-US" sz="1000" dirty="0">
              <a:solidFill>
                <a:srgbClr val="000000"/>
              </a:solidFill>
              <a:latin typeface="Open Sans" panose="020B0606030504020204" pitchFamily="34" charset="0"/>
              <a:cs typeface="Open Sans" panose="020B0606030504020204" pitchFamily="34" charset="0"/>
            </a:endParaRPr>
          </a:p>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ONLINE PAYMENTS</a:t>
            </a:r>
          </a:p>
          <a:p>
            <a:pPr>
              <a:lnSpc>
                <a:spcPct val="120000"/>
              </a:lnSpc>
              <a:spcAft>
                <a:spcPts val="600"/>
              </a:spcAft>
            </a:pPr>
            <a:r>
              <a:rPr lang="en-US" sz="1000" dirty="0">
                <a:latin typeface="Open Sans" panose="020B0606030504020204" pitchFamily="34" charset="0"/>
                <a:cs typeface="Open Sans" panose="020B0606030504020204" pitchFamily="34" charset="0"/>
              </a:rPr>
              <a:t>Receive online payments via </a:t>
            </a:r>
            <a:r>
              <a:rPr lang="en-US" sz="1000" dirty="0">
                <a:solidFill>
                  <a:srgbClr val="383B48"/>
                </a:solidFill>
                <a:latin typeface="Open Sans" panose="020B0606030504020204" pitchFamily="34" charset="0"/>
                <a:cs typeface="Open Sans" panose="020B0606030504020204" pitchFamily="34" charset="0"/>
              </a:rPr>
              <a:t>First Data and Veem.</a:t>
            </a:r>
          </a:p>
        </p:txBody>
      </p:sp>
      <p:sp>
        <p:nvSpPr>
          <p:cNvPr id="9" name="object 9"/>
          <p:cNvSpPr txBox="1"/>
          <p:nvPr/>
        </p:nvSpPr>
        <p:spPr>
          <a:xfrm>
            <a:off x="3730752" y="3845401"/>
            <a:ext cx="2898648" cy="2569678"/>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ACCOUNTING TRANSACTIONS</a:t>
            </a:r>
          </a:p>
          <a:p>
            <a:pPr>
              <a:lnSpc>
                <a:spcPct val="120000"/>
              </a:lnSpc>
              <a:spcAft>
                <a:spcPts val="600"/>
              </a:spcAft>
            </a:pPr>
            <a:r>
              <a:rPr lang="en-US" sz="1000" dirty="0">
                <a:latin typeface="Open Sans" panose="020B0606030504020204" pitchFamily="34" charset="0"/>
                <a:cs typeface="Open Sans" panose="020B0606030504020204" pitchFamily="34" charset="0"/>
              </a:rPr>
              <a:t>Leverage integrated accounting functionality:</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General Ledger</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AR and AP with aging reports Profit and Loss reports</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Full suite of financial reports  </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Customer and Vendor Payments</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Bank reconciliation and fiscal year closing  Multicurrency accounting</a:t>
            </a:r>
          </a:p>
          <a:p>
            <a:pPr marL="171450" indent="-171450">
              <a:lnSpc>
                <a:spcPct val="120000"/>
              </a:lnSpc>
              <a:spcAft>
                <a:spcPts val="600"/>
              </a:spcAft>
              <a:buFont typeface="Arial" panose="020B0604020202020204" pitchFamily="34" charset="0"/>
              <a:buChar char="•"/>
            </a:pPr>
            <a:r>
              <a:rPr lang="en-US" sz="1000" dirty="0">
                <a:latin typeface="Open Sans" panose="020B0606030504020204" pitchFamily="34" charset="0"/>
                <a:cs typeface="Open Sans" panose="020B0606030504020204" pitchFamily="34" charset="0"/>
              </a:rPr>
              <a:t>Automated recurring billing and periodic invoices</a:t>
            </a:r>
          </a:p>
        </p:txBody>
      </p:sp>
      <p:sp>
        <p:nvSpPr>
          <p:cNvPr id="10" name="object 9"/>
          <p:cNvSpPr txBox="1"/>
          <p:nvPr/>
        </p:nvSpPr>
        <p:spPr>
          <a:xfrm>
            <a:off x="6931152" y="3845401"/>
            <a:ext cx="2898648" cy="1707903"/>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QUICKBOOKS ONLINE EXTENSION</a:t>
            </a:r>
          </a:p>
          <a:p>
            <a:pPr>
              <a:lnSpc>
                <a:spcPct val="120000"/>
              </a:lnSpc>
              <a:spcAft>
                <a:spcPts val="600"/>
              </a:spcAft>
            </a:pPr>
            <a:r>
              <a:rPr lang="en-US" sz="1000" dirty="0">
                <a:latin typeface="Open Sans" panose="020B0606030504020204" pitchFamily="34" charset="0"/>
                <a:cs typeface="Open Sans" panose="020B0606030504020204" pitchFamily="34" charset="0"/>
              </a:rPr>
              <a:t>Connect your Magaya system to your QuickBooks Online account.</a:t>
            </a:r>
          </a:p>
          <a:p>
            <a:pPr>
              <a:lnSpc>
                <a:spcPct val="120000"/>
              </a:lnSpc>
              <a:spcAft>
                <a:spcPts val="600"/>
              </a:spcAft>
            </a:pPr>
            <a:r>
              <a:rPr lang="en-US" sz="1000" dirty="0">
                <a:latin typeface="Open Sans" panose="020B0606030504020204" pitchFamily="34" charset="0"/>
                <a:cs typeface="Open Sans" panose="020B0606030504020204" pitchFamily="34" charset="0"/>
              </a:rPr>
              <a:t>Sync your Magaya invoices, credit memos, bills, and bill credits between both systems. </a:t>
            </a:r>
          </a:p>
          <a:p>
            <a:pPr>
              <a:lnSpc>
                <a:spcPct val="120000"/>
              </a:lnSpc>
              <a:spcAft>
                <a:spcPts val="600"/>
              </a:spcAft>
            </a:pPr>
            <a:r>
              <a:rPr lang="en-US" sz="1000" dirty="0">
                <a:latin typeface="Open Sans" panose="020B0606030504020204" pitchFamily="34" charset="0"/>
                <a:cs typeface="Open Sans" panose="020B0606030504020204" pitchFamily="34" charset="0"/>
              </a:rPr>
              <a:t>Ensure data is consistent across platforms as information flows freely between Magaya and QuickBooks Online.</a:t>
            </a:r>
          </a:p>
        </p:txBody>
      </p:sp>
    </p:spTree>
    <p:extLst>
      <p:ext uri="{BB962C8B-B14F-4D97-AF65-F5344CB8AC3E}">
        <p14:creationId xmlns:p14="http://schemas.microsoft.com/office/powerpoint/2010/main" val="289353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47872" y="3991832"/>
            <a:ext cx="3218688" cy="2377440"/>
            <a:chOff x="3547872" y="3291840"/>
            <a:chExt cx="3218688" cy="4005072"/>
          </a:xfrm>
        </p:grpSpPr>
        <p:cxnSp>
          <p:nvCxnSpPr>
            <p:cNvPr id="3" name="Straight Connector 2"/>
            <p:cNvCxnSpPr/>
            <p:nvPr/>
          </p:nvCxnSpPr>
          <p:spPr>
            <a:xfrm>
              <a:off x="3547872"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6766560" y="3291840"/>
              <a:ext cx="0" cy="400507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object 4"/>
          <p:cNvSpPr txBox="1"/>
          <p:nvPr/>
        </p:nvSpPr>
        <p:spPr>
          <a:xfrm>
            <a:off x="533400" y="1573241"/>
            <a:ext cx="9296400" cy="459869"/>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Leverage the branding of your business with our configuration options, including document templates, and more. Our ecosystem of extensions and apps, coupled with our built-in features, are designed to make your business more productive.</a:t>
            </a:r>
          </a:p>
        </p:txBody>
      </p:sp>
      <p:sp>
        <p:nvSpPr>
          <p:cNvPr id="7" name="object 6"/>
          <p:cNvSpPr txBox="1">
            <a:spLocks/>
          </p:cNvSpPr>
          <p:nvPr/>
        </p:nvSpPr>
        <p:spPr>
          <a:xfrm>
            <a:off x="533400" y="2209800"/>
            <a:ext cx="9296400" cy="984885"/>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YOUR BENEFITS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Personalize your documents by using our configurable templates</a:t>
            </a:r>
          </a:p>
          <a:p>
            <a:pPr marL="171450" indent="-171450">
              <a:spcAft>
                <a:spcPts val="600"/>
              </a:spcAft>
              <a:buClr>
                <a:srgbClr val="09A1FF"/>
              </a:buClr>
              <a:buFont typeface="Arial" panose="020B0604020202020204" pitchFamily="34" charset="0"/>
              <a:buChar char="•"/>
            </a:pPr>
            <a:r>
              <a:rPr lang="en-US" sz="1100" spc="-5" dirty="0">
                <a:latin typeface="Open Sans" panose="020B0606030504020204" pitchFamily="34" charset="0"/>
                <a:ea typeface="Open Sans" panose="020B0606030504020204" pitchFamily="34" charset="0"/>
                <a:cs typeface="Open Sans" panose="020B0606030504020204" pitchFamily="34" charset="0"/>
              </a:rPr>
              <a:t>Leverage complex logic</a:t>
            </a:r>
          </a:p>
          <a:p>
            <a:pPr marL="171450" indent="-171450">
              <a:spcAft>
                <a:spcPts val="600"/>
              </a:spcAft>
              <a:buClr>
                <a:srgbClr val="09A1FF"/>
              </a:buClr>
              <a:buFont typeface="Arial" panose="020B0604020202020204" pitchFamily="34" charset="0"/>
              <a:buChar char="•"/>
            </a:pPr>
            <a:r>
              <a:rPr lang="en-US" sz="1100" dirty="0">
                <a:effectLst/>
                <a:latin typeface="Open Sans" panose="020B0606030504020204" pitchFamily="34" charset="0"/>
                <a:ea typeface="Open Sans" panose="020B0606030504020204" pitchFamily="34" charset="0"/>
                <a:cs typeface="Open Sans" panose="020B0606030504020204" pitchFamily="34" charset="0"/>
              </a:rPr>
              <a:t>Choose from a variety of connectivity options, including XML and EDI</a:t>
            </a:r>
          </a:p>
        </p:txBody>
      </p:sp>
      <p:sp>
        <p:nvSpPr>
          <p:cNvPr id="8" name="object 9"/>
          <p:cNvSpPr txBox="1"/>
          <p:nvPr/>
        </p:nvSpPr>
        <p:spPr>
          <a:xfrm>
            <a:off x="544286" y="4010991"/>
            <a:ext cx="2895600" cy="2618409"/>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JOBS</a:t>
            </a:r>
          </a:p>
          <a:p>
            <a:pPr>
              <a:lnSpc>
                <a:spcPct val="120000"/>
              </a:lnSpc>
            </a:pPr>
            <a:r>
              <a:rPr lang="en-US" sz="1000" dirty="0">
                <a:solidFill>
                  <a:srgbClr val="000000"/>
                </a:solidFill>
                <a:latin typeface="Open Sans" panose="020B0606030504020204" pitchFamily="34" charset="0"/>
                <a:cs typeface="Open Sans" panose="020B0606030504020204" pitchFamily="34" charset="0"/>
              </a:rPr>
              <a:t>Combine many transactions of different types into one project with its respective accounting and profitability tracking. Ideal for project cargo in shipping.</a:t>
            </a:r>
          </a:p>
          <a:p>
            <a:pPr>
              <a:lnSpc>
                <a:spcPct val="120000"/>
              </a:lnSpc>
            </a:pPr>
            <a:endParaRPr lang="en-US" sz="1000" dirty="0">
              <a:solidFill>
                <a:srgbClr val="000000"/>
              </a:solidFill>
              <a:latin typeface="Open Sans" panose="020B0606030504020204" pitchFamily="34" charset="0"/>
              <a:cs typeface="Open Sans" panose="020B0606030504020204" pitchFamily="34" charset="0"/>
            </a:endParaRPr>
          </a:p>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TASKS</a:t>
            </a:r>
          </a:p>
          <a:p>
            <a:pPr>
              <a:lnSpc>
                <a:spcPct val="120000"/>
              </a:lnSpc>
              <a:spcAft>
                <a:spcPts val="600"/>
              </a:spcAft>
            </a:pPr>
            <a:r>
              <a:rPr lang="en-US" sz="1000" dirty="0">
                <a:latin typeface="Open Sans" panose="020B0606030504020204" pitchFamily="34" charset="0"/>
                <a:cs typeface="Open Sans" panose="020B0606030504020204" pitchFamily="34" charset="0"/>
              </a:rPr>
              <a:t>Create reminders by email or on-screen popups.</a:t>
            </a:r>
          </a:p>
          <a:p>
            <a:pPr>
              <a:lnSpc>
                <a:spcPct val="120000"/>
              </a:lnSpc>
              <a:spcAft>
                <a:spcPts val="600"/>
              </a:spcAft>
            </a:pPr>
            <a:r>
              <a:rPr lang="en-US" sz="1000" dirty="0">
                <a:latin typeface="Open Sans" panose="020B0606030504020204" pitchFamily="34" charset="0"/>
                <a:cs typeface="Open Sans" panose="020B0606030504020204" pitchFamily="34" charset="0"/>
              </a:rPr>
              <a:t>Assign tasks to any user in the system.</a:t>
            </a:r>
          </a:p>
          <a:p>
            <a:pPr>
              <a:lnSpc>
                <a:spcPct val="120000"/>
              </a:lnSpc>
              <a:spcAft>
                <a:spcPts val="600"/>
              </a:spcAft>
            </a:pPr>
            <a:r>
              <a:rPr lang="en-US" sz="1000" dirty="0">
                <a:latin typeface="Open Sans" panose="020B0606030504020204" pitchFamily="34" charset="0"/>
                <a:cs typeface="Open Sans" panose="020B0606030504020204" pitchFamily="34" charset="0"/>
              </a:rPr>
              <a:t>Visibility into employee time to complete tasks.</a:t>
            </a:r>
          </a:p>
          <a:p>
            <a:pPr>
              <a:lnSpc>
                <a:spcPct val="90000"/>
              </a:lnSpc>
              <a:spcAft>
                <a:spcPts val="600"/>
              </a:spcAft>
            </a:pPr>
            <a:endParaRPr lang="en-US" sz="1000" b="1" dirty="0">
              <a:solidFill>
                <a:srgbClr val="001691"/>
              </a:solidFill>
              <a:latin typeface="Montserrat" panose="00000500000000000000" pitchFamily="50" charset="0"/>
              <a:cs typeface="Open Sans" panose="020B0606030504020204" pitchFamily="34" charset="0"/>
            </a:endParaRPr>
          </a:p>
          <a:p>
            <a:pPr>
              <a:lnSpc>
                <a:spcPct val="120000"/>
              </a:lnSpc>
              <a:spcAft>
                <a:spcPts val="600"/>
              </a:spcAft>
            </a:pPr>
            <a:endParaRPr lang="en-US" sz="1000" dirty="0">
              <a:latin typeface="Open Sans" panose="020B0606030504020204" pitchFamily="34" charset="0"/>
              <a:cs typeface="Open Sans" panose="020B0606030504020204" pitchFamily="34" charset="0"/>
            </a:endParaRPr>
          </a:p>
        </p:txBody>
      </p:sp>
      <p:sp>
        <p:nvSpPr>
          <p:cNvPr id="9" name="object 9"/>
          <p:cNvSpPr txBox="1"/>
          <p:nvPr/>
        </p:nvSpPr>
        <p:spPr>
          <a:xfrm>
            <a:off x="3741638" y="4010991"/>
            <a:ext cx="2898648" cy="2167260"/>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Send and receive documentation, transactions, and other data about shipments, through the Magaya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View real-time, up-to-date information about shipments and more.</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Create a profile of your company to advertise your services on the Network.</a:t>
            </a:r>
          </a:p>
          <a:p>
            <a:pPr>
              <a:lnSpc>
                <a:spcPct val="120000"/>
              </a:lnSpc>
              <a:spcAft>
                <a:spcPts val="600"/>
              </a:spcAft>
            </a:pPr>
            <a:r>
              <a:rPr lang="en-US" sz="1000" dirty="0">
                <a:solidFill>
                  <a:srgbClr val="000000"/>
                </a:solidFill>
                <a:latin typeface="Open Sans" panose="020B0606030504020204" pitchFamily="34" charset="0"/>
                <a:cs typeface="Open Sans" panose="020B0606030504020204" pitchFamily="34" charset="0"/>
              </a:rPr>
              <a:t>Find and connect with 2300+ agents and logistics  companies across 100 countries.</a:t>
            </a:r>
          </a:p>
        </p:txBody>
      </p:sp>
      <p:sp>
        <p:nvSpPr>
          <p:cNvPr id="10" name="object 9"/>
          <p:cNvSpPr txBox="1"/>
          <p:nvPr/>
        </p:nvSpPr>
        <p:spPr>
          <a:xfrm>
            <a:off x="6931152" y="4010991"/>
            <a:ext cx="2898648" cy="1720984"/>
          </a:xfrm>
          <a:prstGeom prst="rect">
            <a:avLst/>
          </a:prstGeom>
        </p:spPr>
        <p:txBody>
          <a:bodyPr vert="horz" wrap="square" lIns="0" tIns="0" rIns="0" bIns="0" rtlCol="0">
            <a:spAutoFit/>
          </a:bodyPr>
          <a:lstStyle/>
          <a:p>
            <a:pPr>
              <a:lnSpc>
                <a:spcPct val="120000"/>
              </a:lnSpc>
              <a:spcAft>
                <a:spcPts val="600"/>
              </a:spcAft>
            </a:pPr>
            <a:r>
              <a:rPr lang="en-US" sz="1000" b="1" dirty="0">
                <a:solidFill>
                  <a:srgbClr val="001691"/>
                </a:solidFill>
                <a:latin typeface="Montserrat" panose="00000500000000000000" pitchFamily="50" charset="0"/>
                <a:cs typeface="Open Sans" panose="020B0606030504020204" pitchFamily="34" charset="0"/>
              </a:rPr>
              <a:t>DOCUMENT CONFIGURATION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Access and utilize hundreds of document templates for operations and accounting transaction.</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Create and design multipage templates including your terms and conditions.</a:t>
            </a:r>
          </a:p>
          <a:p>
            <a:pPr>
              <a:lnSpc>
                <a:spcPct val="120000"/>
              </a:lnSpc>
              <a:spcAft>
                <a:spcPts val="600"/>
              </a:spcAft>
            </a:pPr>
            <a:r>
              <a:rPr lang="en-US" sz="1000" dirty="0">
                <a:solidFill>
                  <a:srgbClr val="000000"/>
                </a:solidFill>
                <a:latin typeface="Open Sans" panose="020B0606030504020204" pitchFamily="34" charset="0"/>
                <a:ea typeface="Open Sans" panose="020B0606030504020204" pitchFamily="34" charset="0"/>
                <a:cs typeface="Open Sans" panose="020B0606030504020204" pitchFamily="34" charset="0"/>
              </a:rPr>
              <a:t>Fully configure documents and even use JavaScript for more complex logic.</a:t>
            </a:r>
          </a:p>
        </p:txBody>
      </p:sp>
      <p:sp>
        <p:nvSpPr>
          <p:cNvPr id="11" name="object 6"/>
          <p:cNvSpPr txBox="1">
            <a:spLocks/>
          </p:cNvSpPr>
          <p:nvPr/>
        </p:nvSpPr>
        <p:spPr>
          <a:xfrm>
            <a:off x="533400" y="320040"/>
            <a:ext cx="9296400" cy="751488"/>
          </a:xfrm>
          <a:prstGeom prst="rect">
            <a:avLst/>
          </a:prstGeom>
        </p:spPr>
        <p:txBody>
          <a:bodyPr vert="horz" wrap="square" lIns="0" tIns="1270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 </a:t>
            </a:r>
            <a:r>
              <a:rPr lang="en-CA" sz="3000" b="1" dirty="0">
                <a:solidFill>
                  <a:srgbClr val="09A1FF"/>
                </a:solidFill>
                <a:latin typeface="Montserrat" panose="00000500000000000000" pitchFamily="50" charset="0"/>
              </a:rPr>
              <a:t>SUPPLY CHAIN</a:t>
            </a:r>
            <a:br>
              <a:rPr lang="en-CA" sz="2800" b="1" dirty="0">
                <a:solidFill>
                  <a:srgbClr val="001691"/>
                </a:solidFill>
                <a:latin typeface="Montserrat" panose="00000500000000000000" pitchFamily="50" charset="0"/>
              </a:rPr>
            </a:br>
            <a:r>
              <a:rPr lang="en-CA" dirty="0">
                <a:solidFill>
                  <a:srgbClr val="383B48"/>
                </a:solidFill>
                <a:latin typeface="Montserrat" panose="00000500000000000000" pitchFamily="50" charset="0"/>
              </a:rPr>
              <a:t>Productivity, Integration &amp; Configuration</a:t>
            </a:r>
            <a:endParaRPr lang="en-US" kern="0" dirty="0">
              <a:solidFill>
                <a:srgbClr val="383B48"/>
              </a:solidFill>
              <a:latin typeface="Montserrat" panose="00000500000000000000" pitchFamily="50" charset="0"/>
            </a:endParaRPr>
          </a:p>
        </p:txBody>
      </p:sp>
    </p:spTree>
    <p:extLst>
      <p:ext uri="{BB962C8B-B14F-4D97-AF65-F5344CB8AC3E}">
        <p14:creationId xmlns:p14="http://schemas.microsoft.com/office/powerpoint/2010/main" val="1528760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p:cNvSpPr txBox="1"/>
          <p:nvPr/>
        </p:nvSpPr>
        <p:spPr>
          <a:xfrm>
            <a:off x="533399" y="1584706"/>
            <a:ext cx="6248401" cy="918200"/>
          </a:xfrm>
          <a:prstGeom prst="rect">
            <a:avLst/>
          </a:prstGeom>
        </p:spPr>
        <p:txBody>
          <a:bodyPr vert="horz" wrap="square" lIns="0" tIns="0" rIns="0" bIns="0" rtlCol="0">
            <a:spAutoFit/>
          </a:bodyPr>
          <a:lstStyle/>
          <a:p>
            <a:pPr marR="5079">
              <a:lnSpc>
                <a:spcPct val="125000"/>
              </a:lnSpc>
            </a:pPr>
            <a:r>
              <a:rPr lang="en-US" sz="1200" spc="-20" dirty="0">
                <a:latin typeface="Open Sans" panose="020B0606030504020204" pitchFamily="34" charset="0"/>
                <a:ea typeface="Open Sans" panose="020B0606030504020204" pitchFamily="34" charset="0"/>
                <a:cs typeface="Open Sans" panose="020B0606030504020204" pitchFamily="34" charset="0"/>
              </a:rPr>
              <a:t>Get quickly established as a digital freight forwarder with the Magaya Digital Freight Portal, a completely branded customer-facing portal for your business. Your customers will love the added visibility and control they get with easy self-service access to quotes, schedules, bookings, shipments, tracking, and reporting.</a:t>
            </a:r>
          </a:p>
        </p:txBody>
      </p:sp>
      <p:sp>
        <p:nvSpPr>
          <p:cNvPr id="4" name="object 6"/>
          <p:cNvSpPr txBox="1">
            <a:spLocks/>
          </p:cNvSpPr>
          <p:nvPr/>
        </p:nvSpPr>
        <p:spPr>
          <a:xfrm>
            <a:off x="533400" y="2819400"/>
            <a:ext cx="4495800" cy="4588692"/>
          </a:xfrm>
          <a:prstGeom prst="rect">
            <a:avLst/>
          </a:prstGeom>
        </p:spPr>
        <p:txBody>
          <a:bodyPr vert="horz" wrap="square" lIns="0" tIns="0" rIns="0" bIns="0" rtlCol="0">
            <a:spAutoFit/>
          </a:bodyPr>
          <a:lstStyle>
            <a:lvl1pPr>
              <a:defRPr>
                <a:latin typeface="+mj-lt"/>
                <a:ea typeface="+mj-ea"/>
                <a:cs typeface="+mj-cs"/>
              </a:defRPr>
            </a:lvl1pPr>
          </a:lstStyle>
          <a:p>
            <a:pPr>
              <a:lnSpc>
                <a:spcPct val="95000"/>
              </a:lnSpc>
            </a:pPr>
            <a:r>
              <a:rPr lang="en-CA" sz="1600" b="1" dirty="0">
                <a:solidFill>
                  <a:srgbClr val="09A1FF"/>
                </a:solidFill>
                <a:latin typeface="Montserrat" panose="00000500000000000000" pitchFamily="50" charset="0"/>
              </a:rPr>
              <a:t>BENEFITS</a:t>
            </a:r>
          </a:p>
          <a:p>
            <a:pPr>
              <a:lnSpc>
                <a:spcPct val="95000"/>
              </a:lnSpc>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BOOSTS PRODUCTIVITY</a:t>
            </a:r>
          </a:p>
          <a:p>
            <a:pPr>
              <a:lnSpc>
                <a:spcPct val="95000"/>
              </a:lnSpc>
            </a:pPr>
            <a:r>
              <a:rPr lang="en-US" sz="1100" dirty="0">
                <a:solidFill>
                  <a:srgbClr val="000000"/>
                </a:solidFill>
                <a:latin typeface="Open Sans" panose="020B0606030504020204" pitchFamily="34" charset="0"/>
                <a:cs typeface="Open Sans" panose="020B0606030504020204" pitchFamily="34" charset="0"/>
              </a:rPr>
              <a:t>Automate many of the repetitive tasks related to the sales cycle, freeing your team’s time to generate new business and work on strategic growth initiatives.</a:t>
            </a: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r>
              <a:rPr lang="en-US" sz="1100" b="1" dirty="0">
                <a:solidFill>
                  <a:srgbClr val="001691"/>
                </a:solidFill>
                <a:latin typeface="Montserrat" panose="00000500000000000000" pitchFamily="50" charset="0"/>
                <a:cs typeface="Open Sans" panose="020B0606030504020204" pitchFamily="34" charset="0"/>
              </a:rPr>
              <a:t>MODERNIZES THE CUSTOMER EXPERIENCE</a:t>
            </a:r>
          </a:p>
          <a:p>
            <a:pPr>
              <a:lnSpc>
                <a:spcPct val="95000"/>
              </a:lnSpc>
            </a:pPr>
            <a:r>
              <a:rPr lang="en-US" sz="1100" dirty="0">
                <a:solidFill>
                  <a:srgbClr val="000000"/>
                </a:solidFill>
                <a:latin typeface="Open Sans" panose="020B0606030504020204" pitchFamily="34" charset="0"/>
                <a:cs typeface="Open Sans" panose="020B0606030504020204" pitchFamily="34" charset="0"/>
              </a:rPr>
              <a:t>Provide your customers with an immersive digital experience from quote to booking and beyond, complete with full tracking visibility and reporting all from a custom-branded digital portal.</a:t>
            </a: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r>
              <a:rPr lang="en-US" sz="1100" b="1" dirty="0">
                <a:solidFill>
                  <a:srgbClr val="001691"/>
                </a:solidFill>
                <a:latin typeface="Montserrat" panose="00000500000000000000" pitchFamily="50" charset="0"/>
                <a:cs typeface="Open Sans" panose="020B0606030504020204" pitchFamily="34" charset="0"/>
              </a:rPr>
              <a:t>ALLOWS FLEXIBILITY</a:t>
            </a:r>
          </a:p>
          <a:p>
            <a:pPr>
              <a:lnSpc>
                <a:spcPct val="95000"/>
              </a:lnSpc>
            </a:pPr>
            <a:r>
              <a:rPr lang="en-US" sz="1100" dirty="0">
                <a:solidFill>
                  <a:srgbClr val="000000"/>
                </a:solidFill>
                <a:latin typeface="Open Sans" panose="020B0606030504020204" pitchFamily="34" charset="0"/>
                <a:cs typeface="Open Sans" panose="020B0606030504020204" pitchFamily="34" charset="0"/>
              </a:rPr>
              <a:t>Direct integration with the entire Magaya Digital Freight Platform ensures a single source of the truth while automating and digitizing your business. Plus, its flexible API allows you to also connect it to the ERP/TMS system of your choice.</a:t>
            </a: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r>
              <a:rPr lang="en-US" sz="1100" b="1" dirty="0">
                <a:solidFill>
                  <a:srgbClr val="001691"/>
                </a:solidFill>
                <a:latin typeface="Montserrat" panose="00000500000000000000" pitchFamily="50" charset="0"/>
                <a:cs typeface="Open Sans" panose="020B0606030504020204" pitchFamily="34" charset="0"/>
              </a:rPr>
              <a:t>STREAMLINES RATE MANAGEMENT  </a:t>
            </a:r>
          </a:p>
          <a:p>
            <a:pPr>
              <a:lnSpc>
                <a:spcPct val="95000"/>
              </a:lnSpc>
            </a:pPr>
            <a:r>
              <a:rPr lang="en-US" sz="1100" dirty="0">
                <a:solidFill>
                  <a:srgbClr val="000000"/>
                </a:solidFill>
                <a:latin typeface="Open Sans" panose="020B0606030504020204" pitchFamily="34" charset="0"/>
                <a:cs typeface="Open Sans" panose="020B0606030504020204" pitchFamily="34" charset="0"/>
              </a:rPr>
              <a:t>Manage and analyze your global buying tariffs, pull direct carrier integrations for contract and spot rates, view and apply surcharges, free time, future GRIs and more with seamless integration with Magaya Rate Management.</a:t>
            </a: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r>
              <a:rPr lang="en-US" sz="1100" b="1" dirty="0">
                <a:solidFill>
                  <a:srgbClr val="001691"/>
                </a:solidFill>
                <a:latin typeface="Montserrat" panose="00000500000000000000" pitchFamily="50" charset="0"/>
                <a:cs typeface="Open Sans" panose="020B0606030504020204" pitchFamily="34" charset="0"/>
              </a:rPr>
              <a:t>STRENGTHENS YOUR BRAND PRESENCE</a:t>
            </a:r>
          </a:p>
          <a:p>
            <a:pPr>
              <a:lnSpc>
                <a:spcPct val="95000"/>
              </a:lnSpc>
            </a:pPr>
            <a:r>
              <a:rPr lang="en-US" sz="1100" dirty="0">
                <a:solidFill>
                  <a:srgbClr val="000000"/>
                </a:solidFill>
                <a:latin typeface="Open Sans" panose="020B0606030504020204" pitchFamily="34" charset="0"/>
                <a:cs typeface="Open Sans" panose="020B0606030504020204" pitchFamily="34" charset="0"/>
              </a:rPr>
              <a:t>Gain complete control over your branding with a white-labeled portal. From colors to media and content, we give you the tools to fully leverage your brand, complete with single sign-on. </a:t>
            </a:r>
          </a:p>
        </p:txBody>
      </p:sp>
      <p:sp>
        <p:nvSpPr>
          <p:cNvPr id="5" name="object 6"/>
          <p:cNvSpPr txBox="1">
            <a:spLocks/>
          </p:cNvSpPr>
          <p:nvPr/>
        </p:nvSpPr>
        <p:spPr>
          <a:xfrm>
            <a:off x="5333999" y="3572637"/>
            <a:ext cx="4553201" cy="3874137"/>
          </a:xfrm>
          <a:prstGeom prst="rect">
            <a:avLst/>
          </a:prstGeom>
        </p:spPr>
        <p:txBody>
          <a:bodyPr vert="horz" wrap="square" lIns="0" tIns="0" rIns="0" bIns="0" rtlCol="0">
            <a:spAutoFit/>
          </a:bodyPr>
          <a:lstStyle>
            <a:lvl1pPr>
              <a:defRPr>
                <a:latin typeface="+mj-lt"/>
                <a:ea typeface="+mj-ea"/>
                <a:cs typeface="+mj-cs"/>
              </a:defRPr>
            </a:lvl1pPr>
          </a:lstStyle>
          <a:p>
            <a:pPr>
              <a:lnSpc>
                <a:spcPct val="95000"/>
              </a:lnSpc>
            </a:pPr>
            <a:r>
              <a:rPr lang="en-CA" sz="1600" b="1" dirty="0">
                <a:solidFill>
                  <a:srgbClr val="09A1FF"/>
                </a:solidFill>
                <a:latin typeface="Montserrat" panose="00000500000000000000" pitchFamily="50" charset="0"/>
              </a:rPr>
              <a:t>KEY FEATURES</a:t>
            </a:r>
          </a:p>
          <a:p>
            <a:pPr>
              <a:lnSpc>
                <a:spcPct val="95000"/>
              </a:lnSpc>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WHITE LABEL, CUSTOMER-FACING PORTAL</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Quoting</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Schedules</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Booking</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Visibility</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Collaboration Tools</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Reporting</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Invoices &amp; Payments</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Warehouse Receipts*</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Cargo Releases*</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Inventory Reports*</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Pick Up Orders*</a:t>
            </a:r>
          </a:p>
          <a:p>
            <a:pPr marL="171450" indent="-171450">
              <a:lnSpc>
                <a:spcPct val="95000"/>
              </a:lnSpc>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Cargo Detail*</a:t>
            </a: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r>
              <a:rPr lang="en-US" sz="1100" b="1" dirty="0">
                <a:solidFill>
                  <a:srgbClr val="001691"/>
                </a:solidFill>
                <a:latin typeface="Montserrat" panose="00000500000000000000" pitchFamily="50" charset="0"/>
                <a:cs typeface="Open Sans" panose="020B0606030504020204" pitchFamily="34" charset="0"/>
              </a:rPr>
              <a:t>ADMINISTRATION AND FORWARDER FEATURES</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Customer and User Management	</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Schedules Management</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Shipment and RFQ</a:t>
            </a:r>
          </a:p>
          <a:p>
            <a:pPr marL="171450" indent="-171450">
              <a:lnSpc>
                <a:spcPct val="95000"/>
              </a:lnSpc>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Margin Management</a:t>
            </a:r>
            <a:endParaRPr lang="en-US" sz="1100" strike="sngStrike" dirty="0">
              <a:solidFill>
                <a:srgbClr val="FF0000"/>
              </a:solidFill>
              <a:latin typeface="Open Sans" panose="020B0606030504020204" pitchFamily="34" charset="0"/>
              <a:cs typeface="Open Sans" panose="020B0606030504020204" pitchFamily="34" charset="0"/>
            </a:endParaRPr>
          </a:p>
          <a:p>
            <a:pPr>
              <a:lnSpc>
                <a:spcPct val="95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95000"/>
              </a:lnSpc>
            </a:pPr>
            <a:br>
              <a:rPr lang="en-US" sz="900"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br>
            <a:r>
              <a:rPr lang="en-US" sz="900" i="1" dirty="0">
                <a:solidFill>
                  <a:srgbClr val="383B48"/>
                </a:solidFill>
                <a:latin typeface="Open Sans" panose="020B0606030504020204" pitchFamily="34" charset="0"/>
                <a:ea typeface="Open Sans" panose="020B0606030504020204" pitchFamily="34" charset="0"/>
                <a:cs typeface="Open Sans" panose="020B0606030504020204" pitchFamily="34" charset="0"/>
              </a:rPr>
              <a:t>*Only available through direct integration with Magaya Supply Chain. </a:t>
            </a:r>
          </a:p>
        </p:txBody>
      </p:sp>
      <p:cxnSp>
        <p:nvCxnSpPr>
          <p:cNvPr id="6" name="Straight Connector 5"/>
          <p:cNvCxnSpPr/>
          <p:nvPr/>
        </p:nvCxnSpPr>
        <p:spPr>
          <a:xfrm>
            <a:off x="5181600" y="2819400"/>
            <a:ext cx="0" cy="458869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0024" y="1541735"/>
            <a:ext cx="2837180" cy="1963465"/>
          </a:xfrm>
          <a:prstGeom prst="rect">
            <a:avLst/>
          </a:prstGeom>
        </p:spPr>
      </p:pic>
      <p:sp>
        <p:nvSpPr>
          <p:cNvPr id="8" name="object 6"/>
          <p:cNvSpPr txBox="1">
            <a:spLocks/>
          </p:cNvSpPr>
          <p:nvPr/>
        </p:nvSpPr>
        <p:spPr>
          <a:xfrm>
            <a:off x="533400" y="457200"/>
            <a:ext cx="9296400" cy="461665"/>
          </a:xfrm>
          <a:prstGeom prst="rect">
            <a:avLst/>
          </a:prstGeom>
        </p:spPr>
        <p:txBody>
          <a:bodyPr vert="horz" wrap="square" lIns="0" tIns="0" rIns="0" bIns="0" rtlCol="0" anchor="t" anchorCtr="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a:t>
            </a:r>
            <a:r>
              <a:rPr lang="en-CA" sz="3000" b="1" dirty="0">
                <a:latin typeface="Montserrat" panose="00000500000000000000" pitchFamily="50" charset="0"/>
              </a:rPr>
              <a:t> </a:t>
            </a:r>
            <a:r>
              <a:rPr lang="en-CA" sz="3000" b="1" dirty="0">
                <a:solidFill>
                  <a:srgbClr val="09A1FF"/>
                </a:solidFill>
                <a:latin typeface="Montserrat" panose="00000500000000000000" pitchFamily="50" charset="0"/>
              </a:rPr>
              <a:t>DIGITAL FREIGHT PORTAL</a:t>
            </a:r>
            <a:endParaRPr lang="en-US" sz="3000" b="1" kern="0" dirty="0">
              <a:solidFill>
                <a:srgbClr val="09A1FF"/>
              </a:solidFill>
              <a:latin typeface="Montserrat" panose="00000500000000000000" pitchFamily="50" charset="0"/>
            </a:endParaRPr>
          </a:p>
        </p:txBody>
      </p:sp>
    </p:spTree>
    <p:extLst>
      <p:ext uri="{BB962C8B-B14F-4D97-AF65-F5344CB8AC3E}">
        <p14:creationId xmlns:p14="http://schemas.microsoft.com/office/powerpoint/2010/main" val="1024004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6"/>
          <p:cNvSpPr txBox="1">
            <a:spLocks/>
          </p:cNvSpPr>
          <p:nvPr/>
        </p:nvSpPr>
        <p:spPr>
          <a:xfrm>
            <a:off x="533400" y="457200"/>
            <a:ext cx="9296400" cy="461665"/>
          </a:xfrm>
          <a:prstGeom prst="rect">
            <a:avLst/>
          </a:prstGeom>
        </p:spPr>
        <p:txBody>
          <a:bodyPr vert="horz" wrap="square" lIns="0" tIns="0" rIns="0" bIns="0" rtlCol="0" anchor="t" anchorCtr="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a:t>
            </a:r>
            <a:r>
              <a:rPr lang="en-CA" sz="3000" b="1" dirty="0">
                <a:latin typeface="Montserrat" panose="00000500000000000000" pitchFamily="50" charset="0"/>
              </a:rPr>
              <a:t> </a:t>
            </a:r>
            <a:r>
              <a:rPr lang="en-CA" sz="3000" b="1" dirty="0">
                <a:solidFill>
                  <a:srgbClr val="09A1FF"/>
                </a:solidFill>
                <a:latin typeface="Montserrat" panose="00000500000000000000" pitchFamily="50" charset="0"/>
              </a:rPr>
              <a:t>RATE MANAGEMENT</a:t>
            </a:r>
            <a:endParaRPr lang="en-US" sz="3000" b="1" kern="0" dirty="0">
              <a:solidFill>
                <a:srgbClr val="09A1FF"/>
              </a:solidFill>
              <a:latin typeface="Montserrat" panose="00000500000000000000" pitchFamily="50" charset="0"/>
            </a:endParaRPr>
          </a:p>
        </p:txBody>
      </p:sp>
      <p:sp>
        <p:nvSpPr>
          <p:cNvPr id="6" name="object 4"/>
          <p:cNvSpPr txBox="1"/>
          <p:nvPr/>
        </p:nvSpPr>
        <p:spPr>
          <a:xfrm>
            <a:off x="533400" y="1573241"/>
            <a:ext cx="4648200" cy="960263"/>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Simplify complex data and manage margins from a central control tower. Magaya Rate Management is technology built around the specific rating and quoting needs of freight forwarders, NVOCCs, and carriers.</a:t>
            </a:r>
          </a:p>
        </p:txBody>
      </p:sp>
      <p:sp>
        <p:nvSpPr>
          <p:cNvPr id="12" name="object 6"/>
          <p:cNvSpPr txBox="1">
            <a:spLocks/>
          </p:cNvSpPr>
          <p:nvPr/>
        </p:nvSpPr>
        <p:spPr>
          <a:xfrm>
            <a:off x="533400" y="2955108"/>
            <a:ext cx="4495800" cy="3508653"/>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INDUSTRY-SPECIFIC</a:t>
            </a:r>
          </a:p>
          <a:p>
            <a:pPr>
              <a:spcAft>
                <a:spcPts val="300"/>
              </a:spcAft>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Critical information and data points are organized in a practical way that is intuitive, detailed, and configurable, based on our wealth of expertise in the freight forwarding industry and an in-house team.</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CREATE ALIGNMENT </a:t>
            </a:r>
          </a:p>
          <a:p>
            <a:pPr>
              <a:spcAft>
                <a:spcPts val="300"/>
              </a:spcAft>
            </a:pPr>
            <a:r>
              <a:rPr lang="en-US" sz="1100" dirty="0">
                <a:solidFill>
                  <a:srgbClr val="000000"/>
                </a:solidFill>
                <a:latin typeface="Open Sans" panose="020B0606030504020204" pitchFamily="34" charset="0"/>
                <a:cs typeface="Open Sans" panose="020B0606030504020204" pitchFamily="34" charset="0"/>
              </a:rPr>
              <a:t>Find and compare all rates, </a:t>
            </a:r>
            <a:r>
              <a:rPr lang="en-US" sz="1100" dirty="0">
                <a:solidFill>
                  <a:srgbClr val="383B48"/>
                </a:solidFill>
                <a:latin typeface="Open Sans" panose="020B0606030504020204" pitchFamily="34" charset="0"/>
                <a:cs typeface="Open Sans" panose="020B0606030504020204" pitchFamily="34" charset="0"/>
              </a:rPr>
              <a:t>schedules, and free time </a:t>
            </a:r>
            <a:r>
              <a:rPr lang="en-US" sz="1100" dirty="0">
                <a:solidFill>
                  <a:srgbClr val="000000"/>
                </a:solidFill>
                <a:latin typeface="Open Sans" panose="020B0606030504020204" pitchFamily="34" charset="0"/>
                <a:cs typeface="Open Sans" panose="020B0606030504020204" pitchFamily="34" charset="0"/>
              </a:rPr>
              <a:t>in one place, ensuring efficiency and visibility for your customers.</a:t>
            </a:r>
          </a:p>
          <a:p>
            <a:pPr>
              <a:spcAft>
                <a:spcPts val="300"/>
              </a:spcAft>
            </a:pPr>
            <a:r>
              <a:rPr lang="en-US" sz="1100" b="1" dirty="0">
                <a:solidFill>
                  <a:srgbClr val="001691"/>
                </a:solidFill>
                <a:latin typeface="Montserrat" panose="00000500000000000000" pitchFamily="50" charset="0"/>
                <a:cs typeface="Open Sans" panose="020B0606030504020204" pitchFamily="34" charset="0"/>
              </a:rPr>
              <a:t>SCALABLE ENTERPRISE SOLUTION</a:t>
            </a:r>
          </a:p>
          <a:p>
            <a:pPr>
              <a:spcAft>
                <a:spcPts val="300"/>
              </a:spcAft>
            </a:pPr>
            <a:r>
              <a:rPr lang="en-US" sz="1100" dirty="0">
                <a:solidFill>
                  <a:srgbClr val="000000"/>
                </a:solidFill>
                <a:latin typeface="Open Sans" panose="020B0606030504020204" pitchFamily="34" charset="0"/>
                <a:cs typeface="Open Sans" panose="020B0606030504020204" pitchFamily="34" charset="0"/>
              </a:rPr>
              <a:t>Flexible setup options for organizations of all sizes, with branded client-facing portal capability and extensive integration options.</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OPTIMIZE PROCESSES   </a:t>
            </a:r>
          </a:p>
          <a:p>
            <a:pPr>
              <a:spcAft>
                <a:spcPts val="300"/>
              </a:spcAft>
            </a:pPr>
            <a:r>
              <a:rPr lang="en-US" sz="1100" dirty="0">
                <a:solidFill>
                  <a:srgbClr val="000000"/>
                </a:solidFill>
                <a:latin typeface="Open Sans" panose="020B0606030504020204" pitchFamily="34" charset="0"/>
                <a:cs typeface="Open Sans" panose="020B0606030504020204" pitchFamily="34" charset="0"/>
              </a:rPr>
              <a:t>Built-in controls allow administrators management over rate visibility and pricing authorities, ensuring the right rates are displayed to the right employees.</a:t>
            </a:r>
          </a:p>
        </p:txBody>
      </p:sp>
      <p:cxnSp>
        <p:nvCxnSpPr>
          <p:cNvPr id="10" name="Straight Connector 9"/>
          <p:cNvCxnSpPr/>
          <p:nvPr/>
        </p:nvCxnSpPr>
        <p:spPr>
          <a:xfrm>
            <a:off x="5181600" y="2955108"/>
            <a:ext cx="0" cy="382669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object 6"/>
          <p:cNvSpPr txBox="1">
            <a:spLocks/>
          </p:cNvSpPr>
          <p:nvPr/>
        </p:nvSpPr>
        <p:spPr>
          <a:xfrm>
            <a:off x="5334000" y="4102244"/>
            <a:ext cx="4495800" cy="2708434"/>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KEY FEATURES</a:t>
            </a:r>
            <a:endParaRPr lang="en-US" sz="1100" b="1" dirty="0">
              <a:solidFill>
                <a:srgbClr val="001691"/>
              </a:solidFill>
              <a:latin typeface="Montserrat" panose="00000500000000000000" pitchFamily="50" charset="0"/>
              <a:cs typeface="Open Sans" panose="020B0606030504020204" pitchFamily="34" charset="0"/>
            </a:endParaRP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Ocean/air/ground rates in one system</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Competitive air freight rates from 95 airlines</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Rate prioritization and surcharge grouping</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Surcharge Manager and FMC Filing modules </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Flexible integration options for TMS and 3rd party software</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Tender and RFQ response software</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Reports and analytics from rate trends to quote success and more</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Create, configure, and send multi-modal quotes faster</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Freight Allocation and Incentive Management </a:t>
            </a:r>
          </a:p>
          <a:p>
            <a:pPr marL="171450" indent="-171450">
              <a:spcAft>
                <a:spcPts val="600"/>
              </a:spcAft>
              <a:buFont typeface="Arial" panose="020B0604020202020204" pitchFamily="34" charset="0"/>
              <a:buChar char="•"/>
            </a:pPr>
            <a:r>
              <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rPr>
              <a:t>Secure, FMC-compliant NRA document repository</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7800" y="1554480"/>
            <a:ext cx="3756936" cy="2157984"/>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58200" y="2286000"/>
            <a:ext cx="1395063" cy="1914261"/>
          </a:xfrm>
          <a:prstGeom prst="rect">
            <a:avLst/>
          </a:prstGeom>
        </p:spPr>
      </p:pic>
    </p:spTree>
    <p:extLst>
      <p:ext uri="{BB962C8B-B14F-4D97-AF65-F5344CB8AC3E}">
        <p14:creationId xmlns:p14="http://schemas.microsoft.com/office/powerpoint/2010/main" val="3796301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p:cNvSpPr txBox="1"/>
          <p:nvPr/>
        </p:nvSpPr>
        <p:spPr>
          <a:xfrm>
            <a:off x="533400" y="1573241"/>
            <a:ext cx="4648200" cy="960263"/>
          </a:xfrm>
          <a:prstGeom prst="rect">
            <a:avLst/>
          </a:prstGeom>
        </p:spPr>
        <p:txBody>
          <a:bodyPr vert="horz" wrap="square" lIns="0" tIns="0" rIns="0" bIns="0" rtlCol="0">
            <a:spAutoFit/>
          </a:bodyPr>
          <a:lstStyle/>
          <a:p>
            <a:pPr marR="5079">
              <a:lnSpc>
                <a:spcPct val="130000"/>
              </a:lnSpc>
            </a:pPr>
            <a:r>
              <a:rPr lang="en-US" sz="1200" spc="-20" dirty="0">
                <a:latin typeface="Open Sans" panose="020B0606030504020204" pitchFamily="34" charset="0"/>
                <a:ea typeface="Open Sans" panose="020B0606030504020204" pitchFamily="34" charset="0"/>
                <a:cs typeface="Open Sans" panose="020B0606030504020204" pitchFamily="34" charset="0"/>
              </a:rPr>
              <a:t>A cloud-based ACE-certified ABI solution focused on compliance and efficiency. Magaya Customs Compliance offers you out of the box real-time API/EDI capability that enables companies to integrate their in-house applications with U.S. CBP.</a:t>
            </a:r>
          </a:p>
        </p:txBody>
      </p:sp>
      <p:sp>
        <p:nvSpPr>
          <p:cNvPr id="11" name="object 6"/>
          <p:cNvSpPr txBox="1">
            <a:spLocks/>
          </p:cNvSpPr>
          <p:nvPr/>
        </p:nvSpPr>
        <p:spPr>
          <a:xfrm>
            <a:off x="533400" y="457200"/>
            <a:ext cx="9296400" cy="461665"/>
          </a:xfrm>
          <a:prstGeom prst="rect">
            <a:avLst/>
          </a:prstGeom>
        </p:spPr>
        <p:txBody>
          <a:bodyPr vert="horz" wrap="square" lIns="0" tIns="0" rIns="0" bIns="0" rtlCol="0" anchor="t" anchorCtr="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MAGAYA</a:t>
            </a:r>
            <a:r>
              <a:rPr lang="en-CA" sz="3000" b="1" dirty="0">
                <a:latin typeface="Montserrat" panose="00000500000000000000" pitchFamily="50" charset="0"/>
              </a:rPr>
              <a:t> </a:t>
            </a:r>
            <a:r>
              <a:rPr lang="en-CA" sz="3000" b="1" dirty="0">
                <a:solidFill>
                  <a:srgbClr val="09A1FF"/>
                </a:solidFill>
                <a:latin typeface="Montserrat" panose="00000500000000000000" pitchFamily="50" charset="0"/>
              </a:rPr>
              <a:t>CUSTOMS COMPLIANCE</a:t>
            </a:r>
            <a:endParaRPr lang="en-US" sz="3000" b="1" kern="0" dirty="0">
              <a:solidFill>
                <a:srgbClr val="09A1FF"/>
              </a:solidFill>
              <a:latin typeface="Montserrat" panose="00000500000000000000" pitchFamily="50" charset="0"/>
            </a:endParaRPr>
          </a:p>
        </p:txBody>
      </p:sp>
      <p:sp>
        <p:nvSpPr>
          <p:cNvPr id="12" name="object 6"/>
          <p:cNvSpPr txBox="1">
            <a:spLocks/>
          </p:cNvSpPr>
          <p:nvPr/>
        </p:nvSpPr>
        <p:spPr>
          <a:xfrm>
            <a:off x="533400" y="2955108"/>
            <a:ext cx="4495800" cy="3547125"/>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ACE-CERTIFIED PORTAL</a:t>
            </a:r>
          </a:p>
          <a:p>
            <a:pPr>
              <a:spcAft>
                <a:spcPts val="300"/>
              </a:spcAft>
            </a:pPr>
            <a:r>
              <a:rPr lang="en-US" sz="1100" dirty="0">
                <a:solidFill>
                  <a:srgbClr val="000000"/>
                </a:solidFill>
                <a:latin typeface="Open Sans" panose="020B0606030504020204" pitchFamily="34" charset="0"/>
                <a:cs typeface="Open Sans" panose="020B0606030504020204" pitchFamily="34" charset="0"/>
              </a:rPr>
              <a:t>ACE-certified ABI solution focused on compliance and efficiency, with </a:t>
            </a:r>
            <a:r>
              <a:rPr lang="en-US" sz="1100" dirty="0">
                <a:solidFill>
                  <a:srgbClr val="383B48"/>
                </a:solidFill>
                <a:latin typeface="Open Sans" panose="020B0606030504020204" pitchFamily="34" charset="0"/>
                <a:cs typeface="Open Sans" panose="020B0606030504020204" pitchFamily="34" charset="0"/>
              </a:rPr>
              <a:t>full filing capabilities.</a:t>
            </a:r>
            <a:endParaRPr lang="en-US" sz="1100" strike="sngStrike" dirty="0">
              <a:solidFill>
                <a:srgbClr val="383B48"/>
              </a:solidFill>
              <a:latin typeface="Open Sans" panose="020B0606030504020204" pitchFamily="34" charset="0"/>
              <a:cs typeface="Open Sans" panose="020B0606030504020204" pitchFamily="34" charset="0"/>
            </a:endParaRP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DIRECT U.S. CUSTOMS CONNECTION </a:t>
            </a:r>
          </a:p>
          <a:p>
            <a:pPr>
              <a:spcAft>
                <a:spcPts val="300"/>
              </a:spcAft>
            </a:pPr>
            <a:r>
              <a:rPr lang="en-US" sz="1100" dirty="0">
                <a:solidFill>
                  <a:srgbClr val="000000"/>
                </a:solidFill>
                <a:latin typeface="Open Sans" panose="020B0606030504020204" pitchFamily="34" charset="0"/>
                <a:cs typeface="Open Sans" panose="020B0606030504020204" pitchFamily="34" charset="0"/>
              </a:rPr>
              <a:t>Near non-existent downtime and a smooth, uninterrupted, connection to ACE thanks to the use of Multiple Data Centers to host our data. </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CLOUD PLATFORM</a:t>
            </a:r>
          </a:p>
          <a:p>
            <a:pPr>
              <a:spcAft>
                <a:spcPts val="300"/>
              </a:spcAft>
            </a:pPr>
            <a:r>
              <a:rPr lang="en-US" sz="1100" dirty="0">
                <a:solidFill>
                  <a:srgbClr val="000000"/>
                </a:solidFill>
                <a:latin typeface="Open Sans" panose="020B0606030504020204" pitchFamily="34" charset="0"/>
                <a:cs typeface="Open Sans" panose="020B0606030504020204" pitchFamily="34" charset="0"/>
              </a:rPr>
              <a:t>We host and manage our platform in a highly secure, fully redundant cloud platform that meets all ISO and security standards.</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AUTOMATIONS   </a:t>
            </a:r>
          </a:p>
          <a:p>
            <a:pPr>
              <a:spcAft>
                <a:spcPts val="300"/>
              </a:spcAft>
            </a:pPr>
            <a:r>
              <a:rPr lang="en-US" sz="1100" dirty="0">
                <a:solidFill>
                  <a:srgbClr val="000000"/>
                </a:solidFill>
                <a:latin typeface="Open Sans" panose="020B0606030504020204" pitchFamily="34" charset="0"/>
                <a:cs typeface="Open Sans" panose="020B0606030504020204" pitchFamily="34" charset="0"/>
              </a:rPr>
              <a:t>Automations built to increase efficiency, eliminate redundancies, and avoid data errors when filing key documents.</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7800" y="1554480"/>
            <a:ext cx="3756936" cy="2157984"/>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0104" y="2371461"/>
            <a:ext cx="2186666" cy="1514739"/>
          </a:xfrm>
          <a:prstGeom prst="rect">
            <a:avLst/>
          </a:prstGeom>
        </p:spPr>
      </p:pic>
      <p:cxnSp>
        <p:nvCxnSpPr>
          <p:cNvPr id="10" name="Straight Connector 9"/>
          <p:cNvCxnSpPr/>
          <p:nvPr/>
        </p:nvCxnSpPr>
        <p:spPr>
          <a:xfrm>
            <a:off x="5181600" y="2955108"/>
            <a:ext cx="0" cy="3953508"/>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object 6"/>
          <p:cNvSpPr txBox="1">
            <a:spLocks/>
          </p:cNvSpPr>
          <p:nvPr/>
        </p:nvSpPr>
        <p:spPr>
          <a:xfrm>
            <a:off x="5334000" y="4038600"/>
            <a:ext cx="4191000" cy="2870016"/>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US" sz="1600" b="1" dirty="0">
                <a:solidFill>
                  <a:srgbClr val="09A1FF"/>
                </a:solidFill>
                <a:latin typeface="Montserrat" panose="00000500000000000000" pitchFamily="50" charset="0"/>
                <a:cs typeface="Open Sans" panose="020B0606030504020204" pitchFamily="34" charset="0"/>
              </a:rPr>
              <a:t>ACE FILING MODULES</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3461 &amp; 7501 (ACE SE &amp; ACE AE)</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Type 86 Mass Upload</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Air Manifest for Section 321</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FDA/PN and all active PGA forms</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ISF</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FTZ (e214)</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AES (Export)</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Truck eManifest</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Reconciliation</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Duty Drawback</a:t>
            </a:r>
          </a:p>
          <a:p>
            <a:pPr marL="171450" indent="-171450">
              <a:spcAft>
                <a:spcPts val="300"/>
              </a:spcAft>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Query Module for: </a:t>
            </a:r>
            <a:br>
              <a:rPr lang="en-US" sz="1100" dirty="0">
                <a:solidFill>
                  <a:srgbClr val="000000"/>
                </a:solidFill>
                <a:latin typeface="Open Sans" panose="020B0606030504020204" pitchFamily="34" charset="0"/>
                <a:cs typeface="Open Sans" panose="020B0606030504020204" pitchFamily="34" charset="0"/>
              </a:rPr>
            </a:br>
            <a:r>
              <a:rPr lang="en-US" sz="1100" dirty="0">
                <a:solidFill>
                  <a:srgbClr val="000000"/>
                </a:solidFill>
                <a:latin typeface="Open Sans" panose="020B0606030504020204" pitchFamily="34" charset="0"/>
                <a:cs typeface="Open Sans" panose="020B0606030504020204" pitchFamily="34" charset="0"/>
              </a:rPr>
              <a:t>AIR AMS, Ocean AMS, Bond, Tariff, FIRMS, SCAC, ADD/CVD and Quota</a:t>
            </a:r>
          </a:p>
        </p:txBody>
      </p:sp>
    </p:spTree>
    <p:extLst>
      <p:ext uri="{BB962C8B-B14F-4D97-AF65-F5344CB8AC3E}">
        <p14:creationId xmlns:p14="http://schemas.microsoft.com/office/powerpoint/2010/main" val="2945346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5255"/>
            <a:ext cx="92964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QUOTE AUTOMATION</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12055"/>
            <a:ext cx="4953000" cy="1107996"/>
          </a:xfrm>
          <a:prstGeom prst="rect">
            <a:avLst/>
          </a:prstGeom>
        </p:spPr>
        <p:txBody>
          <a:bodyPr vert="horz" wrap="square" lIns="0" tIns="0" rIns="0" bIns="0" rtlCol="0">
            <a:spAutoFit/>
          </a:bodyPr>
          <a:lstStyle/>
          <a:p>
            <a:pPr marR="5079">
              <a:lnSpc>
                <a:spcPct val="120000"/>
              </a:lnSpc>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Leverage the power of AI to transform the way you quote inland freight with Quote Automation by Magaya. Receive quote requests, gather rates from multiple carriers, and bring everything back into an email in an instant. Plus, enjoy access to the best LTL and FTL rates on the market all in an easy-to-use, simple interface.</a:t>
            </a:r>
          </a:p>
        </p:txBody>
      </p:sp>
      <p:sp>
        <p:nvSpPr>
          <p:cNvPr id="15" name="object 6"/>
          <p:cNvSpPr txBox="1">
            <a:spLocks/>
          </p:cNvSpPr>
          <p:nvPr/>
        </p:nvSpPr>
        <p:spPr>
          <a:xfrm>
            <a:off x="533400" y="3150037"/>
            <a:ext cx="4495800" cy="3631763"/>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BENEFITS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SAVE TIME</a:t>
            </a:r>
          </a:p>
          <a:p>
            <a:r>
              <a:rPr lang="en-US" sz="1100" dirty="0">
                <a:solidFill>
                  <a:srgbClr val="000000"/>
                </a:solidFill>
                <a:latin typeface="Open Sans" panose="020B0606030504020204" pitchFamily="34" charset="0"/>
                <a:cs typeface="Open Sans" panose="020B0606030504020204" pitchFamily="34" charset="0"/>
              </a:rPr>
              <a:t>Save 15 minutes on average PER QUOTE by automating the process of receiving quote requests, gathering rates, adding markups, and returning the quote with Quote Automation.</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ACCESS LOWER RATES</a:t>
            </a:r>
          </a:p>
          <a:p>
            <a:r>
              <a:rPr lang="en-US" sz="1100" dirty="0">
                <a:solidFill>
                  <a:srgbClr val="000000"/>
                </a:solidFill>
                <a:latin typeface="Open Sans" panose="020B0606030504020204" pitchFamily="34" charset="0"/>
                <a:cs typeface="Open Sans" panose="020B0606030504020204" pitchFamily="34" charset="0"/>
              </a:rPr>
              <a:t>With built-in access to all major carriers, we’ve negotiated the lowest inland freight rates on the market, saving you and your customers money.</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EASY TO USE </a:t>
            </a:r>
          </a:p>
          <a:p>
            <a:r>
              <a:rPr lang="en-US" sz="1100" dirty="0">
                <a:solidFill>
                  <a:srgbClr val="000000"/>
                </a:solidFill>
                <a:latin typeface="Open Sans" panose="020B0606030504020204" pitchFamily="34" charset="0"/>
                <a:cs typeface="Open Sans" panose="020B0606030504020204" pitchFamily="34" charset="0"/>
              </a:rPr>
              <a:t>You’ll be amazed at how something that used to take dozens of steps, phone calls, emails, and browser tabs, can now be done in just a few clicks in the intuitive, simple user interface. Plus, no NMFC class or shipping class required for quoting.</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BOOST PRODUCTIVITY</a:t>
            </a:r>
          </a:p>
          <a:p>
            <a:r>
              <a:rPr lang="en-US" sz="1100" dirty="0">
                <a:solidFill>
                  <a:srgbClr val="000000"/>
                </a:solidFill>
                <a:latin typeface="Open Sans" panose="020B0606030504020204" pitchFamily="34" charset="0"/>
                <a:cs typeface="Open Sans" panose="020B0606030504020204" pitchFamily="34" charset="0"/>
              </a:rPr>
              <a:t>With significantly less time required for quoting, your employees can work on additional tasks, accomplishing more per day.</a:t>
            </a:r>
          </a:p>
        </p:txBody>
      </p:sp>
      <p:cxnSp>
        <p:nvCxnSpPr>
          <p:cNvPr id="17" name="Straight Connector 16"/>
          <p:cNvCxnSpPr/>
          <p:nvPr/>
        </p:nvCxnSpPr>
        <p:spPr>
          <a:xfrm>
            <a:off x="5181600" y="3150037"/>
            <a:ext cx="0" cy="3631763"/>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object 6"/>
          <p:cNvSpPr txBox="1">
            <a:spLocks/>
          </p:cNvSpPr>
          <p:nvPr/>
        </p:nvSpPr>
        <p:spPr>
          <a:xfrm>
            <a:off x="5475514" y="3693255"/>
            <a:ext cx="4495800" cy="2939266"/>
          </a:xfrm>
          <a:prstGeom prst="rect">
            <a:avLst/>
          </a:prstGeom>
        </p:spPr>
        <p:txBody>
          <a:bodyPr vert="horz" wrap="square" lIns="0" tIns="0" rIns="0" bIns="0" rtlCol="0">
            <a:spAutoFit/>
          </a:bodyPr>
          <a:lstStyle>
            <a:lvl1pPr>
              <a:defRPr>
                <a:latin typeface="+mj-lt"/>
                <a:ea typeface="+mj-ea"/>
                <a:cs typeface="+mj-cs"/>
              </a:defRPr>
            </a:lvl1pPr>
          </a:lstStyle>
          <a:p>
            <a:r>
              <a:rPr lang="en-US" sz="1600" b="1" dirty="0">
                <a:solidFill>
                  <a:srgbClr val="09A1FF"/>
                </a:solidFill>
                <a:latin typeface="Montserrat" panose="00000500000000000000" pitchFamily="50" charset="0"/>
              </a:rPr>
              <a:t>BUILDING AND SENDING QUOTES IS </a:t>
            </a:r>
            <a:br>
              <a:rPr lang="en-US" sz="1600" b="1" dirty="0">
                <a:solidFill>
                  <a:srgbClr val="09A1FF"/>
                </a:solidFill>
                <a:latin typeface="Montserrat" panose="00000500000000000000" pitchFamily="50" charset="0"/>
              </a:rPr>
            </a:br>
            <a:r>
              <a:rPr lang="en-US" sz="1600" b="1" dirty="0">
                <a:solidFill>
                  <a:srgbClr val="09A1FF"/>
                </a:solidFill>
                <a:latin typeface="Montserrat" panose="00000500000000000000" pitchFamily="50" charset="0"/>
              </a:rPr>
              <a:t>AS EASY AS 1-2-3</a:t>
            </a:r>
          </a:p>
          <a:p>
            <a:endParaRPr lang="en-CA" sz="1600" b="1" dirty="0">
              <a:solidFill>
                <a:srgbClr val="6B7489"/>
              </a:solidFill>
              <a:latin typeface="Montserrat" panose="00000500000000000000" pitchFamily="50" charset="0"/>
            </a:endParaRPr>
          </a:p>
          <a:p>
            <a:pPr marL="228600" indent="-228600">
              <a:buFont typeface="+mj-lt"/>
              <a:buAutoNum type="arabicPeriod"/>
            </a:pPr>
            <a:r>
              <a:rPr lang="en-US" sz="1100" b="1" dirty="0">
                <a:solidFill>
                  <a:srgbClr val="001691"/>
                </a:solidFill>
                <a:latin typeface="Montserrat" panose="00000500000000000000" pitchFamily="50" charset="0"/>
                <a:cs typeface="Open Sans" panose="020B0606030504020204" pitchFamily="34" charset="0"/>
              </a:rPr>
              <a:t>YOUR CUSTOMER REQUESTS A QUOTE </a:t>
            </a:r>
          </a:p>
          <a:p>
            <a:r>
              <a:rPr lang="en-US" sz="1100" dirty="0">
                <a:solidFill>
                  <a:srgbClr val="000000"/>
                </a:solidFill>
                <a:latin typeface="Open Sans" panose="020B0606030504020204" pitchFamily="34" charset="0"/>
                <a:cs typeface="Open Sans" panose="020B0606030504020204" pitchFamily="34" charset="0"/>
              </a:rPr>
              <a:t>Your customer calls in or emails their quote request, just as they always have. They don’t require any specialized software on their end. </a:t>
            </a:r>
          </a:p>
          <a:p>
            <a:endParaRPr lang="en-US" sz="1100" dirty="0">
              <a:solidFill>
                <a:srgbClr val="000000"/>
              </a:solidFill>
              <a:latin typeface="Open Sans" panose="020B0606030504020204" pitchFamily="34" charset="0"/>
              <a:cs typeface="Open Sans" panose="020B0606030504020204" pitchFamily="34" charset="0"/>
            </a:endParaRPr>
          </a:p>
          <a:p>
            <a:pPr marL="228600" indent="-228600">
              <a:buFont typeface="+mj-lt"/>
              <a:buAutoNum type="arabicPeriod" startAt="2"/>
            </a:pPr>
            <a:r>
              <a:rPr lang="en-US" sz="1100" b="1" dirty="0">
                <a:solidFill>
                  <a:srgbClr val="001691"/>
                </a:solidFill>
                <a:latin typeface="Montserrat" panose="00000500000000000000" pitchFamily="50" charset="0"/>
                <a:cs typeface="Open Sans" panose="020B0606030504020204" pitchFamily="34" charset="0"/>
              </a:rPr>
              <a:t>YOU REVIEW &amp; ACCEPT THE REQUEST </a:t>
            </a:r>
          </a:p>
          <a:p>
            <a:r>
              <a:rPr lang="en-US" sz="1100" dirty="0">
                <a:solidFill>
                  <a:srgbClr val="000000"/>
                </a:solidFill>
                <a:latin typeface="Open Sans" panose="020B0606030504020204" pitchFamily="34" charset="0"/>
                <a:cs typeface="Open Sans" panose="020B0606030504020204" pitchFamily="34" charset="0"/>
              </a:rPr>
              <a:t>Review the request in your Quote Automation portal, adding your markup and making any edits needed. Receive rates from all major carriers in an instant, right inside the application!</a:t>
            </a:r>
          </a:p>
          <a:p>
            <a:endParaRPr lang="en-US" sz="1100" dirty="0">
              <a:solidFill>
                <a:srgbClr val="000000"/>
              </a:solidFill>
              <a:latin typeface="Open Sans" panose="020B0606030504020204" pitchFamily="34" charset="0"/>
              <a:cs typeface="Open Sans" panose="020B0606030504020204" pitchFamily="34" charset="0"/>
            </a:endParaRPr>
          </a:p>
          <a:p>
            <a:pPr marL="228600" indent="-228600">
              <a:buFont typeface="+mj-lt"/>
              <a:buAutoNum type="arabicPeriod" startAt="3"/>
            </a:pPr>
            <a:r>
              <a:rPr lang="en-US" sz="1100" b="1" dirty="0">
                <a:solidFill>
                  <a:srgbClr val="001691"/>
                </a:solidFill>
                <a:latin typeface="Montserrat" panose="00000500000000000000" pitchFamily="50" charset="0"/>
                <a:cs typeface="Open Sans" panose="020B0606030504020204" pitchFamily="34" charset="0"/>
              </a:rPr>
              <a:t>YOUR QUOTE IS READY</a:t>
            </a:r>
          </a:p>
          <a:p>
            <a:r>
              <a:rPr lang="en-US" sz="1100" dirty="0">
                <a:solidFill>
                  <a:srgbClr val="000000"/>
                </a:solidFill>
                <a:latin typeface="Open Sans" panose="020B0606030504020204" pitchFamily="34" charset="0"/>
                <a:cs typeface="Open Sans" panose="020B0606030504020204" pitchFamily="34" charset="0"/>
              </a:rPr>
              <a:t>Just one more click, and your quote is ready to be emailed back to the customer.</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1026254"/>
            <a:ext cx="3756936" cy="2157984"/>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4800" y="1700596"/>
            <a:ext cx="1905000" cy="1668411"/>
          </a:xfrm>
          <a:prstGeom prst="rect">
            <a:avLst/>
          </a:prstGeom>
        </p:spPr>
      </p:pic>
    </p:spTree>
    <p:extLst>
      <p:ext uri="{BB962C8B-B14F-4D97-AF65-F5344CB8AC3E}">
        <p14:creationId xmlns:p14="http://schemas.microsoft.com/office/powerpoint/2010/main" val="1113556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AC31E8-EB69-7D03-8CEA-A1C36599BE12}"/>
              </a:ext>
            </a:extLst>
          </p:cNvPr>
          <p:cNvSpPr/>
          <p:nvPr/>
        </p:nvSpPr>
        <p:spPr>
          <a:xfrm>
            <a:off x="330168" y="1225822"/>
            <a:ext cx="10033033" cy="1111330"/>
          </a:xfrm>
          <a:prstGeom prst="rect">
            <a:avLst/>
          </a:prstGeom>
        </p:spPr>
        <p:txBody>
          <a:bodyPr wrap="square" anchor="ctr" anchorCtr="0">
            <a:spAutoFit/>
          </a:bodyPr>
          <a:lstStyle/>
          <a:p>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MAGAYA </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CONNECT</a:t>
            </a:r>
          </a:p>
          <a:p>
            <a:r>
              <a:rPr lang="en-US" sz="1698" i="1" dirty="0">
                <a:solidFill>
                  <a:srgbClr val="383B48"/>
                </a:solidFill>
                <a:latin typeface="Montserrat" panose="00000500000000000000" pitchFamily="2" charset="0"/>
                <a:ea typeface="Helvetica Neue UltraLight" panose="02000206000000020004" pitchFamily="2" charset="0"/>
                <a:cs typeface="Helvetica Neue" panose="02000503000000020004" pitchFamily="2" charset="0"/>
              </a:rPr>
              <a:t>Create your ideal connected supply chain with efficient and reliable interactions between all your apps, data, and people.</a:t>
            </a:r>
          </a:p>
        </p:txBody>
      </p:sp>
      <p:sp>
        <p:nvSpPr>
          <p:cNvPr id="3" name="TextBox 2">
            <a:extLst>
              <a:ext uri="{FF2B5EF4-FFF2-40B4-BE49-F238E27FC236}">
                <a16:creationId xmlns:a16="http://schemas.microsoft.com/office/drawing/2014/main" id="{D581C37C-DCF4-16F0-61C4-6EEA99187D41}"/>
              </a:ext>
            </a:extLst>
          </p:cNvPr>
          <p:cNvSpPr txBox="1"/>
          <p:nvPr/>
        </p:nvSpPr>
        <p:spPr>
          <a:xfrm>
            <a:off x="330168" y="2691479"/>
            <a:ext cx="4236948" cy="2883995"/>
          </a:xfrm>
          <a:prstGeom prst="rect">
            <a:avLst/>
          </a:prstGeom>
          <a:noFill/>
        </p:spPr>
        <p:txBody>
          <a:bodyPr wrap="square">
            <a:spAutoFit/>
          </a:bodyPr>
          <a:lstStyle/>
          <a:p>
            <a:pPr>
              <a:lnSpc>
                <a:spcPct val="150000"/>
              </a:lnSpc>
            </a:pPr>
            <a:r>
              <a:rPr lang="en-US" sz="1358" dirty="0">
                <a:solidFill>
                  <a:srgbClr val="424242"/>
                </a:solidFill>
                <a:latin typeface="Open Sans" panose="020B0606030504020204" pitchFamily="34" charset="0"/>
                <a:ea typeface="Open Sans" panose="020B0606030504020204" pitchFamily="34" charset="0"/>
                <a:cs typeface="Open Sans" panose="020B0606030504020204" pitchFamily="34" charset="0"/>
                <a:sym typeface="Montserrat Light"/>
              </a:rPr>
              <a:t>Quickly and easily connect any system to the Magaya Digital Freight Platform, including:</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Shipping &amp; logistics</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Accounting &amp; payment processing</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Customs compliance &amp; government</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Analytics</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E-commerce</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ERP &amp; business applications</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Cloud storage &amp; data management</a:t>
            </a:r>
          </a:p>
          <a:p>
            <a:pPr marL="310494" indent="-155247" fontAlgn="base">
              <a:lnSpc>
                <a:spcPct val="150000"/>
              </a:lnSpc>
              <a:buFont typeface="Wingdings" panose="05000000000000000000" pitchFamily="2" charset="2"/>
              <a:buChar char="§"/>
            </a:pPr>
            <a:r>
              <a:rPr lang="en-CA" sz="1188" dirty="0">
                <a:solidFill>
                  <a:srgbClr val="424242"/>
                </a:solidFill>
                <a:latin typeface="Open Sans" panose="020B0606030504020204" pitchFamily="34" charset="0"/>
                <a:ea typeface="Open Sans" panose="020B0606030504020204" pitchFamily="34" charset="0"/>
                <a:cs typeface="Open Sans" panose="020B0606030504020204" pitchFamily="34" charset="0"/>
              </a:rPr>
              <a:t>Collaboration &amp; communication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85090" y="2878049"/>
            <a:ext cx="5134327" cy="2949671"/>
          </a:xfrm>
          <a:prstGeom prst="rect">
            <a:avLst/>
          </a:prstGeom>
        </p:spPr>
      </p:pic>
      <p:sp>
        <p:nvSpPr>
          <p:cNvPr id="6" name="TextBox 5">
            <a:extLst>
              <a:ext uri="{FF2B5EF4-FFF2-40B4-BE49-F238E27FC236}">
                <a16:creationId xmlns:a16="http://schemas.microsoft.com/office/drawing/2014/main" id="{827EA3A3-8182-9DCD-9A94-A3D2B5E590CF}"/>
              </a:ext>
            </a:extLst>
          </p:cNvPr>
          <p:cNvSpPr txBox="1"/>
          <p:nvPr/>
        </p:nvSpPr>
        <p:spPr>
          <a:xfrm>
            <a:off x="5070264" y="6058097"/>
            <a:ext cx="5912555" cy="327462"/>
          </a:xfrm>
          <a:prstGeom prst="rect">
            <a:avLst/>
          </a:prstGeom>
          <a:noFill/>
        </p:spPr>
        <p:txBody>
          <a:bodyPr wrap="square">
            <a:spAutoFit/>
          </a:bodyPr>
          <a:lstStyle/>
          <a:p>
            <a:r>
              <a:rPr lang="en-US" sz="1528" dirty="0">
                <a:hlinkClick r:id="rId3"/>
              </a:rPr>
              <a:t>https://www.magaya.com/magaya-connect/</a:t>
            </a:r>
            <a:r>
              <a:rPr lang="en-US" sz="1528" dirty="0"/>
              <a:t> </a:t>
            </a:r>
          </a:p>
        </p:txBody>
      </p:sp>
    </p:spTree>
    <p:extLst>
      <p:ext uri="{BB962C8B-B14F-4D97-AF65-F5344CB8AC3E}">
        <p14:creationId xmlns:p14="http://schemas.microsoft.com/office/powerpoint/2010/main" val="462772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4757698"/>
            <a:ext cx="10363200" cy="2039363"/>
          </a:xfrm>
          <a:prstGeom prst="rect">
            <a:avLst/>
          </a:prstGeom>
          <a:solidFill>
            <a:srgbClr val="F6F7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528" dirty="0"/>
          </a:p>
        </p:txBody>
      </p:sp>
      <p:sp>
        <p:nvSpPr>
          <p:cNvPr id="9" name="TextBox 8">
            <a:extLst>
              <a:ext uri="{FF2B5EF4-FFF2-40B4-BE49-F238E27FC236}">
                <a16:creationId xmlns:a16="http://schemas.microsoft.com/office/drawing/2014/main" id="{777EDB95-EC81-804A-8FB1-AC0449FC7B1A}"/>
              </a:ext>
            </a:extLst>
          </p:cNvPr>
          <p:cNvSpPr txBox="1"/>
          <p:nvPr/>
        </p:nvSpPr>
        <p:spPr>
          <a:xfrm>
            <a:off x="490248" y="2576332"/>
            <a:ext cx="5219120" cy="1338956"/>
          </a:xfrm>
          <a:prstGeom prst="rect">
            <a:avLst/>
          </a:prstGeom>
          <a:noFill/>
        </p:spPr>
        <p:txBody>
          <a:bodyPr wrap="square" rtlCol="0">
            <a:spAutoFit/>
          </a:bodyPr>
          <a:lstStyle/>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Automates a slow, manual process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Captures accurate cargo dimensions with ease, in under 5 seconds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Eliminates upfront costs of traditional measuring tools</a:t>
            </a:r>
          </a:p>
          <a:p>
            <a:pPr marL="242573" indent="-242573">
              <a:lnSpc>
                <a:spcPct val="120000"/>
              </a:lnSpc>
              <a:spcAft>
                <a:spcPts val="1019"/>
              </a:spcAft>
              <a:buClr>
                <a:srgbClr val="383B48"/>
              </a:buClr>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Available for pallet, parcel, and high-volume in-motion dimensioning</a:t>
            </a:r>
          </a:p>
        </p:txBody>
      </p:sp>
      <p:sp>
        <p:nvSpPr>
          <p:cNvPr id="10" name="Rectangle 9">
            <a:extLst>
              <a:ext uri="{FF2B5EF4-FFF2-40B4-BE49-F238E27FC236}">
                <a16:creationId xmlns:a16="http://schemas.microsoft.com/office/drawing/2014/main" id="{60CA98CF-7024-0E4C-B9D0-B934DCC8FE4C}"/>
              </a:ext>
            </a:extLst>
          </p:cNvPr>
          <p:cNvSpPr/>
          <p:nvPr/>
        </p:nvSpPr>
        <p:spPr>
          <a:xfrm>
            <a:off x="1" y="1715391"/>
            <a:ext cx="5883000" cy="588751"/>
          </a:xfrm>
          <a:prstGeom prst="rect">
            <a:avLst/>
          </a:prstGeom>
        </p:spPr>
        <p:txBody>
          <a:bodyPr wrap="square" anchor="ctr" anchorCtr="0">
            <a:spAutoFit/>
          </a:bodyPr>
          <a:lstStyle/>
          <a:p>
            <a:pPr algn="ct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DIMENSIONER </a:t>
            </a:r>
            <a:r>
              <a:rPr lang="en-US" sz="2037" dirty="0">
                <a:solidFill>
                  <a:srgbClr val="09A1FF"/>
                </a:solidFill>
                <a:latin typeface="Montserrat SemiBold" panose="00000700000000000000" pitchFamily="50" charset="0"/>
                <a:ea typeface="Helvetica Neue UltraLight" panose="02000206000000020004" pitchFamily="2" charset="0"/>
                <a:cs typeface="Helvetica Neue" panose="02000503000000020004" pitchFamily="2" charset="0"/>
              </a:rPr>
              <a:t>BY MAGAYA</a:t>
            </a:r>
          </a:p>
        </p:txBody>
      </p:sp>
      <p:grpSp>
        <p:nvGrpSpPr>
          <p:cNvPr id="11" name="Group 10"/>
          <p:cNvGrpSpPr/>
          <p:nvPr/>
        </p:nvGrpSpPr>
        <p:grpSpPr>
          <a:xfrm>
            <a:off x="398327" y="5143595"/>
            <a:ext cx="4446984" cy="1123796"/>
            <a:chOff x="469230" y="4910214"/>
            <a:chExt cx="5238558" cy="1323835"/>
          </a:xfrm>
        </p:grpSpPr>
        <p:sp>
          <p:nvSpPr>
            <p:cNvPr id="12" name="Rectangle 11">
              <a:extLst>
                <a:ext uri="{FF2B5EF4-FFF2-40B4-BE49-F238E27FC236}">
                  <a16:creationId xmlns:a16="http://schemas.microsoft.com/office/drawing/2014/main" id="{28CBB835-7187-6049-B058-473BC0DB0FEC}"/>
                </a:ext>
              </a:extLst>
            </p:cNvPr>
            <p:cNvSpPr/>
            <p:nvPr/>
          </p:nvSpPr>
          <p:spPr>
            <a:xfrm>
              <a:off x="795123" y="4937202"/>
              <a:ext cx="1648899" cy="908972"/>
            </a:xfrm>
            <a:prstGeom prst="rect">
              <a:avLst/>
            </a:prstGeom>
          </p:spPr>
          <p:txBody>
            <a:bodyPr wrap="none">
              <a:spAutoFit/>
            </a:bodyPr>
            <a:lstStyle/>
            <a:p>
              <a:r>
                <a:rPr lang="en-US" sz="4414" b="1" dirty="0">
                  <a:solidFill>
                    <a:srgbClr val="6B7489"/>
                  </a:solidFill>
                  <a:latin typeface="Montserrat" panose="00000500000000000000" pitchFamily="2" charset="0"/>
                  <a:ea typeface="Helvetica Neue UltraLight" panose="02000206000000020004" pitchFamily="2" charset="0"/>
                  <a:cs typeface="Helvetica Neue" panose="02000503000000020004" pitchFamily="2" charset="0"/>
                </a:rPr>
                <a:t>20%</a:t>
              </a:r>
            </a:p>
          </p:txBody>
        </p:sp>
        <p:sp>
          <p:nvSpPr>
            <p:cNvPr id="13" name="Rectangle 12">
              <a:extLst>
                <a:ext uri="{FF2B5EF4-FFF2-40B4-BE49-F238E27FC236}">
                  <a16:creationId xmlns:a16="http://schemas.microsoft.com/office/drawing/2014/main" id="{2D0991B2-D73C-FF48-9DE1-F9E56485A0B0}"/>
                </a:ext>
              </a:extLst>
            </p:cNvPr>
            <p:cNvSpPr/>
            <p:nvPr/>
          </p:nvSpPr>
          <p:spPr>
            <a:xfrm>
              <a:off x="469230" y="5710830"/>
              <a:ext cx="2346480" cy="478280"/>
            </a:xfrm>
            <a:prstGeom prst="rect">
              <a:avLst/>
            </a:prstGeom>
          </p:spPr>
          <p:txBody>
            <a:bodyPr wrap="square">
              <a:spAutoFit/>
            </a:bodyPr>
            <a:lstStyle/>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INCREASE IN REVENUE</a:t>
              </a:r>
            </a:p>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EVERY MONTH</a:t>
              </a:r>
            </a:p>
          </p:txBody>
        </p:sp>
        <p:sp>
          <p:nvSpPr>
            <p:cNvPr id="14" name="Rectangle 13">
              <a:extLst>
                <a:ext uri="{FF2B5EF4-FFF2-40B4-BE49-F238E27FC236}">
                  <a16:creationId xmlns:a16="http://schemas.microsoft.com/office/drawing/2014/main" id="{4AA510DF-320F-0043-B5E8-0489E1095E3D}"/>
                </a:ext>
              </a:extLst>
            </p:cNvPr>
            <p:cNvSpPr/>
            <p:nvPr/>
          </p:nvSpPr>
          <p:spPr>
            <a:xfrm>
              <a:off x="3710435" y="4910214"/>
              <a:ext cx="1554483" cy="908972"/>
            </a:xfrm>
            <a:prstGeom prst="rect">
              <a:avLst/>
            </a:prstGeom>
          </p:spPr>
          <p:txBody>
            <a:bodyPr wrap="none">
              <a:spAutoFit/>
            </a:bodyPr>
            <a:lstStyle/>
            <a:p>
              <a:r>
                <a:rPr lang="en-US" sz="4414" b="1" dirty="0">
                  <a:solidFill>
                    <a:srgbClr val="6B7489"/>
                  </a:solidFill>
                  <a:latin typeface="Montserrat" panose="00000500000000000000" pitchFamily="2" charset="0"/>
                  <a:ea typeface="Helvetica Neue UltraLight" panose="02000206000000020004" pitchFamily="2" charset="0"/>
                  <a:cs typeface="Helvetica Neue" panose="02000503000000020004" pitchFamily="2" charset="0"/>
                </a:rPr>
                <a:t>$40</a:t>
              </a:r>
            </a:p>
          </p:txBody>
        </p:sp>
        <p:sp>
          <p:nvSpPr>
            <p:cNvPr id="15" name="Rectangle 14">
              <a:extLst>
                <a:ext uri="{FF2B5EF4-FFF2-40B4-BE49-F238E27FC236}">
                  <a16:creationId xmlns:a16="http://schemas.microsoft.com/office/drawing/2014/main" id="{FAB586BB-5FFA-4241-913D-FB09D03DFA26}"/>
                </a:ext>
              </a:extLst>
            </p:cNvPr>
            <p:cNvSpPr/>
            <p:nvPr/>
          </p:nvSpPr>
          <p:spPr>
            <a:xfrm>
              <a:off x="3152900" y="5710830"/>
              <a:ext cx="2554888" cy="478280"/>
            </a:xfrm>
            <a:prstGeom prst="rect">
              <a:avLst/>
            </a:prstGeom>
          </p:spPr>
          <p:txBody>
            <a:bodyPr wrap="square">
              <a:spAutoFit/>
            </a:bodyPr>
            <a:lstStyle/>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ON AVERAGE OF REVENUE </a:t>
              </a:r>
            </a:p>
            <a:p>
              <a:pPr algn="ctr"/>
              <a:r>
                <a:rPr lang="en-US" sz="1019" b="1" dirty="0">
                  <a:solidFill>
                    <a:srgbClr val="6B7489"/>
                  </a:solidFill>
                  <a:latin typeface="Montserrat SemiBold" panose="00000700000000000000" pitchFamily="50" charset="0"/>
                  <a:ea typeface="Open Sans" panose="020B0606030504020204" pitchFamily="34" charset="0"/>
                  <a:cs typeface="Open Sans" panose="020B0606030504020204" pitchFamily="34" charset="0"/>
                </a:rPr>
                <a:t>RECOUPED PER PALLET</a:t>
              </a:r>
            </a:p>
          </p:txBody>
        </p:sp>
        <p:cxnSp>
          <p:nvCxnSpPr>
            <p:cNvPr id="16" name="Straight Connector 15"/>
            <p:cNvCxnSpPr/>
            <p:nvPr/>
          </p:nvCxnSpPr>
          <p:spPr>
            <a:xfrm>
              <a:off x="2960483" y="5006566"/>
              <a:ext cx="0" cy="1227483"/>
            </a:xfrm>
            <a:prstGeom prst="line">
              <a:avLst/>
            </a:prstGeom>
            <a:ln>
              <a:solidFill>
                <a:srgbClr val="6B7489"/>
              </a:solidFill>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658A8618-31DD-5EAD-B4D4-0FCC010E2C40}"/>
              </a:ext>
            </a:extLst>
          </p:cNvPr>
          <p:cNvPicPr>
            <a:picLocks noChangeAspect="1"/>
          </p:cNvPicPr>
          <p:nvPr/>
        </p:nvPicPr>
        <p:blipFill>
          <a:blip r:embed="rId2"/>
          <a:stretch>
            <a:fillRect/>
          </a:stretch>
        </p:blipFill>
        <p:spPr>
          <a:xfrm>
            <a:off x="5709368" y="1252753"/>
            <a:ext cx="4477260" cy="4524626"/>
          </a:xfrm>
          <a:prstGeom prst="rect">
            <a:avLst/>
          </a:prstGeom>
        </p:spPr>
      </p:pic>
    </p:spTree>
    <p:extLst>
      <p:ext uri="{BB962C8B-B14F-4D97-AF65-F5344CB8AC3E}">
        <p14:creationId xmlns:p14="http://schemas.microsoft.com/office/powerpoint/2010/main" val="2786502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1722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FLOW WMS</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3" name="object 4"/>
          <p:cNvSpPr txBox="1"/>
          <p:nvPr/>
        </p:nvSpPr>
        <p:spPr>
          <a:xfrm>
            <a:off x="533400" y="1709928"/>
            <a:ext cx="6400800" cy="738664"/>
          </a:xfrm>
          <a:prstGeom prst="rect">
            <a:avLst/>
          </a:prstGeom>
        </p:spPr>
        <p:txBody>
          <a:bodyPr vert="horz" wrap="square" lIns="0" tIns="0" rIns="0" bIns="0" rtlCol="0">
            <a:spAutoFit/>
          </a:bodyPr>
          <a:lstStyle/>
          <a:p>
            <a:pPr marR="5079">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Designed for Android™ and iOS™, Flow WMS gives you the freedom of a modern mobile WMS with the real-time visibility and functionality you need for efficient and fast receiving and warehouse operations. With complete control of your warehouse tasks, Flow WMS goes beyond basic warehouse inventory control giving you true productivity in the warehouse.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624824"/>
            <a:ext cx="3445981" cy="1979371"/>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01272" y="1219200"/>
            <a:ext cx="764215" cy="1454491"/>
          </a:xfrm>
          <a:prstGeom prst="rect">
            <a:avLst/>
          </a:prstGeom>
        </p:spPr>
      </p:pic>
      <p:sp>
        <p:nvSpPr>
          <p:cNvPr id="8" name="object 6"/>
          <p:cNvSpPr txBox="1">
            <a:spLocks/>
          </p:cNvSpPr>
          <p:nvPr/>
        </p:nvSpPr>
        <p:spPr>
          <a:xfrm>
            <a:off x="533400" y="2667000"/>
            <a:ext cx="4495800" cy="4478149"/>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BENEFITS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INTEGRATED</a:t>
            </a:r>
          </a:p>
          <a:p>
            <a:r>
              <a:rPr lang="en-US" sz="1100" dirty="0">
                <a:solidFill>
                  <a:srgbClr val="000000"/>
                </a:solidFill>
                <a:latin typeface="Open Sans" panose="020B0606030504020204" pitchFamily="34" charset="0"/>
                <a:cs typeface="Open Sans" panose="020B0606030504020204" pitchFamily="34" charset="0"/>
              </a:rPr>
              <a:t>Flow WMS is designed to work in perfect harmony with Magaya Supply Chain and Magaya Dimensioner, giving you the perfect toolset for your most efficient warehouse ever.</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REAL-TIME</a:t>
            </a:r>
          </a:p>
          <a:p>
            <a:r>
              <a:rPr lang="en-US" sz="1100" dirty="0">
                <a:solidFill>
                  <a:srgbClr val="000000"/>
                </a:solidFill>
                <a:latin typeface="Open Sans" panose="020B0606030504020204" pitchFamily="34" charset="0"/>
                <a:cs typeface="Open Sans" panose="020B0606030504020204" pitchFamily="34" charset="0"/>
              </a:rPr>
              <a:t>Scan barcodes and take photos with the Flow WMS app and attach them in real-time to the related transaction in your Magaya system.</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INTUITIVE</a:t>
            </a:r>
          </a:p>
          <a:p>
            <a:r>
              <a:rPr lang="en-US" sz="1100" dirty="0">
                <a:solidFill>
                  <a:srgbClr val="000000"/>
                </a:solidFill>
                <a:latin typeface="Open Sans" panose="020B0606030504020204" pitchFamily="34" charset="0"/>
                <a:cs typeface="Open Sans" panose="020B0606030504020204" pitchFamily="34" charset="0"/>
              </a:rPr>
              <a:t>Leave clunky old mobile WMS tools in the past, where they belong! Flow WMS has a modern, intuitive interface your users will love, encouraging fast adoption and frequent use.</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WORKS WITHOUT WI-FI </a:t>
            </a:r>
          </a:p>
          <a:p>
            <a:r>
              <a:rPr lang="en-US" sz="1100" dirty="0">
                <a:solidFill>
                  <a:srgbClr val="000000"/>
                </a:solidFill>
                <a:latin typeface="Open Sans" panose="020B0606030504020204" pitchFamily="34" charset="0"/>
                <a:cs typeface="Open Sans" panose="020B0606030504020204" pitchFamily="34" charset="0"/>
              </a:rPr>
              <a:t>Warehouses are notorious for having wi-fi dead zones. Flow WMS keeps you up and running with mobile data - even in the event the wi-fi connection drops.</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PHOTO CAPTURE</a:t>
            </a:r>
          </a:p>
          <a:p>
            <a:r>
              <a:rPr lang="en-US" sz="1100" dirty="0">
                <a:solidFill>
                  <a:srgbClr val="000000"/>
                </a:solidFill>
                <a:latin typeface="Open Sans" panose="020B0606030504020204" pitchFamily="34" charset="0"/>
                <a:cs typeface="Open Sans" panose="020B0606030504020204" pitchFamily="34" charset="0"/>
              </a:rPr>
              <a:t>Document your inventory with photos from the device’s built-in camera. Capture high-quality photos and scan barcodes, then upload them in real-time to the related item or commodity in your Magaya system.</a:t>
            </a:r>
          </a:p>
        </p:txBody>
      </p:sp>
      <p:sp>
        <p:nvSpPr>
          <p:cNvPr id="9" name="object 6"/>
          <p:cNvSpPr txBox="1">
            <a:spLocks/>
          </p:cNvSpPr>
          <p:nvPr/>
        </p:nvSpPr>
        <p:spPr>
          <a:xfrm>
            <a:off x="5334000" y="2667000"/>
            <a:ext cx="4648200" cy="4985980"/>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KEY FEATURES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RECEIVING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Blind or by reference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Quick receiving or full details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Scan or manually enter items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Capture photos, print labels, repack</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Obtain weights and measures from Dimensioner by Magaya</a:t>
            </a:r>
          </a:p>
          <a:p>
            <a:endParaRPr lang="en-US" sz="1100" b="1" dirty="0">
              <a:solidFill>
                <a:srgbClr val="001691"/>
              </a:solidFill>
              <a:latin typeface="Montserrat" panose="00000500000000000000" pitchFamily="50"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LOOKUP</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Find and edit items by tracking number or location</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additional photos as needed</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Assign new locations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Reprint labels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Obtain weights and measures from Dimensioner by Magaya</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View and edit item data</a:t>
            </a:r>
          </a:p>
          <a:p>
            <a:pPr marL="171450" indent="-171450">
              <a:buFont typeface="Arial" panose="020B0604020202020204" pitchFamily="34" charset="0"/>
              <a:buChar char="•"/>
            </a:pPr>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SPECIFICATIONS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In-progress operations saved on the device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Progress can be saved before submitting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Works over wi-fi or mobile data</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Compatible with Android (6 and newer) and iPhone (11 and newer)</a:t>
            </a:r>
          </a:p>
          <a:p>
            <a:pPr marL="171450" indent="-171450">
              <a:buFont typeface="Arial" panose="020B0604020202020204" pitchFamily="34" charset="0"/>
              <a:buChar char="•"/>
            </a:pPr>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PICKING &amp; LOADING</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pictures and edit item information during pick and load</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Repack at any time and select package type</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Delegate or reassign tasks to other users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Load items directly into a shipping container</a:t>
            </a:r>
          </a:p>
        </p:txBody>
      </p:sp>
      <p:cxnSp>
        <p:nvCxnSpPr>
          <p:cNvPr id="13" name="Straight Connector 12"/>
          <p:cNvCxnSpPr/>
          <p:nvPr/>
        </p:nvCxnSpPr>
        <p:spPr>
          <a:xfrm>
            <a:off x="5181600" y="2590800"/>
            <a:ext cx="0" cy="487680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object 6">
            <a:extLst>
              <a:ext uri="{FF2B5EF4-FFF2-40B4-BE49-F238E27FC236}">
                <a16:creationId xmlns:a16="http://schemas.microsoft.com/office/drawing/2014/main" id="{FF524A7F-8AEF-6993-08D8-311701D650F1}"/>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1765452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48006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BINDER</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8" name="object 6"/>
          <p:cNvSpPr txBox="1">
            <a:spLocks/>
          </p:cNvSpPr>
          <p:nvPr/>
        </p:nvSpPr>
        <p:spPr>
          <a:xfrm>
            <a:off x="533400" y="3150290"/>
            <a:ext cx="4495800" cy="4393510"/>
          </a:xfrm>
          <a:prstGeom prst="rect">
            <a:avLst/>
          </a:prstGeom>
        </p:spPr>
        <p:txBody>
          <a:bodyPr vert="horz" wrap="square" lIns="0" tIns="0" rIns="0" bIns="0" rtlCol="0">
            <a:spAutoFit/>
          </a:bodyPr>
          <a:lstStyle>
            <a:lvl1pPr>
              <a:defRPr>
                <a:latin typeface="+mj-lt"/>
                <a:ea typeface="+mj-ea"/>
                <a:cs typeface="+mj-cs"/>
              </a:defRPr>
            </a:lvl1pPr>
          </a:lstStyle>
          <a:p>
            <a:pPr>
              <a:spcAft>
                <a:spcPts val="300"/>
              </a:spcAft>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ADAPTS TO YOUR WORKFLOW</a:t>
            </a:r>
          </a:p>
          <a:p>
            <a:pPr>
              <a:spcAft>
                <a:spcPts val="300"/>
              </a:spcAft>
            </a:pPr>
            <a:r>
              <a:rPr lang="en-US" sz="1100" dirty="0">
                <a:solidFill>
                  <a:srgbClr val="383B48"/>
                </a:solidFill>
                <a:latin typeface="Open Sans" panose="020B0606030504020204" pitchFamily="34" charset="0"/>
                <a:cs typeface="Open Sans" panose="020B0606030504020204" pitchFamily="34" charset="0"/>
              </a:rPr>
              <a:t>Add images to your Magaya Supply Chain transactions directly from the Binder app. </a:t>
            </a:r>
            <a:r>
              <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Binder also lets you easily find the transaction or item in Magaya Supply Chain by manually searching or scanning a barcode.</a:t>
            </a:r>
          </a:p>
          <a:p>
            <a:pPr>
              <a:spcAft>
                <a:spcPts val="300"/>
              </a:spcAft>
            </a:pPr>
            <a:r>
              <a:rPr lang="en-US" sz="10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 </a:t>
            </a:r>
            <a:endParaRPr lang="en-US" sz="1000" dirty="0">
              <a:solidFill>
                <a:srgbClr val="383B48"/>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DELIVERS A BETTER CUSTOMER EXPERIENCE</a:t>
            </a:r>
          </a:p>
          <a:p>
            <a:pPr>
              <a:spcAft>
                <a:spcPts val="300"/>
              </a:spcAft>
            </a:pPr>
            <a:r>
              <a:rPr lang="en-US" sz="1100" dirty="0">
                <a:solidFill>
                  <a:srgbClr val="000000"/>
                </a:solidFill>
                <a:latin typeface="Open Sans" panose="020B0606030504020204" pitchFamily="34" charset="0"/>
                <a:cs typeface="Open Sans" panose="020B0606030504020204" pitchFamily="34" charset="0"/>
              </a:rPr>
              <a:t>Take pictures of items or documents and send them directly to the right transaction in Magaya, providing the visibility customers want. Pictures are visible to the customer in real-time via the Magaya Digital Freight Portal and LiveTrack Mobile App by Magaya.</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SAVES TIME AND MONEY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Save several minutes per item compared to using cameras, cables, memory cards. Plugging camera cables or memory cards is a huge time waster, and sensitive equipment is not made to withstand the warehouse environment. </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EASY TO USE</a:t>
            </a:r>
          </a:p>
          <a:p>
            <a:pPr>
              <a:spcAft>
                <a:spcPts val="300"/>
              </a:spcAft>
            </a:pPr>
            <a:r>
              <a:rPr lang="en-US" sz="1100" dirty="0">
                <a:solidFill>
                  <a:srgbClr val="000000"/>
                </a:solidFill>
                <a:latin typeface="Open Sans" panose="020B0606030504020204" pitchFamily="34" charset="0"/>
                <a:cs typeface="Open Sans" panose="020B0606030504020204" pitchFamily="34" charset="0"/>
              </a:rPr>
              <a:t>Download the free app to an iOS or Android device and begin uploading photos to the system. There is no setup needed to get started with Binder! </a:t>
            </a:r>
          </a:p>
        </p:txBody>
      </p:sp>
      <p:cxnSp>
        <p:nvCxnSpPr>
          <p:cNvPr id="13" name="Straight Connector 12"/>
          <p:cNvCxnSpPr/>
          <p:nvPr/>
        </p:nvCxnSpPr>
        <p:spPr>
          <a:xfrm>
            <a:off x="5181600" y="3150290"/>
            <a:ext cx="0" cy="431731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object 7"/>
          <p:cNvSpPr txBox="1"/>
          <p:nvPr/>
        </p:nvSpPr>
        <p:spPr>
          <a:xfrm>
            <a:off x="5355771" y="5334000"/>
            <a:ext cx="4495800" cy="1648913"/>
          </a:xfrm>
          <a:prstGeom prst="rect">
            <a:avLst/>
          </a:prstGeom>
        </p:spPr>
        <p:txBody>
          <a:bodyPr vert="horz" wrap="square" lIns="0" tIns="0" rIns="0" bIns="0" rtlCol="0">
            <a:spAutoFit/>
          </a:bodyPr>
          <a:lstStyle/>
          <a:p>
            <a:pPr marL="12700" marR="5080">
              <a:lnSpc>
                <a:spcPct val="120000"/>
              </a:lnSpc>
            </a:pPr>
            <a:r>
              <a:rPr lang="en-US" sz="1000" i="1" spc="5" dirty="0">
                <a:latin typeface="Open Sans" panose="020B0606030504020204" pitchFamily="34" charset="0"/>
                <a:ea typeface="Open Sans" panose="020B0606030504020204" pitchFamily="34" charset="0"/>
                <a:cs typeface="Open Sans" panose="020B0606030504020204" pitchFamily="34" charset="0"/>
              </a:rPr>
              <a:t>“Binder by Magaya has helped us immensely in terms of automating the process of vehicle arrival. We can scan a warehouse receipt and attach all the photos with the Binder app directly into our Magaya system. Before we would have to go through a long process of taking pictures and trying to attach the pictures to the respective transactions. What used to take about 20 minutes now only a couple of minutes with Binder.” </a:t>
            </a:r>
          </a:p>
          <a:p>
            <a:pPr marL="12700" marR="5080">
              <a:lnSpc>
                <a:spcPct val="120000"/>
              </a:lnSpc>
            </a:pPr>
            <a:r>
              <a:rPr lang="en-US" sz="1000" i="1" spc="-5" dirty="0">
                <a:solidFill>
                  <a:srgbClr val="09A1FF"/>
                </a:solidFill>
                <a:latin typeface="Open Sans" panose="020B0606030504020204" pitchFamily="34" charset="0"/>
                <a:ea typeface="Open Sans" panose="020B0606030504020204" pitchFamily="34" charset="0"/>
                <a:cs typeface="Open Sans" panose="020B0606030504020204" pitchFamily="34" charset="0"/>
              </a:rPr>
              <a:t>▬</a:t>
            </a: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Dmitriy Shibarshin</a:t>
            </a: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Marketing Director | West Coast Shipping</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3400" y="533400"/>
            <a:ext cx="1520179" cy="2895196"/>
          </a:xfrm>
          <a:prstGeom prst="rect">
            <a:avLst/>
          </a:prstGeom>
        </p:spPr>
      </p:pic>
      <p:sp>
        <p:nvSpPr>
          <p:cNvPr id="5" name="object 6">
            <a:extLst>
              <a:ext uri="{FF2B5EF4-FFF2-40B4-BE49-F238E27FC236}">
                <a16:creationId xmlns:a16="http://schemas.microsoft.com/office/drawing/2014/main" id="{42B94AF7-C330-E133-BF62-2FD31D7B3B16}"/>
              </a:ext>
            </a:extLst>
          </p:cNvPr>
          <p:cNvSpPr txBox="1">
            <a:spLocks/>
          </p:cNvSpPr>
          <p:nvPr/>
        </p:nvSpPr>
        <p:spPr>
          <a:xfrm>
            <a:off x="5334000" y="3150290"/>
            <a:ext cx="3962399" cy="1938992"/>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KEY FEATURES</a:t>
            </a:r>
          </a:p>
          <a:p>
            <a:endParaRPr lang="en-US" sz="1100" dirty="0">
              <a:solidFill>
                <a:srgbClr val="000000"/>
              </a:solidFill>
              <a:latin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Easy to use on your existing Android or iOS mobile devices.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Take photos or add existing ones that are saved in your phone’s gallery.</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Use cellular data or Wi-Fi to upload photos.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Add a Photo to an existing Magaya Transaction.</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Add photos to items that you load into a shipment “on-the-fly” Even if the item is not in your Commodity List yet.</a:t>
            </a:r>
          </a:p>
          <a:p>
            <a:endParaRPr lang="en-US" sz="1100" dirty="0">
              <a:solidFill>
                <a:srgbClr val="000000"/>
              </a:solidFill>
              <a:latin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53492A31-33E9-B933-6763-B94B08FC07D5}"/>
              </a:ext>
            </a:extLst>
          </p:cNvPr>
          <p:cNvSpPr txBox="1"/>
          <p:nvPr/>
        </p:nvSpPr>
        <p:spPr>
          <a:xfrm>
            <a:off x="533400" y="1709928"/>
            <a:ext cx="6858000" cy="886397"/>
          </a:xfrm>
          <a:prstGeom prst="rect">
            <a:avLst/>
          </a:prstGeom>
          <a:noFill/>
        </p:spPr>
        <p:txBody>
          <a:bodyPr wrap="square" lIns="0" tIns="0" rIns="0" bIns="0">
            <a:spAutoFit/>
          </a:bodyPr>
          <a:lstStyle/>
          <a:p>
            <a:pPr>
              <a:lnSpc>
                <a:spcPct val="120000"/>
              </a:lnSpc>
            </a:pPr>
            <a:r>
              <a:rPr lang="en-US" sz="1200" dirty="0">
                <a:latin typeface="Open Sans" panose="020B0606030504020204" pitchFamily="34" charset="0"/>
                <a:ea typeface="Open Sans" panose="020B0606030504020204" pitchFamily="34" charset="0"/>
                <a:cs typeface="Open Sans" panose="020B0606030504020204" pitchFamily="34" charset="0"/>
              </a:rPr>
              <a:t>The Binder app takes photos of packages or cargo, barcode labels, documents, PDFs, checks, and more, and it then instantly attaches the photos to existing Magaya transactions or commodities in the system. It is often used in the warehouse to take photos of cargo and add them to Warehouse Receipts, Shipments, or other Magaya Supply Chain transactions. </a:t>
            </a:r>
          </a:p>
        </p:txBody>
      </p:sp>
      <p:cxnSp>
        <p:nvCxnSpPr>
          <p:cNvPr id="16" name="Straight Connector 15">
            <a:extLst>
              <a:ext uri="{FF2B5EF4-FFF2-40B4-BE49-F238E27FC236}">
                <a16:creationId xmlns:a16="http://schemas.microsoft.com/office/drawing/2014/main" id="{2CEED5BA-0488-D939-E2CE-53A5DCE726C0}"/>
              </a:ext>
            </a:extLst>
          </p:cNvPr>
          <p:cNvCxnSpPr/>
          <p:nvPr/>
        </p:nvCxnSpPr>
        <p:spPr>
          <a:xfrm>
            <a:off x="5334000" y="51054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object 6">
            <a:extLst>
              <a:ext uri="{FF2B5EF4-FFF2-40B4-BE49-F238E27FC236}">
                <a16:creationId xmlns:a16="http://schemas.microsoft.com/office/drawing/2014/main" id="{30AD6DEF-6856-D649-2B13-B6C0926164CE}"/>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3996743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50292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CONTAINER TRACKING</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09928"/>
            <a:ext cx="5334000" cy="899221"/>
          </a:xfrm>
          <a:prstGeom prst="rect">
            <a:avLst/>
          </a:prstGeom>
        </p:spPr>
        <p:txBody>
          <a:bodyPr vert="horz" wrap="square" lIns="0" tIns="0" rIns="0" bIns="0" rtlCol="0">
            <a:spAutoFit/>
          </a:bodyPr>
          <a:lstStyle/>
          <a:p>
            <a:pPr marR="5079">
              <a:lnSpc>
                <a:spcPct val="120000"/>
              </a:lnSpc>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Save time and accelerate your tracking workflows with just one click to track all your containers worldwide. Track your ocean shipment containers across more than 100 sealines faster and more efficiently than ever, all within Magaya Supply Chain.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8238" y="838199"/>
            <a:ext cx="3753963" cy="2156277"/>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1261872"/>
            <a:ext cx="945445" cy="1754712"/>
          </a:xfrm>
          <a:prstGeom prst="rect">
            <a:avLst/>
          </a:prstGeom>
        </p:spPr>
      </p:pic>
      <p:sp>
        <p:nvSpPr>
          <p:cNvPr id="15" name="object 6"/>
          <p:cNvSpPr txBox="1">
            <a:spLocks/>
          </p:cNvSpPr>
          <p:nvPr/>
        </p:nvSpPr>
        <p:spPr>
          <a:xfrm>
            <a:off x="529591" y="3576625"/>
            <a:ext cx="4495800" cy="2954655"/>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BENEFITS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IMPROVES VISIBILITY FOR ALL STAKEHOLDERS</a:t>
            </a:r>
          </a:p>
          <a:p>
            <a:r>
              <a:rPr lang="en-US" sz="1100" dirty="0">
                <a:solidFill>
                  <a:srgbClr val="000000"/>
                </a:solidFill>
                <a:latin typeface="Open Sans" panose="020B0606030504020204" pitchFamily="34" charset="0"/>
                <a:cs typeface="Open Sans" panose="020B0606030504020204" pitchFamily="34" charset="0"/>
              </a:rPr>
              <a:t>No matter where your containers are around the world, Container Tracking gives you direct visibility of your containers within Magaya Supply Chain.</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INTEGRATES WITH THE MAGAYA DIGITAL FREIGHT PORTAL AND LIVETRACK MOBILE APP BY MAGAYA</a:t>
            </a:r>
          </a:p>
          <a:p>
            <a:r>
              <a:rPr lang="en-US" sz="1100" dirty="0">
                <a:solidFill>
                  <a:srgbClr val="000000"/>
                </a:solidFill>
                <a:latin typeface="Open Sans" panose="020B0606030504020204" pitchFamily="34" charset="0"/>
                <a:cs typeface="Open Sans" panose="020B0606030504020204" pitchFamily="34" charset="0"/>
              </a:rPr>
              <a:t>Easily share your tracked containers’ status updates as events in the Digital Freight Portal or LiveTrack app, giving your customers 24/7,  self-serve access.</a:t>
            </a:r>
          </a:p>
          <a:p>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SAVES TIME AND ELIMINATES MANUAL PROCESSES </a:t>
            </a:r>
          </a:p>
          <a:p>
            <a:r>
              <a:rPr lang="en-US" sz="1100" dirty="0">
                <a:solidFill>
                  <a:srgbClr val="000000"/>
                </a:solidFill>
                <a:latin typeface="Open Sans" panose="020B0606030504020204" pitchFamily="34" charset="0"/>
                <a:cs typeface="Open Sans" panose="020B0606030504020204" pitchFamily="34" charset="0"/>
              </a:rPr>
              <a:t>The Container Tracking extension saves you time by linking container information in your shipments to container tracking sources worldwide, giving you quick access to the status of your containers.</a:t>
            </a:r>
          </a:p>
        </p:txBody>
      </p:sp>
      <p:cxnSp>
        <p:nvCxnSpPr>
          <p:cNvPr id="17" name="Straight Connector 16"/>
          <p:cNvCxnSpPr/>
          <p:nvPr/>
        </p:nvCxnSpPr>
        <p:spPr>
          <a:xfrm>
            <a:off x="5181600" y="3576625"/>
            <a:ext cx="0" cy="320517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object 6"/>
          <p:cNvSpPr txBox="1">
            <a:spLocks/>
          </p:cNvSpPr>
          <p:nvPr/>
        </p:nvSpPr>
        <p:spPr>
          <a:xfrm>
            <a:off x="533401" y="2725911"/>
            <a:ext cx="4491990" cy="474489"/>
          </a:xfrm>
          <a:prstGeom prst="rect">
            <a:avLst/>
          </a:prstGeom>
        </p:spPr>
        <p:txBody>
          <a:bodyPr vert="horz" wrap="square" lIns="0" tIns="0" rIns="0" bIns="0" rtlCol="0">
            <a:spAutoFit/>
          </a:bodyPr>
          <a:lstStyle>
            <a:lvl1pPr>
              <a:defRPr>
                <a:latin typeface="+mj-lt"/>
                <a:ea typeface="+mj-ea"/>
                <a:cs typeface="+mj-cs"/>
              </a:defRPr>
            </a:lvl1pPr>
          </a:lstStyle>
          <a:p>
            <a:r>
              <a:rPr lang="en-US" sz="1000" dirty="0">
                <a:solidFill>
                  <a:srgbClr val="000000"/>
                </a:solidFill>
                <a:latin typeface="Open Sans" panose="020B0606030504020204" pitchFamily="34" charset="0"/>
                <a:cs typeface="Open Sans" panose="020B0606030504020204" pitchFamily="34" charset="0"/>
              </a:rPr>
              <a:t>The solution enables global monitoring of your ocean container numbers, delivering better control and freight management as your shipments move from origin to </a:t>
            </a:r>
            <a:r>
              <a:rPr lang="en-US" sz="1000" dirty="0">
                <a:latin typeface="Open Sans" panose="020B0606030504020204" pitchFamily="34" charset="0"/>
                <a:cs typeface="Open Sans" panose="020B0606030504020204" pitchFamily="34" charset="0"/>
              </a:rPr>
              <a:t>destination</a:t>
            </a:r>
            <a:r>
              <a:rPr lang="en-US" sz="1000" dirty="0">
                <a:solidFill>
                  <a:srgbClr val="000000"/>
                </a:solidFill>
                <a:latin typeface="Open Sans" panose="020B0606030504020204" pitchFamily="34" charset="0"/>
                <a:cs typeface="Open Sans" panose="020B0606030504020204" pitchFamily="34" charset="0"/>
              </a:rPr>
              <a:t>.</a:t>
            </a:r>
          </a:p>
        </p:txBody>
      </p:sp>
      <p:sp>
        <p:nvSpPr>
          <p:cNvPr id="22" name="object 6"/>
          <p:cNvSpPr txBox="1">
            <a:spLocks/>
          </p:cNvSpPr>
          <p:nvPr/>
        </p:nvSpPr>
        <p:spPr>
          <a:xfrm>
            <a:off x="5348696" y="3581823"/>
            <a:ext cx="4495800" cy="3123932"/>
          </a:xfrm>
          <a:prstGeom prst="rect">
            <a:avLst/>
          </a:prstGeom>
        </p:spPr>
        <p:txBody>
          <a:bodyPr vert="horz" wrap="square" lIns="0" tIns="0" rIns="0" bIns="0" rtlCol="0">
            <a:spAutoFit/>
          </a:bodyPr>
          <a:lstStyle>
            <a:lvl1pPr>
              <a:defRPr>
                <a:latin typeface="+mj-lt"/>
                <a:ea typeface="+mj-ea"/>
                <a:cs typeface="+mj-cs"/>
              </a:defRPr>
            </a:lvl1pPr>
          </a:lstStyle>
          <a:p>
            <a:r>
              <a:rPr lang="en-CA" sz="1600" b="1" dirty="0">
                <a:solidFill>
                  <a:srgbClr val="09A1FF"/>
                </a:solidFill>
                <a:latin typeface="Montserrat" panose="00000500000000000000" pitchFamily="50" charset="0"/>
              </a:rPr>
              <a:t>KEY FEATURES</a:t>
            </a:r>
          </a:p>
          <a:p>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ONE-CLICK TRACKING</a:t>
            </a:r>
          </a:p>
          <a:p>
            <a:pPr marL="171450" indent="-171450">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Track by container or Bill of Lading number</a:t>
            </a:r>
          </a:p>
          <a:p>
            <a:pPr marL="171450" indent="-171450">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Search using SCAC code for best results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Track containers in batch</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Easily search containers in the grid</a:t>
            </a:r>
          </a:p>
          <a:p>
            <a:endParaRPr lang="en-US" sz="1100" b="1" dirty="0">
              <a:solidFill>
                <a:srgbClr val="001691"/>
              </a:solidFill>
              <a:latin typeface="Montserrat" panose="00000500000000000000" pitchFamily="50"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UPDATED ANYTIME WITH EVENTS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New event definitions are auto-created</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Events messages grouped by containers</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Daily auto-updates</a:t>
            </a:r>
          </a:p>
          <a:p>
            <a:pPr marL="171450" indent="-171450">
              <a:buFont typeface="Arial" panose="020B0604020202020204" pitchFamily="34" charset="0"/>
              <a:buChar char="•"/>
            </a:pPr>
            <a:endParaRPr lang="en-US" sz="1100" dirty="0">
              <a:solidFill>
                <a:srgbClr val="000000"/>
              </a:solidFill>
              <a:latin typeface="Open Sans" panose="020B0606030504020204" pitchFamily="34" charset="0"/>
              <a:cs typeface="Open Sans" panose="020B0606030504020204" pitchFamily="34" charset="0"/>
            </a:endParaRPr>
          </a:p>
          <a:p>
            <a:r>
              <a:rPr lang="en-US" sz="1100" b="1" dirty="0">
                <a:solidFill>
                  <a:srgbClr val="001691"/>
                </a:solidFill>
                <a:latin typeface="Montserrat" panose="00000500000000000000" pitchFamily="50" charset="0"/>
                <a:cs typeface="Open Sans" panose="020B0606030504020204" pitchFamily="34" charset="0"/>
              </a:rPr>
              <a:t>SHARE EASILY WITH THE MAGAYA DIGITAL FREIGHT PORTAL AND LIVETRACK MOBILE APP BY MAGAYA</a:t>
            </a:r>
          </a:p>
          <a:p>
            <a:pPr marL="171450" indent="-171450">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Configure events to trigger milestones in the Magaya Digital Freight Portal</a:t>
            </a:r>
          </a:p>
          <a:p>
            <a:pPr marL="171450" indent="-171450">
              <a:buFont typeface="Arial" panose="020B0604020202020204" pitchFamily="34" charset="0"/>
              <a:buChar char="•"/>
            </a:pPr>
            <a:r>
              <a:rPr lang="en-US" sz="1100" dirty="0">
                <a:solidFill>
                  <a:srgbClr val="000000"/>
                </a:solidFill>
                <a:latin typeface="Open Sans" panose="020B0606030504020204" pitchFamily="34" charset="0"/>
                <a:cs typeface="Open Sans" panose="020B0606030504020204" pitchFamily="34" charset="0"/>
              </a:rPr>
              <a:t>Push notifications to the LiveTrack Mobile App</a:t>
            </a:r>
          </a:p>
        </p:txBody>
      </p:sp>
      <p:sp>
        <p:nvSpPr>
          <p:cNvPr id="3" name="object 6">
            <a:extLst>
              <a:ext uri="{FF2B5EF4-FFF2-40B4-BE49-F238E27FC236}">
                <a16:creationId xmlns:a16="http://schemas.microsoft.com/office/drawing/2014/main" id="{0335D27B-6566-96D0-FA81-B025079EC279}"/>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665486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0D787F-6BBE-D215-3EC5-18D2990D8456}"/>
              </a:ext>
            </a:extLst>
          </p:cNvPr>
          <p:cNvSpPr/>
          <p:nvPr/>
        </p:nvSpPr>
        <p:spPr>
          <a:xfrm>
            <a:off x="1" y="1356467"/>
            <a:ext cx="10363199" cy="850041"/>
          </a:xfrm>
          <a:prstGeom prst="rect">
            <a:avLst/>
          </a:prstGeom>
        </p:spPr>
        <p:txBody>
          <a:bodyPr wrap="square" anchor="ctr" anchorCtr="0">
            <a:spAutoFit/>
          </a:bodyPr>
          <a:lstStyle/>
          <a:p>
            <a:pPr algn="ct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MAGAYA</a:t>
            </a:r>
            <a:r>
              <a:rPr lang="en-US" sz="3226" b="1" dirty="0">
                <a:solidFill>
                  <a:srgbClr val="09A1FF"/>
                </a:solidFill>
                <a:latin typeface="Montserrat" panose="00000500000000000000" pitchFamily="2" charset="0"/>
                <a:ea typeface="Helvetica Neue UltraLight" panose="02000206000000020004" pitchFamily="2" charset="0"/>
                <a:cs typeface="Helvetica Neue" panose="02000503000000020004" pitchFamily="2" charset="0"/>
              </a:rPr>
              <a:t> </a:t>
            </a:r>
            <a:r>
              <a:rPr lang="en-US" sz="3226" b="1" dirty="0">
                <a:solidFill>
                  <a:srgbClr val="001691"/>
                </a:solidFill>
                <a:latin typeface="Montserrat" panose="00000500000000000000" pitchFamily="2" charset="0"/>
                <a:ea typeface="Helvetica Neue UltraLight" panose="02000206000000020004" pitchFamily="2" charset="0"/>
                <a:cs typeface="Helvetica Neue" panose="02000503000000020004" pitchFamily="2" charset="0"/>
              </a:rPr>
              <a:t>AIR eBOOKING &amp; TRACKING</a:t>
            </a:r>
          </a:p>
          <a:p>
            <a:pPr algn="ctr"/>
            <a:r>
              <a:rPr lang="en-US" sz="1698" dirty="0">
                <a:solidFill>
                  <a:srgbClr val="383B48"/>
                </a:solidFill>
                <a:latin typeface="Montserrat" panose="00000500000000000000" pitchFamily="2" charset="0"/>
                <a:ea typeface="Helvetica Neue UltraLight" panose="02000206000000020004" pitchFamily="2" charset="0"/>
                <a:cs typeface="Helvetica Neue" panose="02000503000000020004" pitchFamily="2" charset="0"/>
              </a:rPr>
              <a:t>OVERVIEW</a:t>
            </a:r>
          </a:p>
        </p:txBody>
      </p:sp>
      <p:sp>
        <p:nvSpPr>
          <p:cNvPr id="3" name="TextBox 2">
            <a:extLst>
              <a:ext uri="{FF2B5EF4-FFF2-40B4-BE49-F238E27FC236}">
                <a16:creationId xmlns:a16="http://schemas.microsoft.com/office/drawing/2014/main" id="{E3A65346-AA8F-2A89-74E0-FDA807C68D57}"/>
              </a:ext>
            </a:extLst>
          </p:cNvPr>
          <p:cNvSpPr txBox="1"/>
          <p:nvPr/>
        </p:nvSpPr>
        <p:spPr>
          <a:xfrm>
            <a:off x="333779" y="2619506"/>
            <a:ext cx="5511321" cy="287348"/>
          </a:xfrm>
          <a:prstGeom prst="rect">
            <a:avLst/>
          </a:prstGeom>
          <a:noFill/>
        </p:spPr>
        <p:txBody>
          <a:bodyPr wrap="square" tIns="38811" bIns="38811" rtlCol="0">
            <a:spAutoFit/>
          </a:bodyPr>
          <a:lstStyle/>
          <a:p>
            <a:pPr fontAlgn="base"/>
            <a:r>
              <a:rPr lang="en-US" sz="1358" b="1" dirty="0">
                <a:solidFill>
                  <a:srgbClr val="09A1FF"/>
                </a:solidFill>
                <a:latin typeface="Montserrat" panose="00000500000000000000" pitchFamily="50" charset="0"/>
                <a:ea typeface="Open Sans" panose="020B0606030504020204" pitchFamily="34" charset="0"/>
                <a:cs typeface="Open Sans" panose="020B0606030504020204" pitchFamily="34" charset="0"/>
              </a:rPr>
              <a:t>MAGAYA RATE MANAGEMENT &amp; MAGAYA SUPPLY CHAIN</a:t>
            </a:r>
          </a:p>
        </p:txBody>
      </p:sp>
      <p:sp>
        <p:nvSpPr>
          <p:cNvPr id="4" name="TextBox 3">
            <a:extLst>
              <a:ext uri="{FF2B5EF4-FFF2-40B4-BE49-F238E27FC236}">
                <a16:creationId xmlns:a16="http://schemas.microsoft.com/office/drawing/2014/main" id="{6D98A690-FFDB-68D0-3D7D-EC5CB7E5E246}"/>
              </a:ext>
            </a:extLst>
          </p:cNvPr>
          <p:cNvSpPr txBox="1"/>
          <p:nvPr/>
        </p:nvSpPr>
        <p:spPr>
          <a:xfrm>
            <a:off x="333779" y="6261850"/>
            <a:ext cx="3738173" cy="364652"/>
          </a:xfrm>
          <a:prstGeom prst="rect">
            <a:avLst/>
          </a:prstGeom>
          <a:noFill/>
        </p:spPr>
        <p:txBody>
          <a:bodyPr wrap="square" rtlCol="0">
            <a:spAutoFit/>
          </a:bodyPr>
          <a:lstStyle/>
          <a:p>
            <a:pPr marL="0" lvl="1">
              <a:lnSpc>
                <a:spcPct val="120000"/>
              </a:lnSpc>
            </a:pPr>
            <a:r>
              <a:rPr lang="en-US" sz="764" i="1" dirty="0">
                <a:solidFill>
                  <a:srgbClr val="383B48"/>
                </a:solidFill>
                <a:latin typeface="Open Sans" panose="020B0606030504020204" pitchFamily="34" charset="0"/>
                <a:ea typeface="Open Sans" panose="020B0606030504020204" pitchFamily="34" charset="0"/>
                <a:cs typeface="Open Sans" panose="020B0606030504020204" pitchFamily="34" charset="0"/>
              </a:rPr>
              <a:t>*Rates and book API coming soon</a:t>
            </a:r>
          </a:p>
          <a:p>
            <a:pPr marL="0" lvl="1">
              <a:lnSpc>
                <a:spcPct val="120000"/>
              </a:lnSpc>
            </a:pPr>
            <a:r>
              <a:rPr lang="en-US" sz="764" i="1" dirty="0">
                <a:solidFill>
                  <a:srgbClr val="383B48"/>
                </a:solidFill>
                <a:latin typeface="Open Sans" panose="020B0606030504020204" pitchFamily="34" charset="0"/>
                <a:ea typeface="Open Sans" panose="020B0606030504020204" pitchFamily="34" charset="0"/>
                <a:cs typeface="Open Sans" panose="020B0606030504020204" pitchFamily="34" charset="0"/>
              </a:rPr>
              <a:t>** Currently available in Magaya Rate Management only</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1839" y="2906903"/>
            <a:ext cx="5134328" cy="2949671"/>
          </a:xfrm>
          <a:prstGeom prst="rect">
            <a:avLst/>
          </a:prstGeom>
        </p:spPr>
      </p:pic>
      <p:sp>
        <p:nvSpPr>
          <p:cNvPr id="11" name="TextBox 10">
            <a:extLst>
              <a:ext uri="{FF2B5EF4-FFF2-40B4-BE49-F238E27FC236}">
                <a16:creationId xmlns:a16="http://schemas.microsoft.com/office/drawing/2014/main" id="{E3A65346-AA8F-2A89-74E0-FDA807C68D57}"/>
              </a:ext>
            </a:extLst>
          </p:cNvPr>
          <p:cNvSpPr txBox="1"/>
          <p:nvPr/>
        </p:nvSpPr>
        <p:spPr>
          <a:xfrm>
            <a:off x="333779" y="3021062"/>
            <a:ext cx="4594810" cy="3128895"/>
          </a:xfrm>
          <a:prstGeom prst="rect">
            <a:avLst/>
          </a:prstGeom>
          <a:noFill/>
        </p:spPr>
        <p:txBody>
          <a:bodyPr wrap="square" tIns="38811" bIns="38811" rtlCol="0">
            <a:spAutoFit/>
          </a:bodyPr>
          <a:lstStyle/>
          <a:p>
            <a:pPr fontAlgn="base"/>
            <a:r>
              <a:rPr lang="en-US" sz="1358" dirty="0">
                <a:solidFill>
                  <a:srgbClr val="383B48"/>
                </a:solidFill>
                <a:latin typeface="Open Sans" panose="020B0606030504020204" pitchFamily="34" charset="0"/>
                <a:ea typeface="Open Sans" panose="020B0606030504020204" pitchFamily="34" charset="0"/>
                <a:cs typeface="Open Sans" panose="020B0606030504020204" pitchFamily="34" charset="0"/>
              </a:rPr>
              <a:t>Bring your quoting and procurement process to new heights in efficiency by gaining access to rates from more than 95 major airlines in a single, easy-to-use, cloud-based solution.</a:t>
            </a:r>
          </a:p>
          <a:p>
            <a:pPr fontAlgn="base"/>
            <a:endPar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marL="310494" indent="-155247" fontAlgn="base">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Save time and win more business with faster quotes and the most competitive rates</a:t>
            </a:r>
            <a:endParaRPr lang="en-US" sz="1188" dirty="0">
              <a:solidFill>
                <a:srgbClr val="383B48"/>
              </a:solidFill>
              <a:latin typeface="Montserrat" panose="00000500000000000000" pitchFamily="2" charset="0"/>
              <a:ea typeface="Open Sans" panose="020B0606030504020204" pitchFamily="34" charset="0"/>
              <a:cs typeface="Open Sans" panose="020B0606030504020204" pitchFamily="34" charset="0"/>
            </a:endParaRPr>
          </a:p>
          <a:p>
            <a:pPr marL="310494" indent="-155247" fontAlgn="base">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Retrieve and compare schedules, availability and pricing, as well as book air shipments**</a:t>
            </a:r>
          </a:p>
          <a:p>
            <a:pPr marL="310494" lvl="1" indent="-155247">
              <a:lnSpc>
                <a:spcPct val="120000"/>
              </a:lnSpc>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Track your air shipment directly from a booking or shipment in Magaya Supply Chain with a Master AWB number</a:t>
            </a:r>
          </a:p>
          <a:p>
            <a:pPr marL="310494" lvl="1" indent="-155247">
              <a:lnSpc>
                <a:spcPct val="120000"/>
              </a:lnSpc>
              <a:buFont typeface="Wingdings" panose="05000000000000000000" pitchFamily="2" charset="2"/>
              <a:buChar char="§"/>
            </a:pPr>
            <a:r>
              <a:rPr lang="en-US" sz="1188" dirty="0">
                <a:solidFill>
                  <a:srgbClr val="383B48"/>
                </a:solidFill>
                <a:latin typeface="Open Sans" panose="020B0606030504020204" pitchFamily="34" charset="0"/>
                <a:ea typeface="Open Sans" panose="020B0606030504020204" pitchFamily="34" charset="0"/>
                <a:cs typeface="Open Sans" panose="020B0606030504020204" pitchFamily="34" charset="0"/>
              </a:rPr>
              <a:t>Push bookings created in the Air eBooking portal into Magaya Supply Chain and track them in the events tab of a Magaya Supply Chain booking or shipment.*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3181" y="4468139"/>
            <a:ext cx="2913661" cy="2018196"/>
          </a:xfrm>
          <a:prstGeom prst="rect">
            <a:avLst/>
          </a:prstGeom>
        </p:spPr>
      </p:pic>
    </p:spTree>
    <p:extLst>
      <p:ext uri="{BB962C8B-B14F-4D97-AF65-F5344CB8AC3E}">
        <p14:creationId xmlns:p14="http://schemas.microsoft.com/office/powerpoint/2010/main" val="425416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0198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LIVETRACK MOBILE APP</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09928"/>
            <a:ext cx="6400800" cy="1107996"/>
          </a:xfrm>
          <a:prstGeom prst="rect">
            <a:avLst/>
          </a:prstGeom>
        </p:spPr>
        <p:txBody>
          <a:bodyPr vert="horz" wrap="square" lIns="0" tIns="0" rIns="0" bIns="0" rtlCol="0">
            <a:spAutoFit/>
          </a:bodyPr>
          <a:lstStyle/>
          <a:p>
            <a:pPr marR="5079">
              <a:lnSpc>
                <a:spcPct val="120000"/>
              </a:lnSpc>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LiveTrack works alongside the Magaya Digital Freight Portal to automate your customer service process by enabling visibility and tracking via a mobile app. Your customers and agents can log into their accounts from any iOS or Android-powered device 24/7, providing them access to warehouse receipts, cargo releases, shipments, purchase orders, invoices, and more. They can also view and share air waybills, bills of lading, and photographs.</a:t>
            </a:r>
          </a:p>
        </p:txBody>
      </p:sp>
      <p:sp>
        <p:nvSpPr>
          <p:cNvPr id="15" name="object 6"/>
          <p:cNvSpPr txBox="1">
            <a:spLocks/>
          </p:cNvSpPr>
          <p:nvPr/>
        </p:nvSpPr>
        <p:spPr>
          <a:xfrm>
            <a:off x="533400" y="3038182"/>
            <a:ext cx="4495800" cy="3734356"/>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pPr>
            <a:r>
              <a:rPr lang="en-CA" sz="1600" b="1" dirty="0">
                <a:solidFill>
                  <a:srgbClr val="09A1FF"/>
                </a:solidFill>
                <a:latin typeface="Montserrat" panose="00000500000000000000" pitchFamily="50" charset="0"/>
              </a:rPr>
              <a:t>BENEFITS</a:t>
            </a:r>
          </a:p>
          <a:p>
            <a:pPr>
              <a:lnSpc>
                <a:spcPct val="120000"/>
              </a:lnSpc>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INCREASE VISIBILITY</a:t>
            </a:r>
          </a:p>
          <a:p>
            <a:pPr>
              <a:lnSpc>
                <a:spcPct val="120000"/>
              </a:lnSpc>
            </a:pPr>
            <a:r>
              <a:rPr lang="en-US" sz="1100" dirty="0">
                <a:solidFill>
                  <a:srgbClr val="000000"/>
                </a:solidFill>
                <a:latin typeface="Open Sans" panose="020B0606030504020204" pitchFamily="34" charset="0"/>
                <a:cs typeface="Open Sans" panose="020B0606030504020204" pitchFamily="34" charset="0"/>
              </a:rPr>
              <a:t>Enable your customers to see information for a shipment as well as any documents attached to it such as the air waybill, cargo manifest, and more.</a:t>
            </a:r>
          </a:p>
          <a:p>
            <a:pPr>
              <a:lnSpc>
                <a:spcPct val="120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120000"/>
              </a:lnSpc>
            </a:pPr>
            <a:r>
              <a:rPr lang="en-US" sz="1100" b="1" dirty="0">
                <a:solidFill>
                  <a:srgbClr val="001691"/>
                </a:solidFill>
                <a:latin typeface="Montserrat" panose="00000500000000000000" pitchFamily="50" charset="0"/>
                <a:cs typeface="Open Sans" panose="020B0606030504020204" pitchFamily="34" charset="0"/>
              </a:rPr>
              <a:t>NOTIFY CUSTOMERS ON-THE-GO</a:t>
            </a:r>
          </a:p>
          <a:p>
            <a:pPr>
              <a:lnSpc>
                <a:spcPct val="120000"/>
              </a:lnSpc>
            </a:pPr>
            <a:r>
              <a:rPr lang="en-US" sz="1100" dirty="0">
                <a:solidFill>
                  <a:srgbClr val="000000"/>
                </a:solidFill>
                <a:latin typeface="Open Sans" panose="020B0606030504020204" pitchFamily="34" charset="0"/>
                <a:cs typeface="Open Sans" panose="020B0606030504020204" pitchFamily="34" charset="0"/>
              </a:rPr>
              <a:t>Provide customers with information on their cargo, inventory quantities, invoices, and more, 24 hours a day.</a:t>
            </a:r>
          </a:p>
          <a:p>
            <a:pPr>
              <a:lnSpc>
                <a:spcPct val="120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120000"/>
              </a:lnSpc>
            </a:pPr>
            <a:r>
              <a:rPr lang="en-US" sz="1100" b="1" dirty="0">
                <a:solidFill>
                  <a:srgbClr val="001691"/>
                </a:solidFill>
                <a:latin typeface="Montserrat" panose="00000500000000000000" pitchFamily="50" charset="0"/>
                <a:cs typeface="Open Sans" panose="020B0606030504020204" pitchFamily="34" charset="0"/>
              </a:rPr>
              <a:t>OPTIMIZE THE CUSTOMER EXPERIENCE  </a:t>
            </a:r>
          </a:p>
          <a:p>
            <a:r>
              <a:rPr lang="en-US" sz="1100" dirty="0">
                <a:latin typeface="Open Sans" panose="020B0606030504020204" pitchFamily="34" charset="0"/>
                <a:ea typeface="Open Sans" panose="020B0606030504020204" pitchFamily="34" charset="0"/>
                <a:cs typeface="Open Sans" panose="020B0606030504020204" pitchFamily="34" charset="0"/>
              </a:rPr>
              <a:t>Keep your customers updated on all transactions with self-service functionality, streamlining the manual phone call and email process.  </a:t>
            </a:r>
          </a:p>
          <a:p>
            <a:pPr>
              <a:lnSpc>
                <a:spcPct val="120000"/>
              </a:lnSpc>
            </a:pPr>
            <a:endParaRPr lang="en-US" sz="1100" dirty="0">
              <a:solidFill>
                <a:srgbClr val="000000"/>
              </a:solidFill>
              <a:latin typeface="Open Sans" panose="020B0606030504020204" pitchFamily="34" charset="0"/>
              <a:cs typeface="Open Sans" panose="020B0606030504020204" pitchFamily="34" charset="0"/>
            </a:endParaRPr>
          </a:p>
          <a:p>
            <a:pPr>
              <a:lnSpc>
                <a:spcPct val="120000"/>
              </a:lnSpc>
            </a:pPr>
            <a:r>
              <a:rPr lang="en-US" sz="1100" b="1" dirty="0">
                <a:solidFill>
                  <a:srgbClr val="001691"/>
                </a:solidFill>
                <a:latin typeface="Montserrat" panose="00000500000000000000" pitchFamily="50" charset="0"/>
                <a:cs typeface="Open Sans" panose="020B0606030504020204" pitchFamily="34" charset="0"/>
              </a:rPr>
              <a:t>KEEPS DOCUMENTS IN ONE PLACE </a:t>
            </a:r>
          </a:p>
          <a:p>
            <a:pPr>
              <a:lnSpc>
                <a:spcPct val="120000"/>
              </a:lnSpc>
            </a:pPr>
            <a:r>
              <a:rPr lang="en-US" sz="1100" dirty="0">
                <a:solidFill>
                  <a:srgbClr val="000000"/>
                </a:solidFill>
                <a:latin typeface="Open Sans" panose="020B0606030504020204" pitchFamily="34" charset="0"/>
                <a:cs typeface="Open Sans" panose="020B0606030504020204" pitchFamily="34" charset="0"/>
              </a:rPr>
              <a:t>Attach documents such as air waybills, bills of lading, photographs, and more to transactions.</a:t>
            </a:r>
          </a:p>
        </p:txBody>
      </p:sp>
      <p:cxnSp>
        <p:nvCxnSpPr>
          <p:cNvPr id="17" name="Straight Connector 16"/>
          <p:cNvCxnSpPr/>
          <p:nvPr/>
        </p:nvCxnSpPr>
        <p:spPr>
          <a:xfrm>
            <a:off x="5181600" y="3124200"/>
            <a:ext cx="0" cy="3648338"/>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bject 7"/>
          <p:cNvSpPr txBox="1"/>
          <p:nvPr/>
        </p:nvSpPr>
        <p:spPr>
          <a:xfrm>
            <a:off x="5334000" y="5412938"/>
            <a:ext cx="4495800" cy="1279581"/>
          </a:xfrm>
          <a:prstGeom prst="rect">
            <a:avLst/>
          </a:prstGeom>
        </p:spPr>
        <p:txBody>
          <a:bodyPr vert="horz" wrap="square" lIns="0" tIns="0" rIns="0" bIns="0" rtlCol="0">
            <a:spAutoFit/>
          </a:bodyPr>
          <a:lstStyle/>
          <a:p>
            <a:pPr marL="12700" marR="5080">
              <a:lnSpc>
                <a:spcPct val="120000"/>
              </a:lnSpc>
            </a:pPr>
            <a:r>
              <a:rPr lang="en-US" sz="1000" i="1" spc="5" dirty="0">
                <a:latin typeface="Open Sans" panose="020B0606030504020204" pitchFamily="34" charset="0"/>
                <a:ea typeface="Open Sans" panose="020B0606030504020204" pitchFamily="34" charset="0"/>
                <a:cs typeface="Open Sans" panose="020B0606030504020204" pitchFamily="34" charset="0"/>
              </a:rPr>
              <a:t>“LiveTrack is fantastic to run the business, we use it to push information non-stop to our clients. We have had 150% growth in customer volume over the past 5 years, mainly thanks to LiveTrack. We can handle more volume by putting the responsibility on the client instead of having them call us.” </a:t>
            </a:r>
          </a:p>
          <a:p>
            <a:pPr marL="12700" marR="5080">
              <a:lnSpc>
                <a:spcPct val="120000"/>
              </a:lnSpc>
            </a:pPr>
            <a:r>
              <a:rPr lang="en-US" sz="1000" i="1" spc="-5" dirty="0">
                <a:solidFill>
                  <a:srgbClr val="09A1FF"/>
                </a:solidFill>
                <a:latin typeface="Open Sans" panose="020B0606030504020204" pitchFamily="34" charset="0"/>
                <a:ea typeface="Open Sans" panose="020B0606030504020204" pitchFamily="34" charset="0"/>
                <a:cs typeface="Open Sans" panose="020B0606030504020204" pitchFamily="34" charset="0"/>
              </a:rPr>
              <a:t>▬</a:t>
            </a:r>
            <a:endParaRPr lang="en-US" sz="1000" dirty="0">
              <a:latin typeface="Open Sans" panose="020B0606030504020204" pitchFamily="34" charset="0"/>
              <a:ea typeface="Open Sans" panose="020B0606030504020204" pitchFamily="34" charset="0"/>
              <a:cs typeface="Open Sans" panose="020B0606030504020204" pitchFamily="34" charset="0"/>
            </a:endParaRP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Carter Gordon</a:t>
            </a:r>
          </a:p>
          <a:p>
            <a:pPr marL="12700" marR="5080">
              <a:lnSpc>
                <a:spcPct val="120000"/>
              </a:lnSpc>
            </a:pPr>
            <a:r>
              <a:rPr lang="en-US" sz="1000" dirty="0">
                <a:latin typeface="Open Sans" panose="020B0606030504020204" pitchFamily="34" charset="0"/>
                <a:ea typeface="Open Sans" panose="020B0606030504020204" pitchFamily="34" charset="0"/>
                <a:cs typeface="Open Sans" panose="020B0606030504020204" pitchFamily="34" charset="0"/>
              </a:rPr>
              <a:t>Owner | WP(JA) International</a:t>
            </a:r>
          </a:p>
        </p:txBody>
      </p:sp>
      <p:cxnSp>
        <p:nvCxnSpPr>
          <p:cNvPr id="13" name="Straight Connector 12"/>
          <p:cNvCxnSpPr/>
          <p:nvPr/>
        </p:nvCxnSpPr>
        <p:spPr>
          <a:xfrm>
            <a:off x="5334000" y="5105400"/>
            <a:ext cx="44957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6600" y="919275"/>
            <a:ext cx="1561802" cy="2898648"/>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2752" y="822959"/>
            <a:ext cx="1561802" cy="2994963"/>
          </a:xfrm>
          <a:prstGeom prst="rect">
            <a:avLst/>
          </a:prstGeom>
        </p:spPr>
      </p:pic>
      <p:sp>
        <p:nvSpPr>
          <p:cNvPr id="10" name="TextBox 9">
            <a:extLst>
              <a:ext uri="{FF2B5EF4-FFF2-40B4-BE49-F238E27FC236}">
                <a16:creationId xmlns:a16="http://schemas.microsoft.com/office/drawing/2014/main" id="{ED2DBD36-43C6-888F-EB8E-F861C05EB95B}"/>
              </a:ext>
            </a:extLst>
          </p:cNvPr>
          <p:cNvSpPr txBox="1"/>
          <p:nvPr/>
        </p:nvSpPr>
        <p:spPr>
          <a:xfrm>
            <a:off x="5232399" y="4050793"/>
            <a:ext cx="4495799" cy="769441"/>
          </a:xfrm>
          <a:prstGeom prst="rect">
            <a:avLst/>
          </a:prstGeom>
          <a:noFill/>
        </p:spPr>
        <p:txBody>
          <a:bodyPr wrap="square">
            <a:spAutoFit/>
          </a:bodyPr>
          <a:lstStyle/>
          <a:p>
            <a:r>
              <a:rPr lang="en-US" sz="1100" dirty="0">
                <a:latin typeface="Open Sans" panose="020B0606030504020204" pitchFamily="34" charset="0"/>
                <a:ea typeface="Open Sans" panose="020B0606030504020204" pitchFamily="34" charset="0"/>
                <a:cs typeface="Open Sans" panose="020B0606030504020204" pitchFamily="34" charset="0"/>
              </a:rPr>
              <a:t>Your customers and agents can quickly find their transactions by entering the transaction number or scanning a bar code from their smartphone. Plus, they can receive notifications on the status of their cargo or any inventory related transaction.</a:t>
            </a:r>
          </a:p>
        </p:txBody>
      </p:sp>
      <p:sp>
        <p:nvSpPr>
          <p:cNvPr id="5" name="object 6">
            <a:extLst>
              <a:ext uri="{FF2B5EF4-FFF2-40B4-BE49-F238E27FC236}">
                <a16:creationId xmlns:a16="http://schemas.microsoft.com/office/drawing/2014/main" id="{3F42CFE1-6BA9-E3DD-1FC4-EF258986830A}"/>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Tree>
    <p:extLst>
      <p:ext uri="{BB962C8B-B14F-4D97-AF65-F5344CB8AC3E}">
        <p14:creationId xmlns:p14="http://schemas.microsoft.com/office/powerpoint/2010/main" val="4212109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0198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FINAL MILE</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09928"/>
            <a:ext cx="5181600" cy="886397"/>
          </a:xfrm>
          <a:prstGeom prst="rect">
            <a:avLst/>
          </a:prstGeom>
        </p:spPr>
        <p:txBody>
          <a:bodyPr vert="horz" wrap="square" lIns="0" tIns="0" rIns="0" bIns="0" rtlCol="0">
            <a:spAutoFit/>
          </a:bodyPr>
          <a:lstStyle/>
          <a:p>
            <a:pPr marR="5079">
              <a:lnSpc>
                <a:spcPct val="120000"/>
              </a:lnSpc>
              <a:spcAft>
                <a:spcPts val="600"/>
              </a:spcAft>
            </a:pPr>
            <a:r>
              <a:rPr lang="en-US" sz="1200" spc="-20" dirty="0">
                <a:latin typeface="Open Sans" panose="020B0606030504020204" pitchFamily="34" charset="0"/>
                <a:ea typeface="Open Sans" panose="020B0606030504020204" pitchFamily="34" charset="0"/>
                <a:cs typeface="Open Sans" panose="020B0606030504020204" pitchFamily="34" charset="0"/>
              </a:rPr>
              <a:t>The Final Mile app gives drivers an efficient way to pick up and deliver packages and collect signatures, right from their mobile devices. You’ll keep your customers up to date on their delivery status as well as keep your team organized and your </a:t>
            </a:r>
            <a:r>
              <a:rPr lang="en-US" sz="1200" spc="-20" dirty="0" err="1">
                <a:latin typeface="Open Sans" panose="020B0606030504020204" pitchFamily="34" charset="0"/>
                <a:ea typeface="Open Sans" panose="020B0606030504020204" pitchFamily="34" charset="0"/>
                <a:cs typeface="Open Sans" panose="020B0606030504020204" pitchFamily="34" charset="0"/>
              </a:rPr>
              <a:t>Magaya</a:t>
            </a:r>
            <a:r>
              <a:rPr lang="en-US" sz="1200" spc="-20" dirty="0">
                <a:latin typeface="Open Sans" panose="020B0606030504020204" pitchFamily="34" charset="0"/>
                <a:ea typeface="Open Sans" panose="020B0606030504020204" pitchFamily="34" charset="0"/>
                <a:cs typeface="Open Sans" panose="020B0606030504020204" pitchFamily="34" charset="0"/>
              </a:rPr>
              <a:t> system synced – all from a single app.</a:t>
            </a:r>
          </a:p>
        </p:txBody>
      </p:sp>
      <p:sp>
        <p:nvSpPr>
          <p:cNvPr id="15" name="object 6"/>
          <p:cNvSpPr txBox="1">
            <a:spLocks/>
          </p:cNvSpPr>
          <p:nvPr/>
        </p:nvSpPr>
        <p:spPr>
          <a:xfrm>
            <a:off x="533400" y="2819400"/>
            <a:ext cx="4495800" cy="4319644"/>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pPr>
            <a:r>
              <a:rPr lang="en-CA" sz="1600" b="1" dirty="0">
                <a:solidFill>
                  <a:srgbClr val="09A1FF"/>
                </a:solidFill>
                <a:latin typeface="Montserrat" panose="00000500000000000000" pitchFamily="50" charset="0"/>
              </a:rPr>
              <a:t>BENEFITS</a:t>
            </a:r>
          </a:p>
          <a:p>
            <a:pPr>
              <a:spcAft>
                <a:spcPts val="300"/>
              </a:spcAft>
            </a:pPr>
            <a:br>
              <a:rPr lang="en-US" sz="1100" b="1" dirty="0">
                <a:solidFill>
                  <a:srgbClr val="001691"/>
                </a:solidFill>
                <a:latin typeface="Montserrat" panose="00000500000000000000" pitchFamily="50" charset="0"/>
                <a:cs typeface="Open Sans" panose="020B0606030504020204" pitchFamily="34" charset="0"/>
              </a:rPr>
            </a:br>
            <a:r>
              <a:rPr lang="en-US" sz="1100" b="1" dirty="0">
                <a:solidFill>
                  <a:srgbClr val="001691"/>
                </a:solidFill>
                <a:latin typeface="Montserrat" panose="00000500000000000000" pitchFamily="50" charset="0"/>
                <a:cs typeface="Open Sans" panose="020B0606030504020204" pitchFamily="34" charset="0"/>
              </a:rPr>
              <a:t>BOOSTS VISIBILITY</a:t>
            </a:r>
          </a:p>
          <a:p>
            <a:pPr>
              <a:spcAft>
                <a:spcPts val="300"/>
              </a:spcAft>
            </a:pPr>
            <a:r>
              <a:rPr lang="en-US" sz="1100" dirty="0">
                <a:solidFill>
                  <a:srgbClr val="383B48"/>
                </a:solidFill>
                <a:latin typeface="Open Sans" panose="020B0606030504020204" pitchFamily="34" charset="0"/>
                <a:cs typeface="Open Sans" panose="020B0606030504020204" pitchFamily="34" charset="0"/>
              </a:rPr>
              <a:t>Keep customers updated with their pickup and delivery details in real-time, saving you time on customer service calls.</a:t>
            </a:r>
            <a:endParaRPr lang="en-US" sz="1100" spc="-2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a:p>
            <a:pPr>
              <a:spcAft>
                <a:spcPts val="300"/>
              </a:spcAft>
            </a:pPr>
            <a:r>
              <a:rPr lang="en-US" sz="1000" spc="-20" dirty="0">
                <a:solidFill>
                  <a:srgbClr val="383B48"/>
                </a:solidFill>
                <a:latin typeface="Open Sans" panose="020B0606030504020204" pitchFamily="34" charset="0"/>
                <a:ea typeface="Open Sans" panose="020B0606030504020204" pitchFamily="34" charset="0"/>
                <a:cs typeface="Open Sans" panose="020B0606030504020204" pitchFamily="34" charset="0"/>
              </a:rPr>
              <a:t> </a:t>
            </a:r>
            <a:endParaRPr lang="en-US" sz="1000" dirty="0">
              <a:solidFill>
                <a:srgbClr val="383B48"/>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INTEGRATED</a:t>
            </a:r>
          </a:p>
          <a:p>
            <a:pPr>
              <a:spcAft>
                <a:spcPts val="300"/>
              </a:spcAft>
            </a:pPr>
            <a:r>
              <a:rPr lang="en-US" sz="1100" dirty="0">
                <a:solidFill>
                  <a:srgbClr val="000000"/>
                </a:solidFill>
                <a:latin typeface="Open Sans" panose="020B0606030504020204" pitchFamily="34" charset="0"/>
                <a:cs typeface="Open Sans" panose="020B0606030504020204" pitchFamily="34" charset="0"/>
              </a:rPr>
              <a:t>Once picked up or delivered, all pertinent data about the delivery is synced back to your </a:t>
            </a:r>
            <a:r>
              <a:rPr lang="en-US" sz="1100" dirty="0" err="1">
                <a:solidFill>
                  <a:srgbClr val="000000"/>
                </a:solidFill>
                <a:latin typeface="Open Sans" panose="020B0606030504020204" pitchFamily="34" charset="0"/>
                <a:cs typeface="Open Sans" panose="020B0606030504020204" pitchFamily="34" charset="0"/>
              </a:rPr>
              <a:t>Magaya</a:t>
            </a:r>
            <a:r>
              <a:rPr lang="en-US" sz="1100" dirty="0">
                <a:solidFill>
                  <a:srgbClr val="000000"/>
                </a:solidFill>
                <a:latin typeface="Open Sans" panose="020B0606030504020204" pitchFamily="34" charset="0"/>
                <a:cs typeface="Open Sans" panose="020B0606030504020204" pitchFamily="34" charset="0"/>
              </a:rPr>
              <a:t> system, automatically.</a:t>
            </a:r>
          </a:p>
          <a:p>
            <a:pPr>
              <a:spcAft>
                <a:spcPts val="300"/>
              </a:spcAft>
            </a:pPr>
            <a:endParaRPr lang="en-US" sz="1100" b="1"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GO PAPERLESS</a:t>
            </a:r>
          </a:p>
          <a:p>
            <a:pPr>
              <a:spcAft>
                <a:spcPts val="300"/>
              </a:spcAft>
            </a:pPr>
            <a:r>
              <a:rPr lang="en-US" sz="1100" dirty="0">
                <a:solidFill>
                  <a:srgbClr val="000000"/>
                </a:solidFill>
                <a:latin typeface="Open Sans" panose="020B0606030504020204" pitchFamily="34" charset="0"/>
                <a:cs typeface="Open Sans" panose="020B0606030504020204" pitchFamily="34" charset="0"/>
              </a:rPr>
              <a:t>Drivers can scan packages and get signatures right on the phone screen, meaning no paperwork to find or carry around.</a:t>
            </a:r>
          </a:p>
          <a:p>
            <a:pPr>
              <a:spcAft>
                <a:spcPts val="300"/>
              </a:spcAft>
            </a:pPr>
            <a:endParaRPr lang="en-US" sz="10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INCREASES EFFICIENCY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Easily assign tasks to specific drivers or leave them up for grabs. Plus, multiple drivers can use the app to make pickups and deliveries at the same time.</a:t>
            </a:r>
          </a:p>
          <a:p>
            <a:pPr>
              <a:spcAft>
                <a:spcPts val="300"/>
              </a:spcAft>
            </a:pPr>
            <a:endParaRPr lang="en-US" sz="1100" dirty="0">
              <a:solidFill>
                <a:srgbClr val="000000"/>
              </a:solidFill>
              <a:latin typeface="Open Sans" panose="020B0606030504020204" pitchFamily="34" charset="0"/>
              <a:cs typeface="Open Sans" panose="020B0606030504020204" pitchFamily="34" charset="0"/>
            </a:endParaRPr>
          </a:p>
          <a:p>
            <a:pPr>
              <a:spcAft>
                <a:spcPts val="300"/>
              </a:spcAft>
            </a:pPr>
            <a:r>
              <a:rPr lang="en-US" sz="1100" b="1" dirty="0">
                <a:solidFill>
                  <a:srgbClr val="001691"/>
                </a:solidFill>
                <a:latin typeface="Montserrat" panose="00000500000000000000" pitchFamily="50" charset="0"/>
                <a:cs typeface="Open Sans" panose="020B0606030504020204" pitchFamily="34" charset="0"/>
              </a:rPr>
              <a:t>MOBILE COMPATIBILITY</a:t>
            </a:r>
          </a:p>
          <a:p>
            <a:pPr>
              <a:spcAft>
                <a:spcPts val="300"/>
              </a:spcAft>
            </a:pPr>
            <a:r>
              <a:rPr lang="en-US" sz="1100" dirty="0">
                <a:solidFill>
                  <a:srgbClr val="000000"/>
                </a:solidFill>
                <a:latin typeface="Open Sans" panose="020B0606030504020204" pitchFamily="34" charset="0"/>
                <a:cs typeface="Open Sans" panose="020B0606030504020204" pitchFamily="34" charset="0"/>
              </a:rPr>
              <a:t>The Final Mile app is free to download on the App Store for iOS or the Google Play Store for Android users. </a:t>
            </a:r>
          </a:p>
        </p:txBody>
      </p:sp>
      <p:cxnSp>
        <p:nvCxnSpPr>
          <p:cNvPr id="17" name="Straight Connector 16"/>
          <p:cNvCxnSpPr/>
          <p:nvPr/>
        </p:nvCxnSpPr>
        <p:spPr>
          <a:xfrm>
            <a:off x="5181600" y="2905418"/>
            <a:ext cx="0" cy="423362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object 6">
            <a:extLst>
              <a:ext uri="{FF2B5EF4-FFF2-40B4-BE49-F238E27FC236}">
                <a16:creationId xmlns:a16="http://schemas.microsoft.com/office/drawing/2014/main" id="{3F42CFE1-6BA9-E3DD-1FC4-EF258986830A}"/>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
        <p:nvSpPr>
          <p:cNvPr id="14" name="object 6"/>
          <p:cNvSpPr txBox="1">
            <a:spLocks/>
          </p:cNvSpPr>
          <p:nvPr/>
        </p:nvSpPr>
        <p:spPr>
          <a:xfrm>
            <a:off x="5348696" y="4250085"/>
            <a:ext cx="4495800" cy="2323713"/>
          </a:xfrm>
          <a:prstGeom prst="rect">
            <a:avLst/>
          </a:prstGeom>
        </p:spPr>
        <p:txBody>
          <a:bodyPr vert="horz" wrap="square" lIns="0" tIns="0" rIns="0" bIns="0" rtlCol="0">
            <a:spAutoFit/>
          </a:bodyPr>
          <a:lstStyle>
            <a:lvl1pPr>
              <a:defRPr>
                <a:latin typeface="+mj-lt"/>
                <a:ea typeface="+mj-ea"/>
                <a:cs typeface="+mj-cs"/>
              </a:defRPr>
            </a:lvl1pPr>
          </a:lstStyle>
          <a:p>
            <a:pPr>
              <a:spcAft>
                <a:spcPts val="600"/>
              </a:spcAft>
            </a:pPr>
            <a:r>
              <a:rPr lang="en-CA" sz="1600" b="1" dirty="0">
                <a:solidFill>
                  <a:srgbClr val="09A1FF"/>
                </a:solidFill>
                <a:latin typeface="Montserrat" panose="00000500000000000000" pitchFamily="50" charset="0"/>
              </a:rPr>
              <a:t>KEY FEATURES</a:t>
            </a:r>
            <a:br>
              <a:rPr lang="en-US" sz="1100" b="1" dirty="0">
                <a:solidFill>
                  <a:srgbClr val="001691"/>
                </a:solidFill>
                <a:latin typeface="Montserrat" panose="00000500000000000000" pitchFamily="50" charset="0"/>
                <a:cs typeface="Open Sans" panose="020B0606030504020204" pitchFamily="34" charset="0"/>
              </a:rPr>
            </a:br>
            <a:endParaRPr lang="en-US" sz="1100" dirty="0">
              <a:solidFill>
                <a:srgbClr val="383B48"/>
              </a:solidFill>
              <a:latin typeface="Open Sans" panose="020B0606030504020204" pitchFamily="34" charset="0"/>
              <a:cs typeface="Open Sans" panose="020B0606030504020204" pitchFamily="34" charset="0"/>
            </a:endParaRP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Use a mobile device or compatible scanner to scan a package barcode</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Tasks in Magaya Supply Chain are sent to the app</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The app uses the phone’s native maps for turn-by-turn navigation and best route options while on deliveries.</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The photo capture feature allows drivers to take photos  of packages delivered</a:t>
            </a:r>
          </a:p>
          <a:p>
            <a:pPr marL="171450" indent="-171450">
              <a:spcAft>
                <a:spcPts val="600"/>
              </a:spcAft>
              <a:buFont typeface="Arial" panose="020B0604020202020204" pitchFamily="34" charset="0"/>
              <a:buChar char="•"/>
            </a:pPr>
            <a:r>
              <a:rPr lang="en-US" sz="1100" dirty="0">
                <a:solidFill>
                  <a:srgbClr val="383B48"/>
                </a:solidFill>
                <a:latin typeface="Open Sans" panose="020B0606030504020204" pitchFamily="34" charset="0"/>
                <a:cs typeface="Open Sans" panose="020B0606030504020204" pitchFamily="34" charset="0"/>
              </a:rPr>
              <a:t>Proof of Delivery and photos are visible in the </a:t>
            </a:r>
            <a:r>
              <a:rPr lang="en-US" sz="1100" dirty="0" err="1">
                <a:solidFill>
                  <a:srgbClr val="383B48"/>
                </a:solidFill>
                <a:latin typeface="Open Sans" panose="020B0606030504020204" pitchFamily="34" charset="0"/>
                <a:cs typeface="Open Sans" panose="020B0606030504020204" pitchFamily="34" charset="0"/>
              </a:rPr>
              <a:t>Magaya</a:t>
            </a:r>
            <a:r>
              <a:rPr lang="en-US" sz="1100" dirty="0">
                <a:solidFill>
                  <a:srgbClr val="383B48"/>
                </a:solidFill>
                <a:latin typeface="Open Sans" panose="020B0606030504020204" pitchFamily="34" charset="0"/>
                <a:cs typeface="Open Sans" panose="020B0606030504020204" pitchFamily="34" charset="0"/>
              </a:rPr>
              <a:t> Digital Freight Portal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66176" y="804672"/>
            <a:ext cx="1588381" cy="3023080"/>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3472" y="804672"/>
            <a:ext cx="1590264" cy="3026664"/>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0336" y="990600"/>
            <a:ext cx="1590264" cy="3026664"/>
          </a:xfrm>
          <a:prstGeom prst="rect">
            <a:avLst/>
          </a:prstGeom>
        </p:spPr>
      </p:pic>
    </p:spTree>
    <p:extLst>
      <p:ext uri="{BB962C8B-B14F-4D97-AF65-F5344CB8AC3E}">
        <p14:creationId xmlns:p14="http://schemas.microsoft.com/office/powerpoint/2010/main" val="3939039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649224"/>
            <a:ext cx="6019800" cy="923330"/>
          </a:xfrm>
          <a:prstGeom prst="rect">
            <a:avLst/>
          </a:prstGeom>
        </p:spPr>
        <p:txBody>
          <a:bodyPr vert="horz" wrap="square" lIns="0" tIns="0" rIns="0" bIns="0" rtlCol="0">
            <a:spAutoFit/>
          </a:bodyPr>
          <a:lstStyle>
            <a:lvl1pPr>
              <a:defRPr>
                <a:latin typeface="+mj-lt"/>
                <a:ea typeface="+mj-ea"/>
                <a:cs typeface="+mj-cs"/>
              </a:defRPr>
            </a:lvl1pPr>
          </a:lstStyle>
          <a:p>
            <a:r>
              <a:rPr lang="en-CA" sz="3000" b="1" dirty="0">
                <a:solidFill>
                  <a:srgbClr val="001691"/>
                </a:solidFill>
                <a:latin typeface="Montserrat" panose="00000500000000000000" pitchFamily="50" charset="0"/>
              </a:rPr>
              <a:t>INSIGHTS</a:t>
            </a:r>
          </a:p>
          <a:p>
            <a:r>
              <a:rPr lang="en-CA" sz="3000" b="1" dirty="0">
                <a:solidFill>
                  <a:srgbClr val="09A1FF"/>
                </a:solidFill>
                <a:latin typeface="Montserrat" panose="00000500000000000000" pitchFamily="50" charset="0"/>
              </a:rPr>
              <a:t>BY MAGAYA</a:t>
            </a:r>
            <a:endParaRPr lang="en-CA" sz="3000" dirty="0">
              <a:solidFill>
                <a:srgbClr val="09A1FF"/>
              </a:solidFill>
              <a:latin typeface="Montserrat" panose="00000500000000000000" pitchFamily="50" charset="0"/>
            </a:endParaRPr>
          </a:p>
        </p:txBody>
      </p:sp>
      <p:sp>
        <p:nvSpPr>
          <p:cNvPr id="11" name="object 4"/>
          <p:cNvSpPr txBox="1"/>
          <p:nvPr/>
        </p:nvSpPr>
        <p:spPr>
          <a:xfrm>
            <a:off x="533400" y="1709928"/>
            <a:ext cx="4648199" cy="738664"/>
          </a:xfrm>
          <a:prstGeom prst="rect">
            <a:avLst/>
          </a:prstGeom>
        </p:spPr>
        <p:txBody>
          <a:bodyPr vert="horz" wrap="square" lIns="0" tIns="0" rIns="0" bIns="0" rtlCol="0">
            <a:spAutoFit/>
          </a:bodyPr>
          <a:lstStyle/>
          <a:p>
            <a:pPr marL="0" marR="0" lvl="0" indent="0" algn="l" rtl="0">
              <a:spcBef>
                <a:spcPts val="0"/>
              </a:spcBef>
              <a:spcAft>
                <a:spcPts val="0"/>
              </a:spcAft>
              <a:buNone/>
            </a:pPr>
            <a:r>
              <a:rPr lang="en-US" sz="12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With Insights by Magaya, you can spot patterns, make informed decisions, and address your operational challenges head-on. It provides a clear overview of essential data, streamlining the decision-making process. </a:t>
            </a:r>
          </a:p>
        </p:txBody>
      </p:sp>
      <p:sp>
        <p:nvSpPr>
          <p:cNvPr id="15" name="object 6"/>
          <p:cNvSpPr txBox="1">
            <a:spLocks/>
          </p:cNvSpPr>
          <p:nvPr/>
        </p:nvSpPr>
        <p:spPr>
          <a:xfrm>
            <a:off x="533400" y="2667000"/>
            <a:ext cx="4495800" cy="4484433"/>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pPr>
            <a:r>
              <a:rPr lang="en-CA" sz="1600" b="1" dirty="0">
                <a:solidFill>
                  <a:srgbClr val="09A1FF"/>
                </a:solidFill>
                <a:latin typeface="Montserrat" panose="00000500000000000000" pitchFamily="50" charset="0"/>
              </a:rPr>
              <a:t>BENEFITS</a:t>
            </a:r>
          </a:p>
          <a:p>
            <a:pPr>
              <a:lnSpc>
                <a:spcPct val="120000"/>
              </a:lnSpc>
            </a:pPr>
            <a:endParaRPr lang="en-CA" sz="800" b="1" dirty="0">
              <a:solidFill>
                <a:srgbClr val="09A1FF"/>
              </a:solidFill>
              <a:latin typeface="Montserrat" panose="00000500000000000000" pitchFamily="50" charset="0"/>
            </a:endParaRPr>
          </a:p>
          <a:p>
            <a:pPr marL="0" marR="0" lvl="0" indent="0" algn="l" rtl="0">
              <a:lnSpc>
                <a:spcPct val="114000"/>
              </a:lnSpc>
              <a:spcBef>
                <a:spcPts val="0"/>
              </a:spcBef>
              <a:spcAft>
                <a:spcPts val="0"/>
              </a:spcAft>
              <a:buNone/>
            </a:pPr>
            <a:r>
              <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sym typeface="Montserrat SemiBold"/>
              </a:rPr>
              <a:t>ELIMINATES DATA SILOS</a:t>
            </a:r>
            <a:endPar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endParaRPr>
          </a:p>
          <a:p>
            <a:pPr marL="0" marR="0" lvl="0" indent="0" algn="l" rtl="0">
              <a:lnSpc>
                <a:spcPct val="114000"/>
              </a:lnSpc>
              <a:spcBef>
                <a:spcPts val="0"/>
              </a:spcBef>
              <a:spcAft>
                <a:spcPts val="0"/>
              </a:spcAft>
              <a:buNone/>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Aggregate data from one or multiple Magaya Supply Chain databases into a single data warehouse.</a:t>
            </a:r>
          </a:p>
          <a:p>
            <a:pPr marL="0" marR="0" lvl="0" indent="0" algn="l" rtl="0">
              <a:lnSpc>
                <a:spcPct val="114000"/>
              </a:lnSpc>
              <a:spcBef>
                <a:spcPts val="0"/>
              </a:spcBef>
              <a:spcAft>
                <a:spcPts val="0"/>
              </a:spcAft>
              <a:buNone/>
            </a:pPr>
            <a:endPar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l" rtl="0">
              <a:lnSpc>
                <a:spcPct val="114000"/>
              </a:lnSpc>
              <a:spcBef>
                <a:spcPts val="0"/>
              </a:spcBef>
              <a:spcAft>
                <a:spcPts val="0"/>
              </a:spcAft>
              <a:buNone/>
            </a:pPr>
            <a:r>
              <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sym typeface="Montserrat SemiBold"/>
              </a:rPr>
              <a:t>IMPROVES VISIBILITY</a:t>
            </a:r>
          </a:p>
          <a:p>
            <a:pPr marL="0" marR="0" lvl="0" indent="0" algn="l" rtl="0">
              <a:lnSpc>
                <a:spcPct val="114000"/>
              </a:lnSpc>
              <a:spcBef>
                <a:spcPts val="0"/>
              </a:spcBef>
              <a:spcAft>
                <a:spcPts val="0"/>
              </a:spcAft>
              <a:buNone/>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With all your data in one place, enjoy the centralized visibility you need to get the full picture of your business. Slice and dice the information to get to the details that truly matter.</a:t>
            </a:r>
          </a:p>
          <a:p>
            <a:pPr marL="0" marR="0" lvl="0" indent="0" algn="l" rtl="0">
              <a:lnSpc>
                <a:spcPct val="114000"/>
              </a:lnSpc>
              <a:spcBef>
                <a:spcPts val="0"/>
              </a:spcBef>
              <a:spcAft>
                <a:spcPts val="0"/>
              </a:spcAft>
              <a:buNone/>
            </a:pPr>
            <a:endPar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l" rtl="0">
              <a:lnSpc>
                <a:spcPct val="114000"/>
              </a:lnSpc>
              <a:spcBef>
                <a:spcPts val="0"/>
              </a:spcBef>
              <a:spcAft>
                <a:spcPts val="0"/>
              </a:spcAft>
              <a:buNone/>
            </a:pPr>
            <a:r>
              <a:rPr lang="en-US" sz="1100" b="1" dirty="0">
                <a:solidFill>
                  <a:srgbClr val="001691"/>
                </a:solidFill>
                <a:latin typeface="Open Sans" panose="020B0606030504020204" pitchFamily="34" charset="0"/>
                <a:ea typeface="Open Sans" panose="020B0606030504020204" pitchFamily="34" charset="0"/>
                <a:cs typeface="Open Sans" panose="020B0606030504020204" pitchFamily="34" charset="0"/>
                <a:sym typeface="Montserrat SemiBold"/>
              </a:rPr>
              <a:t>ENHANCES DECISION-MAKING</a:t>
            </a:r>
            <a:endParaRPr lang="en-US" sz="1100" b="1" dirty="0">
              <a:solidFill>
                <a:srgbClr val="00169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4000"/>
              </a:lnSpc>
              <a:spcBef>
                <a:spcPts val="0"/>
              </a:spcBef>
              <a:spcAft>
                <a:spcPts val="0"/>
              </a:spcAft>
              <a:buNone/>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Leverage the information that truly matters for more accurate forecasting and enhanced decision-making based on facts.</a:t>
            </a:r>
          </a:p>
          <a:p>
            <a:pPr marL="0" marR="0" lvl="0" indent="0" algn="l" rtl="0">
              <a:lnSpc>
                <a:spcPct val="114000"/>
              </a:lnSpc>
              <a:spcBef>
                <a:spcPts val="0"/>
              </a:spcBef>
              <a:spcAft>
                <a:spcPts val="0"/>
              </a:spcAft>
              <a:buNone/>
            </a:pPr>
            <a:endPar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l" rtl="0">
              <a:lnSpc>
                <a:spcPct val="114000"/>
              </a:lnSpc>
              <a:spcBef>
                <a:spcPts val="0"/>
              </a:spcBef>
              <a:spcAft>
                <a:spcPts val="0"/>
              </a:spcAft>
              <a:buNone/>
            </a:pPr>
            <a:r>
              <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sym typeface="Montserrat SemiBold"/>
              </a:rPr>
              <a:t>DELIVERS FLEXIBLE REPORTING</a:t>
            </a:r>
            <a:endPar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endParaRPr>
          </a:p>
          <a:p>
            <a:pPr marL="0" marR="0" lvl="0" indent="0" algn="l" rtl="0">
              <a:lnSpc>
                <a:spcPct val="114000"/>
              </a:lnSpc>
              <a:spcBef>
                <a:spcPts val="0"/>
              </a:spcBef>
              <a:spcAft>
                <a:spcPts val="0"/>
              </a:spcAft>
              <a:buNone/>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Utilize a comprehensive report library that segments and highlights key data regarding bookings, shipments, warehouse operations, financials and more.</a:t>
            </a:r>
          </a:p>
          <a:p>
            <a:pPr marL="0" marR="0" lvl="0" indent="0" algn="l" rtl="0">
              <a:lnSpc>
                <a:spcPct val="114000"/>
              </a:lnSpc>
              <a:spcBef>
                <a:spcPts val="0"/>
              </a:spcBef>
              <a:spcAft>
                <a:spcPts val="0"/>
              </a:spcAft>
              <a:buNone/>
            </a:pPr>
            <a:endPar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l" rtl="0">
              <a:lnSpc>
                <a:spcPct val="114000"/>
              </a:lnSpc>
              <a:spcBef>
                <a:spcPts val="0"/>
              </a:spcBef>
              <a:spcAft>
                <a:spcPts val="0"/>
              </a:spcAft>
              <a:buNone/>
            </a:pPr>
            <a:r>
              <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sym typeface="Montserrat SemiBold"/>
              </a:rPr>
              <a:t>ENABLES FREEDOM IN THE CLOUD</a:t>
            </a:r>
            <a:endParaRPr lang="en-US" sz="1100" b="1" dirty="0">
              <a:solidFill>
                <a:srgbClr val="001691"/>
              </a:solidFill>
              <a:latin typeface="Montserrat" panose="00000500000000000000" pitchFamily="2" charset="0"/>
              <a:ea typeface="Open Sans" panose="020B0606030504020204" pitchFamily="34" charset="0"/>
              <a:cs typeface="Open Sans" panose="020B0606030504020204" pitchFamily="34" charset="0"/>
              <a:sym typeface="Open Sans"/>
            </a:endParaRPr>
          </a:p>
          <a:p>
            <a:pPr marL="0" marR="0" lvl="0" indent="0" algn="l" rtl="0">
              <a:lnSpc>
                <a:spcPct val="114000"/>
              </a:lnSpc>
              <a:spcBef>
                <a:spcPts val="0"/>
              </a:spcBef>
              <a:spcAft>
                <a:spcPts val="0"/>
              </a:spcAft>
              <a:buNone/>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The solution is hosted in the cloud and is optimized for speed,  performance, and data security.</a:t>
            </a:r>
          </a:p>
        </p:txBody>
      </p:sp>
      <p:cxnSp>
        <p:nvCxnSpPr>
          <p:cNvPr id="17" name="Straight Connector 16"/>
          <p:cNvCxnSpPr/>
          <p:nvPr/>
        </p:nvCxnSpPr>
        <p:spPr>
          <a:xfrm>
            <a:off x="5181600" y="2905418"/>
            <a:ext cx="0" cy="423362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object 6">
            <a:extLst>
              <a:ext uri="{FF2B5EF4-FFF2-40B4-BE49-F238E27FC236}">
                <a16:creationId xmlns:a16="http://schemas.microsoft.com/office/drawing/2014/main" id="{3F42CFE1-6BA9-E3DD-1FC4-EF258986830A}"/>
              </a:ext>
            </a:extLst>
          </p:cNvPr>
          <p:cNvSpPr txBox="1">
            <a:spLocks/>
          </p:cNvSpPr>
          <p:nvPr/>
        </p:nvSpPr>
        <p:spPr>
          <a:xfrm>
            <a:off x="533400" y="91440"/>
            <a:ext cx="9296400" cy="228268"/>
          </a:xfrm>
          <a:prstGeom prst="rect">
            <a:avLst/>
          </a:prstGeom>
        </p:spPr>
        <p:txBody>
          <a:bodyPr vert="horz" wrap="square" lIns="0" tIns="12700" rIns="0" bIns="0" rtlCol="0">
            <a:spAutoFit/>
          </a:bodyPr>
          <a:lstStyle>
            <a:lvl1pPr>
              <a:defRPr>
                <a:latin typeface="+mj-lt"/>
                <a:ea typeface="+mj-ea"/>
                <a:cs typeface="+mj-cs"/>
              </a:defRPr>
            </a:lvl1pPr>
          </a:lstStyle>
          <a:p>
            <a:pPr algn="r"/>
            <a:r>
              <a:rPr lang="en-CA" sz="1400" b="1" dirty="0">
                <a:solidFill>
                  <a:srgbClr val="6B7489"/>
                </a:solidFill>
                <a:latin typeface="Montserrat" panose="00000500000000000000" pitchFamily="50" charset="0"/>
              </a:rPr>
              <a:t>MAGAYA SUPPLY CHAIN </a:t>
            </a:r>
            <a:r>
              <a:rPr lang="en-CA" sz="1400" b="1" dirty="0">
                <a:solidFill>
                  <a:srgbClr val="001691"/>
                </a:solidFill>
                <a:latin typeface="Montserrat" panose="00000500000000000000" pitchFamily="50" charset="0"/>
              </a:rPr>
              <a:t>APPS &amp; EXTENSIONS</a:t>
            </a:r>
            <a:endParaRPr lang="en-US" sz="1400" kern="0" dirty="0">
              <a:solidFill>
                <a:srgbClr val="001691"/>
              </a:solidFill>
              <a:latin typeface="Montserrat" panose="00000500000000000000" pitchFamily="50" charset="0"/>
            </a:endParaRPr>
          </a:p>
        </p:txBody>
      </p:sp>
      <p:sp>
        <p:nvSpPr>
          <p:cNvPr id="7" name="Rectangle 6">
            <a:extLst>
              <a:ext uri="{FF2B5EF4-FFF2-40B4-BE49-F238E27FC236}">
                <a16:creationId xmlns:a16="http://schemas.microsoft.com/office/drawing/2014/main" id="{D5DB83AE-47EF-451B-D765-AC406AF33C85}"/>
              </a:ext>
            </a:extLst>
          </p:cNvPr>
          <p:cNvSpPr/>
          <p:nvPr/>
        </p:nvSpPr>
        <p:spPr>
          <a:xfrm>
            <a:off x="5181599" y="3811508"/>
            <a:ext cx="5181602" cy="338554"/>
          </a:xfrm>
          <a:prstGeom prst="rect">
            <a:avLst/>
          </a:prstGeom>
        </p:spPr>
        <p:txBody>
          <a:bodyPr wrap="square">
            <a:spAutoFit/>
          </a:bodyPr>
          <a:lstStyle/>
          <a:p>
            <a:pPr algn="ctr"/>
            <a:r>
              <a:rPr lang="en-US" sz="1600" b="1" dirty="0">
                <a:solidFill>
                  <a:srgbClr val="09A1FF"/>
                </a:solidFill>
                <a:latin typeface="Montserrat" panose="00000500000000000000" pitchFamily="2" charset="0"/>
                <a:ea typeface="Open Sans" panose="020B0606030504020204" pitchFamily="34" charset="0"/>
                <a:cs typeface="Open Sans" panose="020B0606030504020204" pitchFamily="34" charset="0"/>
              </a:rPr>
              <a:t>AVAILABLE REPORTS</a:t>
            </a:r>
          </a:p>
        </p:txBody>
      </p:sp>
      <p:grpSp>
        <p:nvGrpSpPr>
          <p:cNvPr id="16" name="Group 15">
            <a:extLst>
              <a:ext uri="{FF2B5EF4-FFF2-40B4-BE49-F238E27FC236}">
                <a16:creationId xmlns:a16="http://schemas.microsoft.com/office/drawing/2014/main" id="{26DE09F8-292F-50A1-4AA3-EF3B6F9CD1E7}"/>
              </a:ext>
            </a:extLst>
          </p:cNvPr>
          <p:cNvGrpSpPr/>
          <p:nvPr/>
        </p:nvGrpSpPr>
        <p:grpSpPr>
          <a:xfrm>
            <a:off x="5741974" y="4191000"/>
            <a:ext cx="4060852" cy="2070410"/>
            <a:chOff x="5464148" y="4254190"/>
            <a:chExt cx="4060852" cy="2070410"/>
          </a:xfrm>
        </p:grpSpPr>
        <p:sp>
          <p:nvSpPr>
            <p:cNvPr id="10" name="Google Shape;152;p2">
              <a:extLst>
                <a:ext uri="{FF2B5EF4-FFF2-40B4-BE49-F238E27FC236}">
                  <a16:creationId xmlns:a16="http://schemas.microsoft.com/office/drawing/2014/main" id="{643A7879-53DB-D68F-AE2A-B0E4BF6A6DDB}"/>
                </a:ext>
              </a:extLst>
            </p:cNvPr>
            <p:cNvSpPr txBox="1"/>
            <p:nvPr/>
          </p:nvSpPr>
          <p:spPr>
            <a:xfrm>
              <a:off x="7780053" y="5370533"/>
              <a:ext cx="1651687" cy="95406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0" fontAlgn="base">
                <a:spcBef>
                  <a:spcPts val="0"/>
                </a:spcBef>
                <a:spcAft>
                  <a:spcPts val="0"/>
                </a:spcAft>
              </a:pPr>
              <a:r>
                <a:rPr lang="en-CA" sz="1100" b="1" dirty="0">
                  <a:solidFill>
                    <a:srgbClr val="001691"/>
                  </a:solidFill>
                  <a:latin typeface="Montserrat" panose="00000500000000000000" pitchFamily="2" charset="0"/>
                </a:rPr>
                <a:t>    FINANCIALS</a:t>
              </a:r>
            </a:p>
            <a:p>
              <a:pPr marL="171450" indent="-171450" rtl="0" fontAlgn="base">
                <a:spcBef>
                  <a:spcPts val="0"/>
                </a:spcBef>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Invoices</a:t>
              </a:r>
            </a:p>
            <a:p>
              <a:pPr marL="171450" indent="-171450" rtl="0" fontAlgn="base">
                <a:spcBef>
                  <a:spcPts val="0"/>
                </a:spcBef>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Credit Memos</a:t>
              </a:r>
            </a:p>
            <a:p>
              <a:pPr marL="171450" indent="-171450" rtl="0" fontAlgn="base">
                <a:spcBef>
                  <a:spcPts val="0"/>
                </a:spcBef>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Bills</a:t>
              </a:r>
            </a:p>
            <a:p>
              <a:pPr marL="171450" indent="-171450" rtl="0" fontAlgn="base">
                <a:spcBef>
                  <a:spcPts val="0"/>
                </a:spcBef>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Bill Credits</a:t>
              </a:r>
            </a:p>
          </p:txBody>
        </p:sp>
        <p:sp>
          <p:nvSpPr>
            <p:cNvPr id="12" name="Google Shape;152;p2">
              <a:extLst>
                <a:ext uri="{FF2B5EF4-FFF2-40B4-BE49-F238E27FC236}">
                  <a16:creationId xmlns:a16="http://schemas.microsoft.com/office/drawing/2014/main" id="{214BD86E-46D1-123B-C6C1-9DF15B0B0156}"/>
                </a:ext>
              </a:extLst>
            </p:cNvPr>
            <p:cNvSpPr txBox="1"/>
            <p:nvPr/>
          </p:nvSpPr>
          <p:spPr>
            <a:xfrm>
              <a:off x="7774983" y="4256169"/>
              <a:ext cx="1750017" cy="113873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Aft>
                  <a:spcPts val="0"/>
                </a:spcAft>
                <a:buNone/>
              </a:pPr>
              <a:r>
                <a:rPr lang="en-US" sz="1100" b="1" dirty="0">
                  <a:solidFill>
                    <a:srgbClr val="001691"/>
                  </a:solidFill>
                  <a:latin typeface="Montserrat" panose="00000500000000000000" pitchFamily="2" charset="0"/>
                  <a:ea typeface="Montserrat Light"/>
                  <a:cs typeface="Montserrat Light"/>
                  <a:sym typeface="Montserrat Light"/>
                </a:rPr>
                <a:t>    WAREHOUSE </a:t>
              </a:r>
              <a:br>
                <a:rPr lang="en-US" sz="1100" b="1" dirty="0">
                  <a:solidFill>
                    <a:srgbClr val="001691"/>
                  </a:solidFill>
                  <a:latin typeface="Montserrat" panose="00000500000000000000" pitchFamily="2" charset="0"/>
                  <a:ea typeface="Montserrat Light"/>
                  <a:cs typeface="Montserrat Light"/>
                  <a:sym typeface="Montserrat Light"/>
                </a:rPr>
              </a:br>
              <a:r>
                <a:rPr lang="en-US" sz="1100" b="1" dirty="0">
                  <a:solidFill>
                    <a:srgbClr val="001691"/>
                  </a:solidFill>
                  <a:latin typeface="Montserrat" panose="00000500000000000000" pitchFamily="2" charset="0"/>
                  <a:ea typeface="Montserrat Light"/>
                  <a:cs typeface="Montserrat Light"/>
                  <a:sym typeface="Montserrat Light"/>
                </a:rPr>
                <a:t>    MANAGEMENT</a:t>
              </a:r>
              <a:endParaRPr lang="en-US" sz="1100" b="1" dirty="0">
                <a:solidFill>
                  <a:srgbClr val="001691"/>
                </a:solidFill>
                <a:latin typeface="Montserrat" panose="00000500000000000000" pitchFamily="2" charset="0"/>
                <a:ea typeface="Montserrat Light"/>
                <a:cs typeface="Montserrat Light"/>
                <a:sym typeface="Montserrat"/>
              </a:endParaRPr>
            </a:p>
            <a:p>
              <a:pPr marL="171450" marR="0" lvl="0" indent="-171450" algn="l" rtl="0">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Warehouse Receipts</a:t>
              </a:r>
            </a:p>
            <a:p>
              <a:pPr marL="171450" marR="0" lvl="0" indent="-171450" algn="l" rtl="0">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Pickup Orders</a:t>
              </a:r>
            </a:p>
            <a:p>
              <a:pPr marL="171450" marR="0" lvl="0" indent="-171450" algn="l" rtl="0">
                <a:spcAft>
                  <a:spcPts val="0"/>
                </a:spcAft>
                <a:buFont typeface="Arial" panose="020B0604020202020204" pitchFamily="34" charset="0"/>
                <a:buChar char="•"/>
              </a:pPr>
              <a:r>
                <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rPr>
                <a:t>Cargo Releases</a:t>
              </a:r>
            </a:p>
            <a:p>
              <a:pPr marR="0" lvl="0" algn="l" rtl="0">
                <a:spcAft>
                  <a:spcPts val="0"/>
                </a:spcAft>
              </a:pPr>
              <a:endParaRPr lang="en-CA" sz="1100" dirty="0">
                <a:solidFill>
                  <a:srgbClr val="383B48"/>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Google Shape;152;p2">
              <a:extLst>
                <a:ext uri="{FF2B5EF4-FFF2-40B4-BE49-F238E27FC236}">
                  <a16:creationId xmlns:a16="http://schemas.microsoft.com/office/drawing/2014/main" id="{0EF852E2-2C0C-1E2B-14A4-69AFCD8C703B}"/>
                </a:ext>
              </a:extLst>
            </p:cNvPr>
            <p:cNvSpPr txBox="1"/>
            <p:nvPr/>
          </p:nvSpPr>
          <p:spPr>
            <a:xfrm>
              <a:off x="5464148" y="4254190"/>
              <a:ext cx="2053333" cy="181584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Aft>
                  <a:spcPts val="0"/>
                </a:spcAft>
                <a:buNone/>
              </a:pPr>
              <a:r>
                <a:rPr lang="en-CA" sz="1100" b="1" dirty="0">
                  <a:solidFill>
                    <a:srgbClr val="001691"/>
                  </a:solidFill>
                  <a:latin typeface="Montserrat" panose="00000500000000000000" pitchFamily="2" charset="0"/>
                  <a:ea typeface="Montserrat Light"/>
                  <a:cs typeface="Montserrat Light"/>
                  <a:sym typeface="Montserrat Light"/>
                </a:rPr>
                <a:t>    BOOKINGS AND </a:t>
              </a:r>
            </a:p>
            <a:p>
              <a:pPr marL="0" marR="0" lvl="0" indent="0" algn="l" rtl="0">
                <a:spcAft>
                  <a:spcPts val="0"/>
                </a:spcAft>
                <a:buNone/>
              </a:pPr>
              <a:r>
                <a:rPr lang="en-CA" sz="1100" b="1" dirty="0">
                  <a:solidFill>
                    <a:srgbClr val="001691"/>
                  </a:solidFill>
                  <a:latin typeface="Montserrat" panose="00000500000000000000" pitchFamily="2" charset="0"/>
                  <a:ea typeface="Montserrat Light"/>
                  <a:cs typeface="Montserrat Light"/>
                  <a:sym typeface="Montserrat Light"/>
                </a:rPr>
                <a:t>    SHIPMENTS</a:t>
              </a:r>
              <a:endParaRPr sz="1100" b="1" dirty="0">
                <a:solidFill>
                  <a:srgbClr val="001691"/>
                </a:solidFill>
                <a:latin typeface="Montserrat" panose="00000500000000000000" pitchFamily="2" charset="0"/>
                <a:ea typeface="Montserrat"/>
                <a:cs typeface="Montserrat"/>
                <a:sym typeface="Montserrat"/>
              </a:endParaRP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Mode of transportation</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Containers</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TEUs</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Shipment Weights</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Popular Trade Lanes</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Customers</a:t>
              </a:r>
            </a:p>
            <a:p>
              <a:pPr marL="171450" marR="0" lvl="0" indent="-171450" algn="l" rtl="0">
                <a:spcAft>
                  <a:spcPts val="0"/>
                </a:spcAft>
                <a:buClr>
                  <a:srgbClr val="383B48"/>
                </a:buClr>
                <a:buSzPts val="1100"/>
                <a:buFont typeface="Arial" panose="020B0604020202020204" pitchFamily="34" charset="0"/>
                <a:buChar char="•"/>
              </a:pPr>
              <a:r>
                <a:rPr lang="en-US"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rPr>
                <a:t>Bookings By Type</a:t>
              </a:r>
            </a:p>
            <a:p>
              <a:pPr marL="0" marR="0" lvl="0" indent="0" algn="l" rtl="0">
                <a:spcAft>
                  <a:spcPts val="0"/>
                </a:spcAft>
                <a:buNone/>
              </a:pPr>
              <a:endParaRPr sz="1100" dirty="0">
                <a:solidFill>
                  <a:srgbClr val="383B48"/>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grpSp>
      <p:grpSp>
        <p:nvGrpSpPr>
          <p:cNvPr id="22" name="Group 21">
            <a:extLst>
              <a:ext uri="{FF2B5EF4-FFF2-40B4-BE49-F238E27FC236}">
                <a16:creationId xmlns:a16="http://schemas.microsoft.com/office/drawing/2014/main" id="{F23BC2C4-B69A-A2CF-E9A2-B78FF6D849BE}"/>
              </a:ext>
            </a:extLst>
          </p:cNvPr>
          <p:cNvGrpSpPr/>
          <p:nvPr/>
        </p:nvGrpSpPr>
        <p:grpSpPr>
          <a:xfrm>
            <a:off x="5225526" y="1030149"/>
            <a:ext cx="4622221" cy="2490601"/>
            <a:chOff x="5225526" y="1030149"/>
            <a:chExt cx="4622221" cy="2490601"/>
          </a:xfrm>
        </p:grpSpPr>
        <p:grpSp>
          <p:nvGrpSpPr>
            <p:cNvPr id="20" name="Group 19">
              <a:extLst>
                <a:ext uri="{FF2B5EF4-FFF2-40B4-BE49-F238E27FC236}">
                  <a16:creationId xmlns:a16="http://schemas.microsoft.com/office/drawing/2014/main" id="{1D9F211E-EACC-61D9-3DB8-37638A0A9E26}"/>
                </a:ext>
              </a:extLst>
            </p:cNvPr>
            <p:cNvGrpSpPr/>
            <p:nvPr/>
          </p:nvGrpSpPr>
          <p:grpSpPr>
            <a:xfrm>
              <a:off x="5225526" y="1030149"/>
              <a:ext cx="3756936" cy="2157984"/>
              <a:chOff x="5225526" y="1030149"/>
              <a:chExt cx="3756936" cy="2157984"/>
            </a:xfrm>
          </p:grpSpPr>
          <p:pic>
            <p:nvPicPr>
              <p:cNvPr id="3" name="Picture 2">
                <a:extLst>
                  <a:ext uri="{FF2B5EF4-FFF2-40B4-BE49-F238E27FC236}">
                    <a16:creationId xmlns:a16="http://schemas.microsoft.com/office/drawing/2014/main" id="{3FBF6706-7EDC-6D54-5764-3F11099DC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5526" y="1030149"/>
                <a:ext cx="3756936" cy="2157984"/>
              </a:xfrm>
              <a:prstGeom prst="rect">
                <a:avLst/>
              </a:prstGeom>
            </p:spPr>
          </p:pic>
          <p:pic>
            <p:nvPicPr>
              <p:cNvPr id="18" name="Picture 17" descr="A screenshot of a computer screen&#10;&#10;Description automatically generated">
                <a:extLst>
                  <a:ext uri="{FF2B5EF4-FFF2-40B4-BE49-F238E27FC236}">
                    <a16:creationId xmlns:a16="http://schemas.microsoft.com/office/drawing/2014/main" id="{1203F6B3-A45A-1C70-7C6D-A66D95EE0209}"/>
                  </a:ext>
                </a:extLst>
              </p:cNvPr>
              <p:cNvPicPr>
                <a:picLocks noChangeAspect="1"/>
              </p:cNvPicPr>
              <p:nvPr/>
            </p:nvPicPr>
            <p:blipFill rotWithShape="1">
              <a:blip r:embed="rId3"/>
              <a:srcRect b="16465"/>
              <a:stretch/>
            </p:blipFill>
            <p:spPr>
              <a:xfrm>
                <a:off x="5631307" y="1204750"/>
                <a:ext cx="2959942" cy="1737360"/>
              </a:xfrm>
              <a:prstGeom prst="rect">
                <a:avLst/>
              </a:prstGeom>
              <a:effectLst>
                <a:outerShdw blurRad="76200" dist="38100" dir="2700000" algn="tl" rotWithShape="0">
                  <a:prstClr val="black">
                    <a:alpha val="40000"/>
                  </a:prstClr>
                </a:outerShdw>
              </a:effectLst>
            </p:spPr>
          </p:pic>
        </p:grpSp>
        <p:grpSp>
          <p:nvGrpSpPr>
            <p:cNvPr id="21" name="Group 20">
              <a:extLst>
                <a:ext uri="{FF2B5EF4-FFF2-40B4-BE49-F238E27FC236}">
                  <a16:creationId xmlns:a16="http://schemas.microsoft.com/office/drawing/2014/main" id="{B5D53F4B-516D-C7B6-3E04-2D297847DF52}"/>
                </a:ext>
              </a:extLst>
            </p:cNvPr>
            <p:cNvGrpSpPr/>
            <p:nvPr/>
          </p:nvGrpSpPr>
          <p:grpSpPr>
            <a:xfrm>
              <a:off x="7661081" y="2006011"/>
              <a:ext cx="2186666" cy="1514739"/>
              <a:chOff x="9239964" y="2822051"/>
              <a:chExt cx="2186666" cy="1514739"/>
            </a:xfrm>
          </p:grpSpPr>
          <p:pic>
            <p:nvPicPr>
              <p:cNvPr id="4" name="Picture 3">
                <a:extLst>
                  <a:ext uri="{FF2B5EF4-FFF2-40B4-BE49-F238E27FC236}">
                    <a16:creationId xmlns:a16="http://schemas.microsoft.com/office/drawing/2014/main" id="{FF81EA29-84D1-DAE5-30A4-D91846AADD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39964" y="2822051"/>
                <a:ext cx="2186666" cy="1514739"/>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3292FE0D-9767-3011-C9D0-76B5538D35A8}"/>
                  </a:ext>
                </a:extLst>
              </p:cNvPr>
              <p:cNvPicPr>
                <a:picLocks noChangeAspect="1"/>
              </p:cNvPicPr>
              <p:nvPr/>
            </p:nvPicPr>
            <p:blipFill>
              <a:blip r:embed="rId5"/>
              <a:stretch>
                <a:fillRect/>
              </a:stretch>
            </p:blipFill>
            <p:spPr>
              <a:xfrm>
                <a:off x="9339942" y="2903923"/>
                <a:ext cx="1993392" cy="1341117"/>
              </a:xfrm>
              <a:prstGeom prst="rect">
                <a:avLst/>
              </a:prstGeom>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4267798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6"/>
          <p:cNvSpPr txBox="1">
            <a:spLocks/>
          </p:cNvSpPr>
          <p:nvPr/>
        </p:nvSpPr>
        <p:spPr>
          <a:xfrm>
            <a:off x="533400" y="3657600"/>
            <a:ext cx="4953000" cy="1101584"/>
          </a:xfrm>
          <a:prstGeom prst="rect">
            <a:avLst/>
          </a:prstGeom>
        </p:spPr>
        <p:txBody>
          <a:bodyPr vert="horz" wrap="square" lIns="0" tIns="0" rIns="0" bIns="0" rtlCol="0">
            <a:spAutoFit/>
          </a:bodyPr>
          <a:lstStyle>
            <a:lvl1pPr>
              <a:defRPr>
                <a:latin typeface="+mj-lt"/>
                <a:ea typeface="+mj-ea"/>
                <a:cs typeface="+mj-cs"/>
              </a:defRPr>
            </a:lvl1pPr>
          </a:lstStyle>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Eduardo Bencomo</a:t>
            </a:r>
          </a:p>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VP Strategic Accounts </a:t>
            </a:r>
          </a:p>
          <a:p>
            <a:pPr>
              <a:lnSpc>
                <a:spcPct val="120000"/>
              </a:lnSpc>
              <a:spcAft>
                <a:spcPts val="600"/>
              </a:spcAft>
            </a:pP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hlinkClick r:id="rId2"/>
              </a:rPr>
              <a:t>ebencomo@magaya.com</a:t>
            </a:r>
            <a:r>
              <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p>
          <a:p>
            <a:pPr>
              <a:lnSpc>
                <a:spcPct val="120000"/>
              </a:lnSpc>
              <a:spcAft>
                <a:spcPts val="600"/>
              </a:spcAft>
            </a:pPr>
            <a:endParaRPr lang="en-US" sz="1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86188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71937</TotalTime>
  <Words>7230</Words>
  <Application>Microsoft Office PowerPoint</Application>
  <PresentationFormat>Custom</PresentationFormat>
  <Paragraphs>756</Paragraphs>
  <Slides>32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Montserrat</vt:lpstr>
      <vt:lpstr>Montserrat Light</vt:lpstr>
      <vt:lpstr>Montserrat SemiBold</vt:lpstr>
      <vt:lpstr>Montserrat-Light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JG</dc:title>
  <dc:creator>Judy Glynn</dc:creator>
  <cp:lastModifiedBy>Eduardo Bencomo</cp:lastModifiedBy>
  <cp:revision>602</cp:revision>
  <dcterms:created xsi:type="dcterms:W3CDTF">2020-07-22T13:02:38Z</dcterms:created>
  <dcterms:modified xsi:type="dcterms:W3CDTF">2026-03-11T18:13:39Z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2020-07-16T00:00:00Z</vt:filetime>
  </property>
  <property fmtid="{D5CDD505-2E9C-101B-9397-08002B2CF9AE}" pid="3" name="Creator">
    <vt:lpwstr>Adobe InDesign 15.0 (Macintosh)</vt:lpwstr>
  </property>
  <property fmtid="{D5CDD505-2E9C-101B-9397-08002B2CF9AE}" pid="4" name="LastSaved">
    <vt:filetime>2020-07-22T00:00:00Z</vt:filetime>
  </property>
</Properties>
</file>